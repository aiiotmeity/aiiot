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8.jpg" ContentType="image/jpeg"/>
  <Override PartName="/ppt/media/image9.jpg" ContentType="image/jpeg"/>
  <Override PartName="/ppt/media/image10.jpg" ContentType="image/jpeg"/>
  <Override PartName="/ppt/media/image11.jpg" ContentType="image/jpeg"/>
  <Override PartName="/ppt/media/image12.jpg" ContentType="image/jpe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15.JPG" ContentType="image/jpeg"/>
  <Override PartName="/ppt/notesSlides/notesSlide7.xml" ContentType="application/vnd.openxmlformats-officedocument.presentationml.notesSlide+xml"/>
  <Override PartName="/ppt/media/image16.JPG" ContentType="image/jpeg"/>
  <Override PartName="/ppt/notesSlides/notesSlide8.xml" ContentType="application/vnd.openxmlformats-officedocument.presentationml.notesSlide+xml"/>
  <Override PartName="/ppt/media/image17.JPG" ContentType="image/jpeg"/>
  <Override PartName="/ppt/notesSlides/notesSlide9.xml" ContentType="application/vnd.openxmlformats-officedocument.presentationml.notesSlide+xml"/>
  <Override PartName="/ppt/media/image18.JPG" ContentType="image/jpeg"/>
  <Override PartName="/ppt/media/image19.JPG" ContentType="image/jpeg"/>
  <Override PartName="/ppt/media/image20.JPG" ContentType="image/jpeg"/>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Lst>
  <p:notesMasterIdLst>
    <p:notesMasterId r:id="rId31"/>
  </p:notesMasterIdLst>
  <p:sldIdLst>
    <p:sldId id="275" r:id="rId2"/>
    <p:sldId id="276" r:id="rId3"/>
    <p:sldId id="278" r:id="rId4"/>
    <p:sldId id="279" r:id="rId5"/>
    <p:sldId id="281" r:id="rId6"/>
    <p:sldId id="282" r:id="rId7"/>
    <p:sldId id="283" r:id="rId8"/>
    <p:sldId id="284" r:id="rId9"/>
    <p:sldId id="285" r:id="rId10"/>
    <p:sldId id="287" r:id="rId11"/>
    <p:sldId id="268" r:id="rId12"/>
    <p:sldId id="269" r:id="rId13"/>
    <p:sldId id="256" r:id="rId14"/>
    <p:sldId id="257" r:id="rId15"/>
    <p:sldId id="258" r:id="rId16"/>
    <p:sldId id="259" r:id="rId17"/>
    <p:sldId id="280" r:id="rId18"/>
    <p:sldId id="260" r:id="rId19"/>
    <p:sldId id="261" r:id="rId20"/>
    <p:sldId id="262" r:id="rId21"/>
    <p:sldId id="263" r:id="rId22"/>
    <p:sldId id="264" r:id="rId23"/>
    <p:sldId id="265" r:id="rId24"/>
    <p:sldId id="266" r:id="rId25"/>
    <p:sldId id="267" r:id="rId26"/>
    <p:sldId id="270" r:id="rId27"/>
    <p:sldId id="271" r:id="rId28"/>
    <p:sldId id="272" r:id="rId29"/>
    <p:sldId id="273" r:id="rId3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6370" autoAdjust="0"/>
  </p:normalViewPr>
  <p:slideViewPr>
    <p:cSldViewPr snapToGrid="0">
      <p:cViewPr varScale="1">
        <p:scale>
          <a:sx n="151" d="100"/>
          <a:sy n="151" d="100"/>
        </p:scale>
        <p:origin x="342"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53FFC2-BDFA-43A1-8D0C-FA118DEF04F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C63C82A-03A2-4B07-BFBD-3B53CE6BB83E}">
      <dgm:prSet/>
      <dgm:spPr/>
      <dgm:t>
        <a:bodyPr/>
        <a:lstStyle/>
        <a:p>
          <a:pPr rtl="0"/>
          <a:r>
            <a:rPr lang="en-IN" b="0" i="0" dirty="0" smtClean="0"/>
            <a:t>AWS v1</a:t>
          </a:r>
          <a:endParaRPr lang="en-IN" dirty="0"/>
        </a:p>
      </dgm:t>
    </dgm:pt>
    <dgm:pt modelId="{6832E3A5-6692-4729-B3A1-5417CC8C9AE8}" type="parTrans" cxnId="{77B12BAB-0B8A-424D-98AB-96D86A7874D7}">
      <dgm:prSet/>
      <dgm:spPr/>
      <dgm:t>
        <a:bodyPr/>
        <a:lstStyle/>
        <a:p>
          <a:endParaRPr lang="en-US"/>
        </a:p>
      </dgm:t>
    </dgm:pt>
    <dgm:pt modelId="{C53A6EA0-B7E9-4871-B9F5-EDD3C2D6F736}" type="sibTrans" cxnId="{77B12BAB-0B8A-424D-98AB-96D86A7874D7}">
      <dgm:prSet/>
      <dgm:spPr/>
      <dgm:t>
        <a:bodyPr/>
        <a:lstStyle/>
        <a:p>
          <a:endParaRPr lang="en-US"/>
        </a:p>
      </dgm:t>
    </dgm:pt>
    <dgm:pt modelId="{60A04DF8-C268-4259-BA8C-8656F376D255}" type="pres">
      <dgm:prSet presAssocID="{3A53FFC2-BDFA-43A1-8D0C-FA118DEF04FA}" presName="linear" presStyleCnt="0">
        <dgm:presLayoutVars>
          <dgm:animLvl val="lvl"/>
          <dgm:resizeHandles val="exact"/>
        </dgm:presLayoutVars>
      </dgm:prSet>
      <dgm:spPr/>
      <dgm:t>
        <a:bodyPr/>
        <a:lstStyle/>
        <a:p>
          <a:endParaRPr lang="en-US"/>
        </a:p>
      </dgm:t>
    </dgm:pt>
    <dgm:pt modelId="{18C3D295-CD86-4394-AD51-30DDD509642A}" type="pres">
      <dgm:prSet presAssocID="{7C63C82A-03A2-4B07-BFBD-3B53CE6BB83E}" presName="parentText" presStyleLbl="node1" presStyleIdx="0" presStyleCnt="1" custLinFactX="5556" custLinFactY="3236" custLinFactNeighborX="100000" custLinFactNeighborY="100000">
        <dgm:presLayoutVars>
          <dgm:chMax val="0"/>
          <dgm:bulletEnabled val="1"/>
        </dgm:presLayoutVars>
      </dgm:prSet>
      <dgm:spPr/>
      <dgm:t>
        <a:bodyPr/>
        <a:lstStyle/>
        <a:p>
          <a:endParaRPr lang="en-US"/>
        </a:p>
      </dgm:t>
    </dgm:pt>
  </dgm:ptLst>
  <dgm:cxnLst>
    <dgm:cxn modelId="{08F7FA75-036A-4067-9680-6BFE1BE218F4}" type="presOf" srcId="{7C63C82A-03A2-4B07-BFBD-3B53CE6BB83E}" destId="{18C3D295-CD86-4394-AD51-30DDD509642A}" srcOrd="0" destOrd="0" presId="urn:microsoft.com/office/officeart/2005/8/layout/vList2"/>
    <dgm:cxn modelId="{77B12BAB-0B8A-424D-98AB-96D86A7874D7}" srcId="{3A53FFC2-BDFA-43A1-8D0C-FA118DEF04FA}" destId="{7C63C82A-03A2-4B07-BFBD-3B53CE6BB83E}" srcOrd="0" destOrd="0" parTransId="{6832E3A5-6692-4729-B3A1-5417CC8C9AE8}" sibTransId="{C53A6EA0-B7E9-4871-B9F5-EDD3C2D6F736}"/>
    <dgm:cxn modelId="{40C355AB-9711-46B4-9F6A-170BFEFA05BD}" type="presOf" srcId="{3A53FFC2-BDFA-43A1-8D0C-FA118DEF04FA}" destId="{60A04DF8-C268-4259-BA8C-8656F376D255}" srcOrd="0" destOrd="0" presId="urn:microsoft.com/office/officeart/2005/8/layout/vList2"/>
    <dgm:cxn modelId="{85B91E69-1CDD-4745-954B-ADD5AB4D9EC2}" type="presParOf" srcId="{60A04DF8-C268-4259-BA8C-8656F376D255}" destId="{18C3D295-CD86-4394-AD51-30DDD509642A}" srcOrd="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72BD62-800B-4A4A-9792-9A4FC22EAD6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BDEAAC3-7731-4D68-B141-7D7763F673A0}">
      <dgm:prSet/>
      <dgm:spPr/>
      <dgm:t>
        <a:bodyPr/>
        <a:lstStyle/>
        <a:p>
          <a:pPr rtl="0"/>
          <a:r>
            <a:rPr lang="en-IN" b="0" i="0" smtClean="0"/>
            <a:t>AWS v2</a:t>
          </a:r>
          <a:endParaRPr lang="en-IN"/>
        </a:p>
      </dgm:t>
    </dgm:pt>
    <dgm:pt modelId="{4AF85914-13D9-4800-B714-F401040C7404}" type="parTrans" cxnId="{6142E987-00B0-4454-8CCA-3558F619BF88}">
      <dgm:prSet/>
      <dgm:spPr/>
      <dgm:t>
        <a:bodyPr/>
        <a:lstStyle/>
        <a:p>
          <a:endParaRPr lang="en-US"/>
        </a:p>
      </dgm:t>
    </dgm:pt>
    <dgm:pt modelId="{0DC4DFFD-EB7B-43D4-A429-0B933BD38E28}" type="sibTrans" cxnId="{6142E987-00B0-4454-8CCA-3558F619BF88}">
      <dgm:prSet/>
      <dgm:spPr/>
      <dgm:t>
        <a:bodyPr/>
        <a:lstStyle/>
        <a:p>
          <a:endParaRPr lang="en-US"/>
        </a:p>
      </dgm:t>
    </dgm:pt>
    <dgm:pt modelId="{A484FAA0-1869-4884-907F-63132FF91731}" type="pres">
      <dgm:prSet presAssocID="{CD72BD62-800B-4A4A-9792-9A4FC22EAD65}" presName="linear" presStyleCnt="0">
        <dgm:presLayoutVars>
          <dgm:animLvl val="lvl"/>
          <dgm:resizeHandles val="exact"/>
        </dgm:presLayoutVars>
      </dgm:prSet>
      <dgm:spPr/>
      <dgm:t>
        <a:bodyPr/>
        <a:lstStyle/>
        <a:p>
          <a:endParaRPr lang="en-US"/>
        </a:p>
      </dgm:t>
    </dgm:pt>
    <dgm:pt modelId="{24524127-9240-4F48-BC36-02BC84D01675}" type="pres">
      <dgm:prSet presAssocID="{CBDEAAC3-7731-4D68-B141-7D7763F673A0}" presName="parentText" presStyleLbl="node1" presStyleIdx="0" presStyleCnt="1">
        <dgm:presLayoutVars>
          <dgm:chMax val="0"/>
          <dgm:bulletEnabled val="1"/>
        </dgm:presLayoutVars>
      </dgm:prSet>
      <dgm:spPr/>
      <dgm:t>
        <a:bodyPr/>
        <a:lstStyle/>
        <a:p>
          <a:endParaRPr lang="en-US"/>
        </a:p>
      </dgm:t>
    </dgm:pt>
  </dgm:ptLst>
  <dgm:cxnLst>
    <dgm:cxn modelId="{6142E987-00B0-4454-8CCA-3558F619BF88}" srcId="{CD72BD62-800B-4A4A-9792-9A4FC22EAD65}" destId="{CBDEAAC3-7731-4D68-B141-7D7763F673A0}" srcOrd="0" destOrd="0" parTransId="{4AF85914-13D9-4800-B714-F401040C7404}" sibTransId="{0DC4DFFD-EB7B-43D4-A429-0B933BD38E28}"/>
    <dgm:cxn modelId="{9F9E5DEB-791B-4FBB-AEE8-F947ADEB6AFE}" type="presOf" srcId="{CBDEAAC3-7731-4D68-B141-7D7763F673A0}" destId="{24524127-9240-4F48-BC36-02BC84D01675}" srcOrd="0" destOrd="0" presId="urn:microsoft.com/office/officeart/2005/8/layout/vList2"/>
    <dgm:cxn modelId="{FB288104-01A4-473A-B8CB-E233633CE1DA}" type="presOf" srcId="{CD72BD62-800B-4A4A-9792-9A4FC22EAD65}" destId="{A484FAA0-1869-4884-907F-63132FF91731}" srcOrd="0" destOrd="0" presId="urn:microsoft.com/office/officeart/2005/8/layout/vList2"/>
    <dgm:cxn modelId="{2FB524D9-2F4E-4AE9-9EDC-2AE87C648DEA}" type="presParOf" srcId="{A484FAA0-1869-4884-907F-63132FF91731}" destId="{24524127-9240-4F48-BC36-02BC84D01675}" srcOrd="0"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C3D295-CD86-4394-AD51-30DDD509642A}">
      <dsp:nvSpPr>
        <dsp:cNvPr id="0" name=""/>
        <dsp:cNvSpPr/>
      </dsp:nvSpPr>
      <dsp:spPr>
        <a:xfrm>
          <a:off x="0" y="26977"/>
          <a:ext cx="685800" cy="2807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en-IN" sz="1200" b="0" i="0" kern="1200" dirty="0" smtClean="0"/>
            <a:t>AWS v1</a:t>
          </a:r>
          <a:endParaRPr lang="en-IN" sz="1200" kern="1200" dirty="0"/>
        </a:p>
      </dsp:txBody>
      <dsp:txXfrm>
        <a:off x="13707" y="40684"/>
        <a:ext cx="658386" cy="2533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24127-9240-4F48-BC36-02BC84D01675}">
      <dsp:nvSpPr>
        <dsp:cNvPr id="0" name=""/>
        <dsp:cNvSpPr/>
      </dsp:nvSpPr>
      <dsp:spPr>
        <a:xfrm>
          <a:off x="0" y="1788"/>
          <a:ext cx="755650" cy="304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IN" sz="1300" b="0" i="0" kern="1200" smtClean="0"/>
            <a:t>AWS v2</a:t>
          </a:r>
          <a:endParaRPr lang="en-IN" sz="1300" kern="1200"/>
        </a:p>
      </dsp:txBody>
      <dsp:txXfrm>
        <a:off x="14850" y="16638"/>
        <a:ext cx="725950" cy="2745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0956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3f081c8c4c_4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33f081c8c4c_4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3f081c8c4c_4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33f081c8c4c_4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8282846f91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8282846f91_0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69948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75923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01486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2714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98731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48598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47695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96053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04750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8282846f9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8282846f91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57983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31865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Arial"/>
                <a:cs typeface="Arial"/>
              </a:defRPr>
            </a:lvl1pPr>
          </a:lstStyle>
          <a:p>
            <a:endParaRPr/>
          </a:p>
        </p:txBody>
      </p:sp>
      <p:sp>
        <p:nvSpPr>
          <p:cNvPr id="3" name="Holder 3"/>
          <p:cNvSpPr>
            <a:spLocks noGrp="1"/>
          </p:cNvSpPr>
          <p:nvPr>
            <p:ph sz="half" idx="2"/>
          </p:nvPr>
        </p:nvSpPr>
        <p:spPr>
          <a:xfrm>
            <a:off x="457200" y="1183005"/>
            <a:ext cx="3977640" cy="31854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1854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7" name="Holder 7"/>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53816">
              <a:lnSpc>
                <a:spcPts val="930"/>
              </a:lnSpc>
            </a:pPr>
            <a:fld id="{81D60167-4931-47E6-BA6A-407CBD079E47}" type="slidenum">
              <a:rPr lang="en-IN" spc="-19" smtClean="0"/>
              <a:pPr marL="53816">
                <a:lnSpc>
                  <a:spcPts val="930"/>
                </a:lnSpc>
              </a:pPr>
              <a:t>‹#›</a:t>
            </a:fld>
            <a:endParaRPr lang="en-IN" spc="-19" dirty="0"/>
          </a:p>
        </p:txBody>
      </p:sp>
    </p:spTree>
    <p:extLst>
      <p:ext uri="{BB962C8B-B14F-4D97-AF65-F5344CB8AC3E}">
        <p14:creationId xmlns:p14="http://schemas.microsoft.com/office/powerpoint/2010/main" val="3603059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84" r:id="rId12"/>
    <p:sldLayoutId id="214748368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3.xml"/><Relationship Id="rId5" Type="http://schemas.openxmlformats.org/officeDocument/2006/relationships/image" Target="../media/image7.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hyperlink" Target="http://airaware.it.com/" TargetMode="Externa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image" Target="../media/image11.jpg"/><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image" Target="../media/image10.jpg"/><Relationship Id="rId1" Type="http://schemas.openxmlformats.org/officeDocument/2006/relationships/slideLayout" Target="../slideLayouts/slideLayout12.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5" Type="http://schemas.openxmlformats.org/officeDocument/2006/relationships/image" Target="../media/image13.png"/><Relationship Id="rId10" Type="http://schemas.openxmlformats.org/officeDocument/2006/relationships/diagramData" Target="../diagrams/data2.xml"/><Relationship Id="rId4" Type="http://schemas.openxmlformats.org/officeDocument/2006/relationships/image" Target="../media/image12.jpg"/><Relationship Id="rId9" Type="http://schemas.microsoft.com/office/2007/relationships/diagramDrawing" Target="../diagrams/drawing1.xml"/><Relationship Id="rId14" Type="http://schemas.microsoft.com/office/2007/relationships/diagramDrawing" Target="../diagrams/drawing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0.JPG"/><Relationship Id="rId4" Type="http://schemas.openxmlformats.org/officeDocument/2006/relationships/image" Target="../media/image19.JP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airaware.it.com/" TargetMode="Externa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ctrTitle"/>
          </p:nvPr>
        </p:nvSpPr>
        <p:spPr>
          <a:xfrm>
            <a:off x="270365" y="211016"/>
            <a:ext cx="8776920" cy="4563207"/>
          </a:xfrm>
          <a:prstGeom prst="rect">
            <a:avLst/>
          </a:prstGeom>
          <a:noFill/>
          <a:ln>
            <a:noFill/>
          </a:ln>
        </p:spPr>
        <p:txBody>
          <a:bodyPr spcFirstLastPara="1" wrap="square" lIns="68569" tIns="34275" rIns="68569" bIns="34275" anchor="b" anchorCtr="0">
            <a:noAutofit/>
          </a:bodyPr>
          <a:lstStyle/>
          <a:p>
            <a:pPr>
              <a:lnSpc>
                <a:spcPct val="90000"/>
              </a:lnSpc>
              <a:buSzPts val="2800"/>
            </a:pP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r>
              <a:rPr lang="en-US" sz="2100"/>
              <a:t/>
            </a:r>
            <a:br>
              <a:rPr lang="en-US" sz="2100"/>
            </a:br>
            <a:endParaRPr sz="2100"/>
          </a:p>
        </p:txBody>
      </p:sp>
      <p:sp>
        <p:nvSpPr>
          <p:cNvPr id="160" name="Google Shape;160;p25"/>
          <p:cNvSpPr/>
          <p:nvPr/>
        </p:nvSpPr>
        <p:spPr>
          <a:xfrm>
            <a:off x="326422" y="211006"/>
            <a:ext cx="8664750" cy="2608425"/>
          </a:xfrm>
          <a:prstGeom prst="rect">
            <a:avLst/>
          </a:prstGeom>
          <a:noFill/>
          <a:ln>
            <a:noFill/>
          </a:ln>
        </p:spPr>
        <p:txBody>
          <a:bodyPr spcFirstLastPara="1" wrap="square" lIns="68569" tIns="34275" rIns="68569" bIns="34275" anchor="t" anchorCtr="0">
            <a:noAutofit/>
          </a:bodyPr>
          <a:lstStyle/>
          <a:p>
            <a:pPr algn="ctr">
              <a:buSzPts val="2800"/>
            </a:pPr>
            <a:r>
              <a:rPr lang="en-US" sz="2100" b="1" dirty="0">
                <a:solidFill>
                  <a:schemeClr val="dk1"/>
                </a:solidFill>
                <a:latin typeface="Times New Roman"/>
                <a:ea typeface="Times New Roman"/>
                <a:cs typeface="Times New Roman"/>
                <a:sym typeface="Times New Roman"/>
              </a:rPr>
              <a:t>Development of digital networking for preventive and predictive environmental and climatic warning solutions - Building an Entrepreneurial ecosystem for addressing Environmental Issues</a:t>
            </a:r>
            <a:r>
              <a:rPr lang="en-US" sz="2100" dirty="0">
                <a:solidFill>
                  <a:schemeClr val="dk1"/>
                </a:solidFill>
                <a:latin typeface="Times New Roman"/>
                <a:ea typeface="Times New Roman"/>
                <a:cs typeface="Times New Roman"/>
                <a:sym typeface="Times New Roman"/>
              </a:rPr>
              <a:t/>
            </a:r>
            <a:br>
              <a:rPr lang="en-US" sz="2100" dirty="0">
                <a:solidFill>
                  <a:schemeClr val="dk1"/>
                </a:solidFill>
                <a:latin typeface="Times New Roman"/>
                <a:ea typeface="Times New Roman"/>
                <a:cs typeface="Times New Roman"/>
                <a:sym typeface="Times New Roman"/>
              </a:rPr>
            </a:br>
            <a:endParaRPr sz="2100" dirty="0">
              <a:solidFill>
                <a:schemeClr val="dk1"/>
              </a:solidFill>
              <a:latin typeface="Times New Roman"/>
              <a:ea typeface="Times New Roman"/>
              <a:cs typeface="Times New Roman"/>
              <a:sym typeface="Times New Roman"/>
            </a:endParaRPr>
          </a:p>
          <a:p>
            <a:pPr algn="ctr">
              <a:buSzPts val="1800"/>
            </a:pPr>
            <a:endParaRPr sz="1350" dirty="0">
              <a:solidFill>
                <a:schemeClr val="dk1"/>
              </a:solidFill>
              <a:latin typeface="Times New Roman"/>
              <a:ea typeface="Times New Roman"/>
              <a:cs typeface="Times New Roman"/>
              <a:sym typeface="Times New Roman"/>
            </a:endParaRPr>
          </a:p>
          <a:p>
            <a:pPr algn="ctr">
              <a:buSzPts val="1800"/>
            </a:pPr>
            <a:r>
              <a:rPr lang="en-US" sz="1350" dirty="0">
                <a:solidFill>
                  <a:schemeClr val="dk1"/>
                </a:solidFill>
                <a:latin typeface="Times New Roman"/>
                <a:ea typeface="Times New Roman"/>
                <a:cs typeface="Times New Roman"/>
                <a:sym typeface="Times New Roman"/>
              </a:rPr>
              <a:t>Funded by</a:t>
            </a:r>
            <a:br>
              <a:rPr lang="en-US" sz="1350" dirty="0">
                <a:solidFill>
                  <a:schemeClr val="dk1"/>
                </a:solidFill>
                <a:latin typeface="Times New Roman"/>
                <a:ea typeface="Times New Roman"/>
                <a:cs typeface="Times New Roman"/>
                <a:sym typeface="Times New Roman"/>
              </a:rPr>
            </a:br>
            <a:r>
              <a:rPr lang="en-US" sz="1725" b="1" dirty="0">
                <a:solidFill>
                  <a:srgbClr val="C00000"/>
                </a:solidFill>
                <a:latin typeface="Times New Roman"/>
                <a:ea typeface="Times New Roman"/>
                <a:cs typeface="Times New Roman"/>
                <a:sym typeface="Times New Roman"/>
              </a:rPr>
              <a:t>Ministry of Electronics &amp; Information Technology (</a:t>
            </a:r>
            <a:r>
              <a:rPr lang="en-US" sz="1725" b="1" dirty="0" err="1">
                <a:solidFill>
                  <a:srgbClr val="C00000"/>
                </a:solidFill>
                <a:latin typeface="Times New Roman"/>
                <a:ea typeface="Times New Roman"/>
                <a:cs typeface="Times New Roman"/>
                <a:sym typeface="Times New Roman"/>
              </a:rPr>
              <a:t>MeitY</a:t>
            </a:r>
            <a:r>
              <a:rPr lang="en-US" sz="1725" b="1" dirty="0">
                <a:solidFill>
                  <a:srgbClr val="C00000"/>
                </a:solidFill>
                <a:latin typeface="Times New Roman"/>
                <a:ea typeface="Times New Roman"/>
                <a:cs typeface="Times New Roman"/>
                <a:sym typeface="Times New Roman"/>
              </a:rPr>
              <a:t>), Govt. of India</a:t>
            </a:r>
            <a:endParaRPr sz="1425" b="1" dirty="0">
              <a:solidFill>
                <a:srgbClr val="C00000"/>
              </a:solidFill>
            </a:endParaRPr>
          </a:p>
          <a:p>
            <a:pPr algn="ctr">
              <a:buSzPts val="1800"/>
            </a:pPr>
            <a:endParaRPr sz="1350" dirty="0">
              <a:solidFill>
                <a:schemeClr val="dk1"/>
              </a:solidFill>
              <a:latin typeface="Calibri"/>
              <a:ea typeface="Calibri"/>
              <a:cs typeface="Calibri"/>
              <a:sym typeface="Calibri"/>
            </a:endParaRPr>
          </a:p>
        </p:txBody>
      </p:sp>
      <p:sp>
        <p:nvSpPr>
          <p:cNvPr id="161" name="Google Shape;161;p25"/>
          <p:cNvSpPr txBox="1"/>
          <p:nvPr/>
        </p:nvSpPr>
        <p:spPr>
          <a:xfrm>
            <a:off x="5779013" y="3962531"/>
            <a:ext cx="3039750" cy="1304173"/>
          </a:xfrm>
          <a:prstGeom prst="rect">
            <a:avLst/>
          </a:prstGeom>
          <a:noFill/>
          <a:ln>
            <a:noFill/>
          </a:ln>
        </p:spPr>
        <p:txBody>
          <a:bodyPr spcFirstLastPara="1" wrap="square" lIns="68569" tIns="34275" rIns="68569" bIns="34275" anchor="t" anchorCtr="0">
            <a:spAutoFit/>
          </a:bodyPr>
          <a:lstStyle/>
          <a:p>
            <a:pPr algn="ctr">
              <a:buSzPts val="2000"/>
            </a:pPr>
            <a:r>
              <a:rPr lang="en-US" sz="1500" b="1">
                <a:solidFill>
                  <a:srgbClr val="1155CC"/>
                </a:solidFill>
                <a:highlight>
                  <a:srgbClr val="FFFFFF"/>
                </a:highlight>
                <a:latin typeface="Times New Roman"/>
                <a:ea typeface="Times New Roman"/>
                <a:cs typeface="Times New Roman"/>
                <a:sym typeface="Times New Roman"/>
              </a:rPr>
              <a:t>Dr. M N MURALIDHARAN</a:t>
            </a:r>
            <a:endParaRPr sz="1500" b="1">
              <a:solidFill>
                <a:srgbClr val="1155CC"/>
              </a:solidFill>
              <a:highlight>
                <a:srgbClr val="FFFFFF"/>
              </a:highlight>
              <a:latin typeface="Times New Roman"/>
              <a:ea typeface="Times New Roman"/>
              <a:cs typeface="Times New Roman"/>
              <a:sym typeface="Times New Roman"/>
            </a:endParaRPr>
          </a:p>
          <a:p>
            <a:pPr algn="ctr">
              <a:buSzPts val="2300"/>
            </a:pPr>
            <a:r>
              <a:rPr lang="en-US" sz="1725" b="1">
                <a:solidFill>
                  <a:srgbClr val="202124"/>
                </a:solidFill>
                <a:highlight>
                  <a:srgbClr val="FFFFFF"/>
                </a:highlight>
                <a:latin typeface="Times New Roman"/>
                <a:ea typeface="Times New Roman"/>
                <a:cs typeface="Times New Roman"/>
                <a:sym typeface="Times New Roman"/>
              </a:rPr>
              <a:t>Center For Materials For Electronics Technology </a:t>
            </a:r>
            <a:endParaRPr sz="1725" b="1">
              <a:solidFill>
                <a:srgbClr val="202124"/>
              </a:solidFill>
              <a:highlight>
                <a:srgbClr val="FFFFFF"/>
              </a:highlight>
              <a:latin typeface="Times New Roman"/>
              <a:ea typeface="Times New Roman"/>
              <a:cs typeface="Times New Roman"/>
              <a:sym typeface="Times New Roman"/>
            </a:endParaRPr>
          </a:p>
          <a:p>
            <a:pPr algn="ctr">
              <a:buClr>
                <a:schemeClr val="dk1"/>
              </a:buClr>
              <a:buSzPts val="1800"/>
            </a:pPr>
            <a:r>
              <a:rPr lang="en-US" sz="1350" b="1">
                <a:solidFill>
                  <a:schemeClr val="dk1"/>
                </a:solidFill>
                <a:latin typeface="Times New Roman"/>
                <a:ea typeface="Times New Roman"/>
                <a:cs typeface="Times New Roman"/>
                <a:sym typeface="Times New Roman"/>
              </a:rPr>
              <a:t>Mulagunnathukavu, Thrissur, Kerala</a:t>
            </a:r>
            <a:endParaRPr sz="1725" b="1">
              <a:solidFill>
                <a:srgbClr val="202124"/>
              </a:solidFill>
              <a:highlight>
                <a:srgbClr val="FFFFFF"/>
              </a:highlight>
              <a:latin typeface="Times New Roman"/>
              <a:ea typeface="Times New Roman"/>
              <a:cs typeface="Times New Roman"/>
              <a:sym typeface="Times New Roman"/>
            </a:endParaRPr>
          </a:p>
          <a:p>
            <a:pPr algn="ctr">
              <a:buSzPts val="2300"/>
            </a:pPr>
            <a:endParaRPr sz="1725" b="1">
              <a:solidFill>
                <a:srgbClr val="202124"/>
              </a:solidFill>
              <a:highlight>
                <a:srgbClr val="FFFFFF"/>
              </a:highlight>
              <a:latin typeface="Times New Roman"/>
              <a:ea typeface="Times New Roman"/>
              <a:cs typeface="Times New Roman"/>
              <a:sym typeface="Times New Roman"/>
            </a:endParaRPr>
          </a:p>
        </p:txBody>
      </p:sp>
      <p:sp>
        <p:nvSpPr>
          <p:cNvPr id="162" name="Google Shape;162;p25"/>
          <p:cNvSpPr txBox="1"/>
          <p:nvPr/>
        </p:nvSpPr>
        <p:spPr>
          <a:xfrm>
            <a:off x="270356" y="4001494"/>
            <a:ext cx="4146750" cy="1454214"/>
          </a:xfrm>
          <a:prstGeom prst="rect">
            <a:avLst/>
          </a:prstGeom>
          <a:noFill/>
          <a:ln>
            <a:noFill/>
          </a:ln>
        </p:spPr>
        <p:txBody>
          <a:bodyPr spcFirstLastPara="1" wrap="square" lIns="68569" tIns="34275" rIns="68569" bIns="34275" anchor="t" anchorCtr="0">
            <a:spAutoFit/>
          </a:bodyPr>
          <a:lstStyle/>
          <a:p>
            <a:pPr algn="ctr">
              <a:buSzPts val="2000"/>
            </a:pPr>
            <a:r>
              <a:rPr lang="en-US" sz="1500" b="1">
                <a:solidFill>
                  <a:srgbClr val="1155CC"/>
                </a:solidFill>
                <a:latin typeface="Times New Roman"/>
                <a:ea typeface="Times New Roman"/>
                <a:cs typeface="Times New Roman"/>
                <a:sym typeface="Times New Roman"/>
              </a:rPr>
              <a:t>Dr. AJAY KUMAR</a:t>
            </a:r>
            <a:endParaRPr sz="1500" b="1">
              <a:solidFill>
                <a:srgbClr val="1155CC"/>
              </a:solidFill>
              <a:latin typeface="Times New Roman"/>
              <a:ea typeface="Times New Roman"/>
              <a:cs typeface="Times New Roman"/>
              <a:sym typeface="Times New Roman"/>
            </a:endParaRPr>
          </a:p>
          <a:p>
            <a:pPr algn="ctr">
              <a:buSzPts val="2300"/>
            </a:pPr>
            <a:r>
              <a:rPr lang="en-US" sz="1725" b="1">
                <a:solidFill>
                  <a:schemeClr val="dk1"/>
                </a:solidFill>
                <a:latin typeface="Times New Roman"/>
                <a:ea typeface="Times New Roman"/>
                <a:cs typeface="Times New Roman"/>
                <a:sym typeface="Times New Roman"/>
              </a:rPr>
              <a:t>Adi Shankara </a:t>
            </a:r>
            <a:endParaRPr sz="1725" b="1">
              <a:solidFill>
                <a:schemeClr val="dk1"/>
              </a:solidFill>
              <a:latin typeface="Times New Roman"/>
              <a:ea typeface="Times New Roman"/>
              <a:cs typeface="Times New Roman"/>
              <a:sym typeface="Times New Roman"/>
            </a:endParaRPr>
          </a:p>
          <a:p>
            <a:pPr algn="ctr">
              <a:buSzPts val="2300"/>
            </a:pPr>
            <a:r>
              <a:rPr lang="en-US" sz="1725" b="1">
                <a:solidFill>
                  <a:schemeClr val="dk1"/>
                </a:solidFill>
                <a:latin typeface="Times New Roman"/>
                <a:ea typeface="Times New Roman"/>
                <a:cs typeface="Times New Roman"/>
                <a:sym typeface="Times New Roman"/>
              </a:rPr>
              <a:t>Institute of Engineering and Technology</a:t>
            </a:r>
            <a:endParaRPr sz="1425" b="1"/>
          </a:p>
          <a:p>
            <a:pPr algn="ctr">
              <a:buSzPts val="1800"/>
            </a:pPr>
            <a:r>
              <a:rPr lang="en-US" sz="1350" b="1">
                <a:solidFill>
                  <a:schemeClr val="dk1"/>
                </a:solidFill>
                <a:latin typeface="Times New Roman"/>
                <a:ea typeface="Times New Roman"/>
                <a:cs typeface="Times New Roman"/>
                <a:sym typeface="Times New Roman"/>
              </a:rPr>
              <a:t> Kalady, Ernakulam, Kerala</a:t>
            </a:r>
            <a:endParaRPr sz="1050" b="1"/>
          </a:p>
          <a:p>
            <a:pPr algn="ctr">
              <a:buSzPts val="1800"/>
            </a:pPr>
            <a:r>
              <a:rPr lang="en-US" sz="1350">
                <a:solidFill>
                  <a:schemeClr val="dk1"/>
                </a:solidFill>
                <a:latin typeface="Times New Roman"/>
                <a:ea typeface="Times New Roman"/>
                <a:cs typeface="Times New Roman"/>
                <a:sym typeface="Times New Roman"/>
              </a:rPr>
              <a:t>	 </a:t>
            </a:r>
            <a:endParaRPr sz="1050"/>
          </a:p>
          <a:p>
            <a:pPr algn="ctr">
              <a:buSzPts val="1800"/>
            </a:pPr>
            <a:endParaRPr sz="1350">
              <a:solidFill>
                <a:schemeClr val="dk1"/>
              </a:solidFill>
              <a:latin typeface="Calibri"/>
              <a:ea typeface="Calibri"/>
              <a:cs typeface="Calibri"/>
              <a:sym typeface="Calibri"/>
            </a:endParaRPr>
          </a:p>
        </p:txBody>
      </p:sp>
      <p:sp>
        <p:nvSpPr>
          <p:cNvPr id="163" name="Google Shape;163;p25"/>
          <p:cNvSpPr txBox="1"/>
          <p:nvPr/>
        </p:nvSpPr>
        <p:spPr>
          <a:xfrm>
            <a:off x="3811135" y="3587036"/>
            <a:ext cx="1695375" cy="300150"/>
          </a:xfrm>
          <a:prstGeom prst="rect">
            <a:avLst/>
          </a:prstGeom>
          <a:noFill/>
          <a:ln w="9525" cap="flat" cmpd="sng">
            <a:solidFill>
              <a:srgbClr val="000000"/>
            </a:solidFill>
            <a:prstDash val="solid"/>
            <a:round/>
            <a:headEnd type="none" w="sm" len="sm"/>
            <a:tailEnd type="none" w="sm" len="sm"/>
          </a:ln>
        </p:spPr>
        <p:txBody>
          <a:bodyPr spcFirstLastPara="1" wrap="square" lIns="68569" tIns="34275" rIns="68569" bIns="34275" anchor="ctr" anchorCtr="0">
            <a:noAutofit/>
          </a:bodyPr>
          <a:lstStyle/>
          <a:p>
            <a:pPr algn="ctr">
              <a:buSzPts val="2000"/>
            </a:pPr>
            <a:r>
              <a:rPr lang="en-US" sz="1500" b="1">
                <a:solidFill>
                  <a:schemeClr val="dk1"/>
                </a:solidFill>
                <a:latin typeface="Times New Roman"/>
                <a:ea typeface="Times New Roman"/>
                <a:cs typeface="Times New Roman"/>
                <a:sym typeface="Times New Roman"/>
              </a:rPr>
              <a:t>Joint Proposal</a:t>
            </a:r>
            <a:endParaRPr sz="1500" b="1">
              <a:solidFill>
                <a:schemeClr val="dk1"/>
              </a:solidFill>
              <a:latin typeface="Times New Roman"/>
              <a:ea typeface="Times New Roman"/>
              <a:cs typeface="Times New Roman"/>
              <a:sym typeface="Times New Roman"/>
            </a:endParaRPr>
          </a:p>
        </p:txBody>
      </p:sp>
      <p:sp>
        <p:nvSpPr>
          <p:cNvPr id="164" name="Google Shape;164;p25"/>
          <p:cNvSpPr/>
          <p:nvPr/>
        </p:nvSpPr>
        <p:spPr>
          <a:xfrm>
            <a:off x="0" y="107156"/>
            <a:ext cx="191925" cy="4835475"/>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69" tIns="68569" rIns="68569" bIns="68569" anchor="ctr" anchorCtr="0">
            <a:noAutofit/>
          </a:bodyPr>
          <a:lstStyle/>
          <a:p>
            <a:pPr>
              <a:buSzPts val="1400"/>
            </a:pPr>
            <a:endParaRPr sz="1050"/>
          </a:p>
        </p:txBody>
      </p:sp>
      <p:sp>
        <p:nvSpPr>
          <p:cNvPr id="165" name="Google Shape;165;p25"/>
          <p:cNvSpPr txBox="1"/>
          <p:nvPr/>
        </p:nvSpPr>
        <p:spPr>
          <a:xfrm>
            <a:off x="2115769" y="1287957"/>
            <a:ext cx="5847075" cy="300052"/>
          </a:xfrm>
          <a:prstGeom prst="rect">
            <a:avLst/>
          </a:prstGeom>
          <a:solidFill>
            <a:srgbClr val="83E3D9"/>
          </a:solidFill>
          <a:ln w="9525" cap="flat" cmpd="sng">
            <a:solidFill>
              <a:schemeClr val="lt1"/>
            </a:solidFill>
            <a:prstDash val="solid"/>
            <a:round/>
            <a:headEnd type="none" w="sm" len="sm"/>
            <a:tailEnd type="none" w="sm" len="sm"/>
          </a:ln>
        </p:spPr>
        <p:txBody>
          <a:bodyPr spcFirstLastPara="1" wrap="square" lIns="68569" tIns="34275" rIns="68569" bIns="34275" anchor="t" anchorCtr="0">
            <a:spAutoFit/>
          </a:bodyPr>
          <a:lstStyle/>
          <a:p>
            <a:pPr algn="ctr">
              <a:buSzPts val="2000"/>
            </a:pPr>
            <a:r>
              <a:rPr lang="en-US" sz="1500" b="1">
                <a:solidFill>
                  <a:schemeClr val="dk1"/>
                </a:solidFill>
                <a:latin typeface="Times New Roman"/>
                <a:ea typeface="Times New Roman"/>
                <a:cs typeface="Times New Roman"/>
                <a:sym typeface="Times New Roman"/>
              </a:rPr>
              <a:t>Duration- 3 Years  |  Budget Overlay: 298.66 Lakhs </a:t>
            </a:r>
            <a:endParaRPr sz="1500" b="1">
              <a:solidFill>
                <a:schemeClr val="dk1"/>
              </a:solidFill>
              <a:latin typeface="Times New Roman"/>
              <a:ea typeface="Times New Roman"/>
              <a:cs typeface="Times New Roman"/>
              <a:sym typeface="Times New Roman"/>
            </a:endParaRPr>
          </a:p>
        </p:txBody>
      </p:sp>
      <p:pic>
        <p:nvPicPr>
          <p:cNvPr id="166" name="Google Shape;166;p25"/>
          <p:cNvPicPr preferRelativeResize="0"/>
          <p:nvPr/>
        </p:nvPicPr>
        <p:blipFill rotWithShape="1">
          <a:blip r:embed="rId3">
            <a:alphaModFix/>
          </a:blip>
          <a:srcRect/>
          <a:stretch/>
        </p:blipFill>
        <p:spPr>
          <a:xfrm>
            <a:off x="1719626" y="3103088"/>
            <a:ext cx="1176143" cy="784106"/>
          </a:xfrm>
          <a:prstGeom prst="rect">
            <a:avLst/>
          </a:prstGeom>
          <a:noFill/>
          <a:ln>
            <a:noFill/>
          </a:ln>
        </p:spPr>
      </p:pic>
      <p:pic>
        <p:nvPicPr>
          <p:cNvPr id="167" name="Google Shape;167;p25"/>
          <p:cNvPicPr preferRelativeResize="0"/>
          <p:nvPr/>
        </p:nvPicPr>
        <p:blipFill rotWithShape="1">
          <a:blip r:embed="rId4">
            <a:alphaModFix/>
          </a:blip>
          <a:srcRect r="75887"/>
          <a:stretch/>
        </p:blipFill>
        <p:spPr>
          <a:xfrm>
            <a:off x="6703331" y="3203175"/>
            <a:ext cx="1551200" cy="583950"/>
          </a:xfrm>
          <a:prstGeom prst="rect">
            <a:avLst/>
          </a:prstGeom>
          <a:noFill/>
          <a:ln>
            <a:noFill/>
          </a:ln>
        </p:spPr>
      </p:pic>
      <p:sp>
        <p:nvSpPr>
          <p:cNvPr id="168" name="Google Shape;168;p25"/>
          <p:cNvSpPr txBox="1">
            <a:spLocks noGrp="1"/>
          </p:cNvSpPr>
          <p:nvPr>
            <p:ph type="sldNum" idx="12"/>
          </p:nvPr>
        </p:nvSpPr>
        <p:spPr>
          <a:xfrm>
            <a:off x="8589638" y="4774219"/>
            <a:ext cx="457650" cy="273825"/>
          </a:xfrm>
          <a:prstGeom prst="rect">
            <a:avLst/>
          </a:prstGeom>
          <a:noFill/>
          <a:ln>
            <a:noFill/>
          </a:ln>
        </p:spPr>
        <p:txBody>
          <a:bodyPr spcFirstLastPara="1" wrap="square" lIns="68569" tIns="34275" rIns="68569" bIns="34275" anchor="ctr" anchorCtr="0">
            <a:noAutofit/>
          </a:bodyPr>
          <a:lstStyle/>
          <a:p>
            <a:pPr algn="l">
              <a:buSzPts val="1200"/>
            </a:pPr>
            <a:fld id="{00000000-1234-1234-1234-123412341234}" type="slidenum">
              <a:rPr lang="en-US"/>
              <a:pPr algn="l">
                <a:buSzPts val="1200"/>
              </a:pPr>
              <a:t>1</a:t>
            </a:fld>
            <a:endParaRPr/>
          </a:p>
        </p:txBody>
      </p:sp>
      <p:sp>
        <p:nvSpPr>
          <p:cNvPr id="169" name="Google Shape;169;p25"/>
          <p:cNvSpPr txBox="1"/>
          <p:nvPr/>
        </p:nvSpPr>
        <p:spPr>
          <a:xfrm>
            <a:off x="2895769" y="2602182"/>
            <a:ext cx="3729600" cy="346218"/>
          </a:xfrm>
          <a:prstGeom prst="rect">
            <a:avLst/>
          </a:prstGeom>
          <a:solidFill>
            <a:srgbClr val="C04089"/>
          </a:solidFill>
          <a:ln w="9525" cap="flat" cmpd="sng">
            <a:solidFill>
              <a:schemeClr val="lt1"/>
            </a:solidFill>
            <a:prstDash val="solid"/>
            <a:round/>
            <a:headEnd type="none" w="sm" len="sm"/>
            <a:tailEnd type="none" w="sm" len="sm"/>
          </a:ln>
        </p:spPr>
        <p:txBody>
          <a:bodyPr spcFirstLastPara="1" wrap="square" lIns="68569" tIns="34275" rIns="68569" bIns="34275" anchor="t" anchorCtr="0">
            <a:spAutoFit/>
          </a:bodyPr>
          <a:lstStyle/>
          <a:p>
            <a:pPr algn="ctr">
              <a:buSzPts val="2000"/>
            </a:pPr>
            <a:r>
              <a:rPr lang="en-US" sz="1800" b="1" dirty="0">
                <a:solidFill>
                  <a:schemeClr val="lt1"/>
                </a:solidFill>
                <a:latin typeface="Times New Roman"/>
                <a:ea typeface="Times New Roman"/>
                <a:cs typeface="Times New Roman"/>
                <a:sym typeface="Times New Roman"/>
              </a:rPr>
              <a:t>PRSG MEETING - </a:t>
            </a:r>
            <a:r>
              <a:rPr lang="en-US" sz="1800" b="1" dirty="0" smtClean="0">
                <a:solidFill>
                  <a:schemeClr val="lt1"/>
                </a:solidFill>
                <a:latin typeface="Times New Roman"/>
                <a:ea typeface="Times New Roman"/>
                <a:cs typeface="Times New Roman"/>
                <a:sym typeface="Times New Roman"/>
              </a:rPr>
              <a:t>III</a:t>
            </a:r>
            <a:endParaRPr sz="1800" b="1" dirty="0">
              <a:solidFill>
                <a:schemeClr val="lt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567704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1198" y="1021557"/>
            <a:ext cx="5664994" cy="3714749"/>
          </a:xfrm>
          <a:prstGeom prst="rect">
            <a:avLst/>
          </a:prstGeom>
        </p:spPr>
      </p:pic>
      <p:sp>
        <p:nvSpPr>
          <p:cNvPr id="3" name="object 3"/>
          <p:cNvSpPr/>
          <p:nvPr/>
        </p:nvSpPr>
        <p:spPr>
          <a:xfrm>
            <a:off x="0" y="107156"/>
            <a:ext cx="191928" cy="4835843"/>
          </a:xfrm>
          <a:custGeom>
            <a:avLst/>
            <a:gdLst/>
            <a:ahLst/>
            <a:cxnLst/>
            <a:rect l="l" t="t" r="r" b="b"/>
            <a:pathLst>
              <a:path w="255904" h="6447790">
                <a:moveTo>
                  <a:pt x="255899" y="6447299"/>
                </a:moveTo>
                <a:lnTo>
                  <a:pt x="0" y="6447299"/>
                </a:lnTo>
                <a:lnTo>
                  <a:pt x="0" y="0"/>
                </a:lnTo>
                <a:lnTo>
                  <a:pt x="255899" y="0"/>
                </a:lnTo>
                <a:lnTo>
                  <a:pt x="255899" y="6447299"/>
                </a:lnTo>
                <a:close/>
              </a:path>
            </a:pathLst>
          </a:custGeom>
          <a:solidFill>
            <a:srgbClr val="A71901"/>
          </a:solidFill>
        </p:spPr>
        <p:txBody>
          <a:bodyPr wrap="square" lIns="0" tIns="0" rIns="0" bIns="0" rtlCol="0"/>
          <a:lstStyle/>
          <a:p>
            <a:endParaRPr sz="1050"/>
          </a:p>
        </p:txBody>
      </p:sp>
      <p:sp>
        <p:nvSpPr>
          <p:cNvPr id="4" name="object 4"/>
          <p:cNvSpPr txBox="1">
            <a:spLocks noGrp="1"/>
          </p:cNvSpPr>
          <p:nvPr>
            <p:ph type="title"/>
          </p:nvPr>
        </p:nvSpPr>
        <p:spPr>
          <a:xfrm>
            <a:off x="330394" y="120472"/>
            <a:ext cx="1219006" cy="453329"/>
          </a:xfrm>
          <a:prstGeom prst="rect">
            <a:avLst/>
          </a:prstGeom>
        </p:spPr>
        <p:txBody>
          <a:bodyPr spcFirstLastPara="1" vert="horz" wrap="square" lIns="0" tIns="9525" rIns="0" bIns="0" rtlCol="0" anchor="t" anchorCtr="0">
            <a:spAutoFit/>
          </a:bodyPr>
          <a:lstStyle/>
          <a:p>
            <a:pPr marL="9525">
              <a:spcBef>
                <a:spcPts val="75"/>
              </a:spcBef>
            </a:pPr>
            <a:r>
              <a:rPr spc="-8" dirty="0">
                <a:solidFill>
                  <a:srgbClr val="783E04"/>
                </a:solidFill>
                <a:latin typeface="Cambria"/>
                <a:cs typeface="Cambria"/>
              </a:rPr>
              <a:t>Outline</a:t>
            </a:r>
          </a:p>
        </p:txBody>
      </p:sp>
      <p:sp>
        <p:nvSpPr>
          <p:cNvPr id="16" name="object 16"/>
          <p:cNvSpPr txBox="1"/>
          <p:nvPr/>
        </p:nvSpPr>
        <p:spPr>
          <a:xfrm>
            <a:off x="8848018" y="4823204"/>
            <a:ext cx="124778" cy="230832"/>
          </a:xfrm>
          <a:prstGeom prst="rect">
            <a:avLst/>
          </a:prstGeom>
        </p:spPr>
        <p:txBody>
          <a:bodyPr vert="horz" wrap="square" lIns="0" tIns="0" rIns="0" bIns="0" rtlCol="0">
            <a:spAutoFit/>
          </a:bodyPr>
          <a:lstStyle/>
          <a:p>
            <a:pPr marL="28575">
              <a:lnSpc>
                <a:spcPts val="930"/>
              </a:lnSpc>
            </a:pPr>
            <a:fld id="{81D60167-4931-47E6-BA6A-407CBD079E47}" type="slidenum">
              <a:rPr sz="900" spc="-38" dirty="0">
                <a:solidFill>
                  <a:srgbClr val="888888"/>
                </a:solidFill>
                <a:latin typeface="Calibri"/>
                <a:cs typeface="Calibri"/>
              </a:rPr>
              <a:pPr marL="28575">
                <a:lnSpc>
                  <a:spcPts val="930"/>
                </a:lnSpc>
              </a:pPr>
              <a:t>2</a:t>
            </a:fld>
            <a:endParaRPr sz="900">
              <a:latin typeface="Calibri"/>
              <a:cs typeface="Calibri"/>
            </a:endParaRPr>
          </a:p>
        </p:txBody>
      </p:sp>
      <p:sp>
        <p:nvSpPr>
          <p:cNvPr id="5" name="object 5"/>
          <p:cNvSpPr txBox="1"/>
          <p:nvPr/>
        </p:nvSpPr>
        <p:spPr>
          <a:xfrm>
            <a:off x="1460194" y="1463074"/>
            <a:ext cx="1415415" cy="240450"/>
          </a:xfrm>
          <a:prstGeom prst="rect">
            <a:avLst/>
          </a:prstGeom>
        </p:spPr>
        <p:txBody>
          <a:bodyPr vert="horz" wrap="square" lIns="0" tIns="9525" rIns="0" bIns="0" rtlCol="0">
            <a:spAutoFit/>
          </a:bodyPr>
          <a:lstStyle/>
          <a:p>
            <a:pPr marL="9525">
              <a:spcBef>
                <a:spcPts val="75"/>
              </a:spcBef>
            </a:pPr>
            <a:r>
              <a:rPr sz="1500" dirty="0">
                <a:latin typeface="Cambria"/>
                <a:cs typeface="Cambria"/>
              </a:rPr>
              <a:t>Project</a:t>
            </a:r>
            <a:r>
              <a:rPr sz="1500" spc="-79" dirty="0">
                <a:latin typeface="Cambria"/>
                <a:cs typeface="Cambria"/>
              </a:rPr>
              <a:t> </a:t>
            </a:r>
            <a:r>
              <a:rPr sz="1500" spc="-8" dirty="0">
                <a:latin typeface="Cambria"/>
                <a:cs typeface="Cambria"/>
              </a:rPr>
              <a:t>Overview</a:t>
            </a:r>
            <a:endParaRPr sz="1500">
              <a:latin typeface="Cambria"/>
              <a:cs typeface="Cambria"/>
            </a:endParaRPr>
          </a:p>
        </p:txBody>
      </p:sp>
      <p:sp>
        <p:nvSpPr>
          <p:cNvPr id="6" name="object 6"/>
          <p:cNvSpPr txBox="1"/>
          <p:nvPr/>
        </p:nvSpPr>
        <p:spPr>
          <a:xfrm>
            <a:off x="1460194" y="3685214"/>
            <a:ext cx="829628" cy="240450"/>
          </a:xfrm>
          <a:prstGeom prst="rect">
            <a:avLst/>
          </a:prstGeom>
        </p:spPr>
        <p:txBody>
          <a:bodyPr vert="horz" wrap="square" lIns="0" tIns="9525" rIns="0" bIns="0" rtlCol="0">
            <a:spAutoFit/>
          </a:bodyPr>
          <a:lstStyle/>
          <a:p>
            <a:pPr marL="9525">
              <a:spcBef>
                <a:spcPts val="75"/>
              </a:spcBef>
            </a:pPr>
            <a:r>
              <a:rPr sz="1500" spc="-8" dirty="0">
                <a:latin typeface="Cambria"/>
                <a:cs typeface="Cambria"/>
              </a:rPr>
              <a:t>Outcomes</a:t>
            </a:r>
            <a:endParaRPr sz="1500">
              <a:latin typeface="Cambria"/>
              <a:cs typeface="Cambria"/>
            </a:endParaRPr>
          </a:p>
        </p:txBody>
      </p:sp>
      <p:sp>
        <p:nvSpPr>
          <p:cNvPr id="7" name="object 7"/>
          <p:cNvSpPr txBox="1"/>
          <p:nvPr/>
        </p:nvSpPr>
        <p:spPr>
          <a:xfrm>
            <a:off x="6250969" y="3692534"/>
            <a:ext cx="1539240" cy="240450"/>
          </a:xfrm>
          <a:prstGeom prst="rect">
            <a:avLst/>
          </a:prstGeom>
        </p:spPr>
        <p:txBody>
          <a:bodyPr vert="horz" wrap="square" lIns="0" tIns="9525" rIns="0" bIns="0" rtlCol="0">
            <a:spAutoFit/>
          </a:bodyPr>
          <a:lstStyle/>
          <a:p>
            <a:pPr marL="9525">
              <a:spcBef>
                <a:spcPts val="75"/>
              </a:spcBef>
            </a:pPr>
            <a:r>
              <a:rPr sz="1500" spc="-15" dirty="0">
                <a:latin typeface="Cambria"/>
                <a:cs typeface="Cambria"/>
              </a:rPr>
              <a:t>Technical</a:t>
            </a:r>
            <a:r>
              <a:rPr sz="1500" spc="-30" dirty="0">
                <a:latin typeface="Cambria"/>
                <a:cs typeface="Cambria"/>
              </a:rPr>
              <a:t> </a:t>
            </a:r>
            <a:r>
              <a:rPr sz="1500" spc="-8" dirty="0">
                <a:latin typeface="Cambria"/>
                <a:cs typeface="Cambria"/>
              </a:rPr>
              <a:t>Progress</a:t>
            </a:r>
            <a:endParaRPr sz="1500">
              <a:latin typeface="Cambria"/>
              <a:cs typeface="Cambria"/>
            </a:endParaRPr>
          </a:p>
        </p:txBody>
      </p:sp>
      <p:sp>
        <p:nvSpPr>
          <p:cNvPr id="8" name="object 8"/>
          <p:cNvSpPr txBox="1"/>
          <p:nvPr/>
        </p:nvSpPr>
        <p:spPr>
          <a:xfrm>
            <a:off x="6197813" y="2591504"/>
            <a:ext cx="1513998" cy="240450"/>
          </a:xfrm>
          <a:prstGeom prst="rect">
            <a:avLst/>
          </a:prstGeom>
        </p:spPr>
        <p:txBody>
          <a:bodyPr vert="horz" wrap="square" lIns="0" tIns="9525" rIns="0" bIns="0" rtlCol="0">
            <a:spAutoFit/>
          </a:bodyPr>
          <a:lstStyle/>
          <a:p>
            <a:pPr marL="9525">
              <a:spcBef>
                <a:spcPts val="75"/>
              </a:spcBef>
            </a:pPr>
            <a:r>
              <a:rPr sz="1500" dirty="0">
                <a:latin typeface="Cambria"/>
                <a:cs typeface="Cambria"/>
              </a:rPr>
              <a:t>Financial</a:t>
            </a:r>
            <a:r>
              <a:rPr sz="1500" spc="-34" dirty="0">
                <a:latin typeface="Cambria"/>
                <a:cs typeface="Cambria"/>
              </a:rPr>
              <a:t> </a:t>
            </a:r>
            <a:r>
              <a:rPr sz="1500" spc="-8" dirty="0">
                <a:latin typeface="Cambria"/>
                <a:cs typeface="Cambria"/>
              </a:rPr>
              <a:t>Progress</a:t>
            </a:r>
            <a:endParaRPr sz="1500">
              <a:latin typeface="Cambria"/>
              <a:cs typeface="Cambria"/>
            </a:endParaRPr>
          </a:p>
        </p:txBody>
      </p:sp>
      <p:sp>
        <p:nvSpPr>
          <p:cNvPr id="9" name="object 9"/>
          <p:cNvSpPr txBox="1"/>
          <p:nvPr/>
        </p:nvSpPr>
        <p:spPr>
          <a:xfrm>
            <a:off x="6197813" y="1376317"/>
            <a:ext cx="1635919" cy="471283"/>
          </a:xfrm>
          <a:prstGeom prst="rect">
            <a:avLst/>
          </a:prstGeom>
        </p:spPr>
        <p:txBody>
          <a:bodyPr vert="horz" wrap="square" lIns="0" tIns="9525" rIns="0" bIns="0" rtlCol="0">
            <a:spAutoFit/>
          </a:bodyPr>
          <a:lstStyle/>
          <a:p>
            <a:pPr marL="9525" marR="3810">
              <a:spcBef>
                <a:spcPts val="75"/>
              </a:spcBef>
            </a:pPr>
            <a:r>
              <a:rPr sz="1500" spc="-19" dirty="0">
                <a:latin typeface="Cambria"/>
                <a:cs typeface="Cambria"/>
              </a:rPr>
              <a:t>Works</a:t>
            </a:r>
            <a:r>
              <a:rPr sz="1500" spc="-56" dirty="0">
                <a:latin typeface="Cambria"/>
                <a:cs typeface="Cambria"/>
              </a:rPr>
              <a:t> </a:t>
            </a:r>
            <a:r>
              <a:rPr sz="1500" dirty="0">
                <a:latin typeface="Cambria"/>
                <a:cs typeface="Cambria"/>
              </a:rPr>
              <a:t>Completed</a:t>
            </a:r>
            <a:r>
              <a:rPr sz="1500" spc="-53" dirty="0">
                <a:latin typeface="Cambria"/>
                <a:cs typeface="Cambria"/>
              </a:rPr>
              <a:t> </a:t>
            </a:r>
            <a:r>
              <a:rPr sz="1500" spc="-38" dirty="0">
                <a:latin typeface="Cambria"/>
                <a:cs typeface="Cambria"/>
              </a:rPr>
              <a:t>&amp; </a:t>
            </a:r>
            <a:r>
              <a:rPr sz="1500" dirty="0">
                <a:latin typeface="Cambria"/>
                <a:cs typeface="Cambria"/>
              </a:rPr>
              <a:t>Action</a:t>
            </a:r>
            <a:r>
              <a:rPr sz="1500" spc="-41" dirty="0">
                <a:latin typeface="Cambria"/>
                <a:cs typeface="Cambria"/>
              </a:rPr>
              <a:t> </a:t>
            </a:r>
            <a:r>
              <a:rPr sz="1500" spc="-15" dirty="0">
                <a:latin typeface="Cambria"/>
                <a:cs typeface="Cambria"/>
              </a:rPr>
              <a:t>Plan</a:t>
            </a:r>
            <a:endParaRPr sz="1500">
              <a:latin typeface="Cambria"/>
              <a:cs typeface="Cambria"/>
            </a:endParaRPr>
          </a:p>
        </p:txBody>
      </p:sp>
      <p:sp>
        <p:nvSpPr>
          <p:cNvPr id="10" name="object 10"/>
          <p:cNvSpPr txBox="1"/>
          <p:nvPr/>
        </p:nvSpPr>
        <p:spPr>
          <a:xfrm>
            <a:off x="782944" y="1432688"/>
            <a:ext cx="300990" cy="298159"/>
          </a:xfrm>
          <a:prstGeom prst="rect">
            <a:avLst/>
          </a:prstGeom>
        </p:spPr>
        <p:txBody>
          <a:bodyPr vert="horz" wrap="square" lIns="0" tIns="9525" rIns="0" bIns="0" rtlCol="0">
            <a:spAutoFit/>
          </a:bodyPr>
          <a:lstStyle/>
          <a:p>
            <a:pPr marL="9525">
              <a:spcBef>
                <a:spcPts val="75"/>
              </a:spcBef>
            </a:pPr>
            <a:r>
              <a:rPr sz="1875" b="1" spc="-19" dirty="0">
                <a:solidFill>
                  <a:srgbClr val="4098AA"/>
                </a:solidFill>
                <a:latin typeface="Cambria"/>
                <a:cs typeface="Cambria"/>
              </a:rPr>
              <a:t>01</a:t>
            </a:r>
            <a:endParaRPr sz="1875">
              <a:latin typeface="Cambria"/>
              <a:cs typeface="Cambria"/>
            </a:endParaRPr>
          </a:p>
        </p:txBody>
      </p:sp>
      <p:sp>
        <p:nvSpPr>
          <p:cNvPr id="11" name="object 11"/>
          <p:cNvSpPr txBox="1"/>
          <p:nvPr/>
        </p:nvSpPr>
        <p:spPr>
          <a:xfrm>
            <a:off x="782944" y="2538019"/>
            <a:ext cx="2783205" cy="298159"/>
          </a:xfrm>
          <a:prstGeom prst="rect">
            <a:avLst/>
          </a:prstGeom>
        </p:spPr>
        <p:txBody>
          <a:bodyPr vert="horz" wrap="square" lIns="0" tIns="9525" rIns="0" bIns="0" rtlCol="0">
            <a:spAutoFit/>
          </a:bodyPr>
          <a:lstStyle/>
          <a:p>
            <a:pPr marL="9525">
              <a:spcBef>
                <a:spcPts val="75"/>
              </a:spcBef>
              <a:tabLst>
                <a:tab pos="661988" algn="l"/>
              </a:tabLst>
            </a:pPr>
            <a:r>
              <a:rPr sz="1875" b="1" spc="-19" dirty="0">
                <a:solidFill>
                  <a:srgbClr val="98C6D8"/>
                </a:solidFill>
                <a:latin typeface="Cambria"/>
                <a:cs typeface="Cambria"/>
              </a:rPr>
              <a:t>02</a:t>
            </a:r>
            <a:r>
              <a:rPr sz="1875" b="1" dirty="0">
                <a:solidFill>
                  <a:srgbClr val="98C6D8"/>
                </a:solidFill>
                <a:latin typeface="Cambria"/>
                <a:cs typeface="Cambria"/>
              </a:rPr>
              <a:t>	</a:t>
            </a:r>
            <a:r>
              <a:rPr sz="1500" dirty="0">
                <a:latin typeface="Cambria"/>
                <a:cs typeface="Cambria"/>
              </a:rPr>
              <a:t>Timeline</a:t>
            </a:r>
            <a:r>
              <a:rPr sz="1500" spc="-23" dirty="0">
                <a:latin typeface="Cambria"/>
                <a:cs typeface="Cambria"/>
              </a:rPr>
              <a:t> </a:t>
            </a:r>
            <a:r>
              <a:rPr sz="1500" dirty="0">
                <a:latin typeface="Cambria"/>
                <a:cs typeface="Cambria"/>
              </a:rPr>
              <a:t>and</a:t>
            </a:r>
            <a:r>
              <a:rPr sz="1500" spc="-19" dirty="0">
                <a:latin typeface="Cambria"/>
                <a:cs typeface="Cambria"/>
              </a:rPr>
              <a:t> </a:t>
            </a:r>
            <a:r>
              <a:rPr sz="1500" spc="-8" dirty="0">
                <a:latin typeface="Cambria"/>
                <a:cs typeface="Cambria"/>
              </a:rPr>
              <a:t>Deliverables</a:t>
            </a:r>
            <a:endParaRPr sz="1500">
              <a:latin typeface="Cambria"/>
              <a:cs typeface="Cambria"/>
            </a:endParaRPr>
          </a:p>
        </p:txBody>
      </p:sp>
      <p:sp>
        <p:nvSpPr>
          <p:cNvPr id="12" name="object 12"/>
          <p:cNvSpPr txBox="1"/>
          <p:nvPr/>
        </p:nvSpPr>
        <p:spPr>
          <a:xfrm>
            <a:off x="782944" y="3672469"/>
            <a:ext cx="300990" cy="298159"/>
          </a:xfrm>
          <a:prstGeom prst="rect">
            <a:avLst/>
          </a:prstGeom>
        </p:spPr>
        <p:txBody>
          <a:bodyPr vert="horz" wrap="square" lIns="0" tIns="9525" rIns="0" bIns="0" rtlCol="0">
            <a:spAutoFit/>
          </a:bodyPr>
          <a:lstStyle/>
          <a:p>
            <a:pPr marL="9525">
              <a:spcBef>
                <a:spcPts val="75"/>
              </a:spcBef>
            </a:pPr>
            <a:r>
              <a:rPr sz="1875" b="1" spc="-19" dirty="0">
                <a:solidFill>
                  <a:srgbClr val="082B3E"/>
                </a:solidFill>
                <a:latin typeface="Cambria"/>
                <a:cs typeface="Cambria"/>
              </a:rPr>
              <a:t>03</a:t>
            </a:r>
            <a:endParaRPr sz="1875">
              <a:latin typeface="Cambria"/>
              <a:cs typeface="Cambria"/>
            </a:endParaRPr>
          </a:p>
        </p:txBody>
      </p:sp>
      <p:sp>
        <p:nvSpPr>
          <p:cNvPr id="13" name="object 13"/>
          <p:cNvSpPr txBox="1"/>
          <p:nvPr/>
        </p:nvSpPr>
        <p:spPr>
          <a:xfrm>
            <a:off x="5616206" y="3672469"/>
            <a:ext cx="300990" cy="298159"/>
          </a:xfrm>
          <a:prstGeom prst="rect">
            <a:avLst/>
          </a:prstGeom>
        </p:spPr>
        <p:txBody>
          <a:bodyPr vert="horz" wrap="square" lIns="0" tIns="9525" rIns="0" bIns="0" rtlCol="0">
            <a:spAutoFit/>
          </a:bodyPr>
          <a:lstStyle/>
          <a:p>
            <a:pPr marL="9525">
              <a:spcBef>
                <a:spcPts val="75"/>
              </a:spcBef>
            </a:pPr>
            <a:r>
              <a:rPr sz="1875" b="1" spc="-19" dirty="0">
                <a:solidFill>
                  <a:srgbClr val="EDBE10"/>
                </a:solidFill>
                <a:latin typeface="Cambria"/>
                <a:cs typeface="Cambria"/>
              </a:rPr>
              <a:t>04</a:t>
            </a:r>
            <a:endParaRPr sz="1875">
              <a:latin typeface="Cambria"/>
              <a:cs typeface="Cambria"/>
            </a:endParaRPr>
          </a:p>
        </p:txBody>
      </p:sp>
      <p:sp>
        <p:nvSpPr>
          <p:cNvPr id="14" name="object 14"/>
          <p:cNvSpPr txBox="1"/>
          <p:nvPr/>
        </p:nvSpPr>
        <p:spPr>
          <a:xfrm>
            <a:off x="5558719" y="2538019"/>
            <a:ext cx="300990" cy="298159"/>
          </a:xfrm>
          <a:prstGeom prst="rect">
            <a:avLst/>
          </a:prstGeom>
        </p:spPr>
        <p:txBody>
          <a:bodyPr vert="horz" wrap="square" lIns="0" tIns="9525" rIns="0" bIns="0" rtlCol="0">
            <a:spAutoFit/>
          </a:bodyPr>
          <a:lstStyle/>
          <a:p>
            <a:pPr marL="9525">
              <a:spcBef>
                <a:spcPts val="75"/>
              </a:spcBef>
            </a:pPr>
            <a:r>
              <a:rPr sz="1875" b="1" spc="-19" dirty="0">
                <a:solidFill>
                  <a:srgbClr val="DE8C25"/>
                </a:solidFill>
                <a:latin typeface="Cambria"/>
                <a:cs typeface="Cambria"/>
              </a:rPr>
              <a:t>05</a:t>
            </a:r>
            <a:endParaRPr sz="1875">
              <a:latin typeface="Cambria"/>
              <a:cs typeface="Cambria"/>
            </a:endParaRPr>
          </a:p>
        </p:txBody>
      </p:sp>
      <p:sp>
        <p:nvSpPr>
          <p:cNvPr id="15" name="object 15"/>
          <p:cNvSpPr txBox="1"/>
          <p:nvPr/>
        </p:nvSpPr>
        <p:spPr>
          <a:xfrm>
            <a:off x="5616206" y="1449132"/>
            <a:ext cx="300990" cy="298159"/>
          </a:xfrm>
          <a:prstGeom prst="rect">
            <a:avLst/>
          </a:prstGeom>
        </p:spPr>
        <p:txBody>
          <a:bodyPr vert="horz" wrap="square" lIns="0" tIns="9525" rIns="0" bIns="0" rtlCol="0">
            <a:spAutoFit/>
          </a:bodyPr>
          <a:lstStyle/>
          <a:p>
            <a:pPr marL="9525">
              <a:spcBef>
                <a:spcPts val="75"/>
              </a:spcBef>
            </a:pPr>
            <a:r>
              <a:rPr sz="1875" b="1" spc="-19" dirty="0">
                <a:solidFill>
                  <a:srgbClr val="BB312F"/>
                </a:solidFill>
                <a:latin typeface="Cambria"/>
                <a:cs typeface="Cambria"/>
              </a:rPr>
              <a:t>06</a:t>
            </a:r>
            <a:endParaRPr sz="1875">
              <a:latin typeface="Cambria"/>
              <a:cs typeface="Cambria"/>
            </a:endParaRPr>
          </a:p>
        </p:txBody>
      </p:sp>
    </p:spTree>
    <p:extLst>
      <p:ext uri="{BB962C8B-B14F-4D97-AF65-F5344CB8AC3E}">
        <p14:creationId xmlns:p14="http://schemas.microsoft.com/office/powerpoint/2010/main" val="11211725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45265" y="4498734"/>
            <a:ext cx="4309110" cy="353378"/>
            <a:chOff x="2993687" y="5998312"/>
            <a:chExt cx="5745480" cy="471170"/>
          </a:xfrm>
        </p:grpSpPr>
        <p:sp>
          <p:nvSpPr>
            <p:cNvPr id="3" name="object 3"/>
            <p:cNvSpPr/>
            <p:nvPr/>
          </p:nvSpPr>
          <p:spPr>
            <a:xfrm>
              <a:off x="2998449" y="6003075"/>
              <a:ext cx="5735955" cy="461645"/>
            </a:xfrm>
            <a:custGeom>
              <a:avLst/>
              <a:gdLst/>
              <a:ahLst/>
              <a:cxnLst/>
              <a:rect l="l" t="t" r="r" b="b"/>
              <a:pathLst>
                <a:path w="5735955" h="461645">
                  <a:moveTo>
                    <a:pt x="5658498" y="461399"/>
                  </a:moveTo>
                  <a:lnTo>
                    <a:pt x="76901" y="461399"/>
                  </a:lnTo>
                  <a:lnTo>
                    <a:pt x="46967" y="455356"/>
                  </a:lnTo>
                  <a:lnTo>
                    <a:pt x="22523" y="438876"/>
                  </a:lnTo>
                  <a:lnTo>
                    <a:pt x="6043" y="414432"/>
                  </a:lnTo>
                  <a:lnTo>
                    <a:pt x="0" y="384498"/>
                  </a:lnTo>
                  <a:lnTo>
                    <a:pt x="0" y="76901"/>
                  </a:lnTo>
                  <a:lnTo>
                    <a:pt x="6043" y="46967"/>
                  </a:lnTo>
                  <a:lnTo>
                    <a:pt x="22523" y="22523"/>
                  </a:lnTo>
                  <a:lnTo>
                    <a:pt x="46967" y="6043"/>
                  </a:lnTo>
                  <a:lnTo>
                    <a:pt x="76901" y="0"/>
                  </a:lnTo>
                  <a:lnTo>
                    <a:pt x="5658498" y="0"/>
                  </a:lnTo>
                  <a:lnTo>
                    <a:pt x="5701163" y="12920"/>
                  </a:lnTo>
                  <a:lnTo>
                    <a:pt x="5729546" y="47472"/>
                  </a:lnTo>
                  <a:lnTo>
                    <a:pt x="5735399" y="76901"/>
                  </a:lnTo>
                  <a:lnTo>
                    <a:pt x="5735399" y="384498"/>
                  </a:lnTo>
                  <a:lnTo>
                    <a:pt x="5729356" y="414432"/>
                  </a:lnTo>
                  <a:lnTo>
                    <a:pt x="5712876" y="438876"/>
                  </a:lnTo>
                  <a:lnTo>
                    <a:pt x="5688432" y="455356"/>
                  </a:lnTo>
                  <a:lnTo>
                    <a:pt x="5658498" y="461399"/>
                  </a:lnTo>
                  <a:close/>
                </a:path>
              </a:pathLst>
            </a:custGeom>
            <a:solidFill>
              <a:srgbClr val="666666"/>
            </a:solidFill>
          </p:spPr>
          <p:txBody>
            <a:bodyPr wrap="square" lIns="0" tIns="0" rIns="0" bIns="0" rtlCol="0"/>
            <a:lstStyle/>
            <a:p>
              <a:endParaRPr sz="1050"/>
            </a:p>
          </p:txBody>
        </p:sp>
        <p:sp>
          <p:nvSpPr>
            <p:cNvPr id="4" name="object 4"/>
            <p:cNvSpPr/>
            <p:nvPr/>
          </p:nvSpPr>
          <p:spPr>
            <a:xfrm>
              <a:off x="2998449" y="6003075"/>
              <a:ext cx="5735955" cy="461645"/>
            </a:xfrm>
            <a:custGeom>
              <a:avLst/>
              <a:gdLst/>
              <a:ahLst/>
              <a:cxnLst/>
              <a:rect l="l" t="t" r="r" b="b"/>
              <a:pathLst>
                <a:path w="5735955" h="461645">
                  <a:moveTo>
                    <a:pt x="0" y="76901"/>
                  </a:moveTo>
                  <a:lnTo>
                    <a:pt x="6043" y="46967"/>
                  </a:lnTo>
                  <a:lnTo>
                    <a:pt x="22523" y="22523"/>
                  </a:lnTo>
                  <a:lnTo>
                    <a:pt x="46967" y="6043"/>
                  </a:lnTo>
                  <a:lnTo>
                    <a:pt x="76901" y="0"/>
                  </a:lnTo>
                  <a:lnTo>
                    <a:pt x="5658498" y="0"/>
                  </a:lnTo>
                  <a:lnTo>
                    <a:pt x="5701163" y="12920"/>
                  </a:lnTo>
                  <a:lnTo>
                    <a:pt x="5729546" y="47472"/>
                  </a:lnTo>
                  <a:lnTo>
                    <a:pt x="5735399" y="76901"/>
                  </a:lnTo>
                  <a:lnTo>
                    <a:pt x="5735399" y="384498"/>
                  </a:lnTo>
                  <a:lnTo>
                    <a:pt x="5729356" y="414432"/>
                  </a:lnTo>
                  <a:lnTo>
                    <a:pt x="5712876" y="438876"/>
                  </a:lnTo>
                  <a:lnTo>
                    <a:pt x="5688432" y="455356"/>
                  </a:lnTo>
                  <a:lnTo>
                    <a:pt x="5658498" y="461399"/>
                  </a:lnTo>
                  <a:lnTo>
                    <a:pt x="76901" y="461399"/>
                  </a:lnTo>
                  <a:lnTo>
                    <a:pt x="46967" y="455356"/>
                  </a:lnTo>
                  <a:lnTo>
                    <a:pt x="22523" y="438876"/>
                  </a:lnTo>
                  <a:lnTo>
                    <a:pt x="6043" y="414432"/>
                  </a:lnTo>
                  <a:lnTo>
                    <a:pt x="0" y="384498"/>
                  </a:lnTo>
                  <a:lnTo>
                    <a:pt x="0" y="76901"/>
                  </a:lnTo>
                  <a:close/>
                </a:path>
              </a:pathLst>
            </a:custGeom>
            <a:ln w="9524">
              <a:solidFill>
                <a:srgbClr val="44546A"/>
              </a:solidFill>
            </a:ln>
          </p:spPr>
          <p:txBody>
            <a:bodyPr wrap="square" lIns="0" tIns="0" rIns="0" bIns="0" rtlCol="0"/>
            <a:lstStyle/>
            <a:p>
              <a:endParaRPr sz="1050"/>
            </a:p>
          </p:txBody>
        </p:sp>
      </p:grpSp>
      <p:grpSp>
        <p:nvGrpSpPr>
          <p:cNvPr id="5" name="object 5"/>
          <p:cNvGrpSpPr/>
          <p:nvPr/>
        </p:nvGrpSpPr>
        <p:grpSpPr>
          <a:xfrm>
            <a:off x="708225" y="1330013"/>
            <a:ext cx="7388543" cy="3192780"/>
            <a:chOff x="944300" y="1773350"/>
            <a:chExt cx="9851390" cy="4257040"/>
          </a:xfrm>
        </p:grpSpPr>
        <p:sp>
          <p:nvSpPr>
            <p:cNvPr id="6" name="object 6"/>
            <p:cNvSpPr/>
            <p:nvPr/>
          </p:nvSpPr>
          <p:spPr>
            <a:xfrm>
              <a:off x="963350" y="1792400"/>
              <a:ext cx="9813290" cy="3688715"/>
            </a:xfrm>
            <a:custGeom>
              <a:avLst/>
              <a:gdLst/>
              <a:ahLst/>
              <a:cxnLst/>
              <a:rect l="l" t="t" r="r" b="b"/>
              <a:pathLst>
                <a:path w="9813290" h="3688715">
                  <a:moveTo>
                    <a:pt x="0" y="0"/>
                  </a:moveTo>
                  <a:lnTo>
                    <a:pt x="9812999" y="0"/>
                  </a:lnTo>
                  <a:lnTo>
                    <a:pt x="9812999" y="3688199"/>
                  </a:lnTo>
                  <a:lnTo>
                    <a:pt x="0" y="3688199"/>
                  </a:lnTo>
                  <a:lnTo>
                    <a:pt x="0" y="0"/>
                  </a:lnTo>
                  <a:close/>
                </a:path>
              </a:pathLst>
            </a:custGeom>
            <a:ln w="38099">
              <a:solidFill>
                <a:srgbClr val="000000"/>
              </a:solidFill>
            </a:ln>
          </p:spPr>
          <p:txBody>
            <a:bodyPr wrap="square" lIns="0" tIns="0" rIns="0" bIns="0" rtlCol="0"/>
            <a:lstStyle/>
            <a:p>
              <a:endParaRPr sz="1050"/>
            </a:p>
          </p:txBody>
        </p:sp>
        <p:sp>
          <p:nvSpPr>
            <p:cNvPr id="7" name="object 7"/>
            <p:cNvSpPr/>
            <p:nvPr/>
          </p:nvSpPr>
          <p:spPr>
            <a:xfrm>
              <a:off x="5221249" y="5440275"/>
              <a:ext cx="446405" cy="585470"/>
            </a:xfrm>
            <a:custGeom>
              <a:avLst/>
              <a:gdLst/>
              <a:ahLst/>
              <a:cxnLst/>
              <a:rect l="l" t="t" r="r" b="b"/>
              <a:pathLst>
                <a:path w="446404" h="585470">
                  <a:moveTo>
                    <a:pt x="223049" y="584999"/>
                  </a:moveTo>
                  <a:lnTo>
                    <a:pt x="0" y="361949"/>
                  </a:lnTo>
                  <a:lnTo>
                    <a:pt x="111524" y="361949"/>
                  </a:lnTo>
                  <a:lnTo>
                    <a:pt x="111524" y="223049"/>
                  </a:lnTo>
                  <a:lnTo>
                    <a:pt x="0" y="223049"/>
                  </a:lnTo>
                  <a:lnTo>
                    <a:pt x="223049" y="0"/>
                  </a:lnTo>
                  <a:lnTo>
                    <a:pt x="446099" y="223049"/>
                  </a:lnTo>
                  <a:lnTo>
                    <a:pt x="334574" y="223049"/>
                  </a:lnTo>
                  <a:lnTo>
                    <a:pt x="334574" y="361949"/>
                  </a:lnTo>
                  <a:lnTo>
                    <a:pt x="446099" y="361949"/>
                  </a:lnTo>
                  <a:lnTo>
                    <a:pt x="223049" y="584999"/>
                  </a:lnTo>
                  <a:close/>
                </a:path>
              </a:pathLst>
            </a:custGeom>
            <a:solidFill>
              <a:srgbClr val="E7E6E6"/>
            </a:solidFill>
          </p:spPr>
          <p:txBody>
            <a:bodyPr wrap="square" lIns="0" tIns="0" rIns="0" bIns="0" rtlCol="0"/>
            <a:lstStyle/>
            <a:p>
              <a:endParaRPr sz="1050"/>
            </a:p>
          </p:txBody>
        </p:sp>
        <p:sp>
          <p:nvSpPr>
            <p:cNvPr id="8" name="object 8"/>
            <p:cNvSpPr/>
            <p:nvPr/>
          </p:nvSpPr>
          <p:spPr>
            <a:xfrm>
              <a:off x="5221249" y="5440275"/>
              <a:ext cx="446405" cy="585470"/>
            </a:xfrm>
            <a:custGeom>
              <a:avLst/>
              <a:gdLst/>
              <a:ahLst/>
              <a:cxnLst/>
              <a:rect l="l" t="t" r="r" b="b"/>
              <a:pathLst>
                <a:path w="446404" h="585470">
                  <a:moveTo>
                    <a:pt x="0" y="223049"/>
                  </a:moveTo>
                  <a:lnTo>
                    <a:pt x="223049" y="0"/>
                  </a:lnTo>
                  <a:lnTo>
                    <a:pt x="446099" y="223049"/>
                  </a:lnTo>
                  <a:lnTo>
                    <a:pt x="334574" y="223049"/>
                  </a:lnTo>
                  <a:lnTo>
                    <a:pt x="334574" y="361949"/>
                  </a:lnTo>
                  <a:lnTo>
                    <a:pt x="446099" y="361949"/>
                  </a:lnTo>
                  <a:lnTo>
                    <a:pt x="223049" y="584999"/>
                  </a:lnTo>
                  <a:lnTo>
                    <a:pt x="0" y="361949"/>
                  </a:lnTo>
                  <a:lnTo>
                    <a:pt x="111524" y="361949"/>
                  </a:lnTo>
                  <a:lnTo>
                    <a:pt x="111524" y="223049"/>
                  </a:lnTo>
                  <a:lnTo>
                    <a:pt x="0" y="223049"/>
                  </a:lnTo>
                  <a:close/>
                </a:path>
              </a:pathLst>
            </a:custGeom>
            <a:ln w="9524">
              <a:solidFill>
                <a:srgbClr val="44546A"/>
              </a:solidFill>
            </a:ln>
          </p:spPr>
          <p:txBody>
            <a:bodyPr wrap="square" lIns="0" tIns="0" rIns="0" bIns="0" rtlCol="0"/>
            <a:lstStyle/>
            <a:p>
              <a:endParaRPr sz="1050"/>
            </a:p>
          </p:txBody>
        </p:sp>
      </p:grpSp>
      <p:sp>
        <p:nvSpPr>
          <p:cNvPr id="9" name="object 9"/>
          <p:cNvSpPr txBox="1"/>
          <p:nvPr/>
        </p:nvSpPr>
        <p:spPr>
          <a:xfrm>
            <a:off x="2316546" y="4506356"/>
            <a:ext cx="4210050" cy="275075"/>
          </a:xfrm>
          <a:prstGeom prst="rect">
            <a:avLst/>
          </a:prstGeom>
        </p:spPr>
        <p:txBody>
          <a:bodyPr vert="horz" wrap="square" lIns="0" tIns="9525" rIns="0" bIns="0" rtlCol="0">
            <a:spAutoFit/>
          </a:bodyPr>
          <a:lstStyle/>
          <a:p>
            <a:pPr marL="9525">
              <a:spcBef>
                <a:spcPts val="75"/>
              </a:spcBef>
            </a:pPr>
            <a:r>
              <a:rPr sz="1725" b="1" spc="-8" dirty="0">
                <a:solidFill>
                  <a:srgbClr val="FFFFFF"/>
                </a:solidFill>
                <a:latin typeface="Cambria"/>
                <a:cs typeface="Cambria"/>
              </a:rPr>
              <a:t>Start-</a:t>
            </a:r>
            <a:r>
              <a:rPr sz="1725" b="1" dirty="0">
                <a:solidFill>
                  <a:srgbClr val="FFFFFF"/>
                </a:solidFill>
                <a:latin typeface="Cambria"/>
                <a:cs typeface="Cambria"/>
              </a:rPr>
              <a:t>up</a:t>
            </a:r>
            <a:r>
              <a:rPr sz="1725" b="1" spc="-38" dirty="0">
                <a:solidFill>
                  <a:srgbClr val="FFFFFF"/>
                </a:solidFill>
                <a:latin typeface="Cambria"/>
                <a:cs typeface="Cambria"/>
              </a:rPr>
              <a:t> </a:t>
            </a:r>
            <a:r>
              <a:rPr sz="1725" b="1" spc="-8" dirty="0">
                <a:solidFill>
                  <a:srgbClr val="FFFFFF"/>
                </a:solidFill>
                <a:latin typeface="Cambria"/>
                <a:cs typeface="Cambria"/>
              </a:rPr>
              <a:t>ecosystem</a:t>
            </a:r>
            <a:r>
              <a:rPr sz="1725" b="1" spc="-34" dirty="0">
                <a:solidFill>
                  <a:srgbClr val="FFFFFF"/>
                </a:solidFill>
                <a:latin typeface="Cambria"/>
                <a:cs typeface="Cambria"/>
              </a:rPr>
              <a:t> </a:t>
            </a:r>
            <a:r>
              <a:rPr sz="1725" b="1" dirty="0">
                <a:solidFill>
                  <a:srgbClr val="FFFFFF"/>
                </a:solidFill>
                <a:latin typeface="Cambria"/>
                <a:cs typeface="Cambria"/>
              </a:rPr>
              <a:t>and</a:t>
            </a:r>
            <a:r>
              <a:rPr sz="1725" b="1" spc="-34" dirty="0">
                <a:solidFill>
                  <a:srgbClr val="FFFFFF"/>
                </a:solidFill>
                <a:latin typeface="Cambria"/>
                <a:cs typeface="Cambria"/>
              </a:rPr>
              <a:t> </a:t>
            </a:r>
            <a:r>
              <a:rPr sz="1725" b="1" dirty="0">
                <a:solidFill>
                  <a:srgbClr val="FFFFFF"/>
                </a:solidFill>
                <a:latin typeface="Cambria"/>
                <a:cs typeface="Cambria"/>
              </a:rPr>
              <a:t>skill</a:t>
            </a:r>
            <a:r>
              <a:rPr sz="1725" b="1" spc="-34" dirty="0">
                <a:solidFill>
                  <a:srgbClr val="FFFFFF"/>
                </a:solidFill>
                <a:latin typeface="Cambria"/>
                <a:cs typeface="Cambria"/>
              </a:rPr>
              <a:t> </a:t>
            </a:r>
            <a:r>
              <a:rPr sz="1725" b="1" spc="-8" dirty="0">
                <a:solidFill>
                  <a:srgbClr val="FFFFFF"/>
                </a:solidFill>
                <a:latin typeface="Cambria"/>
                <a:cs typeface="Cambria"/>
              </a:rPr>
              <a:t>development</a:t>
            </a:r>
            <a:endParaRPr sz="1725" dirty="0">
              <a:latin typeface="Cambria"/>
              <a:cs typeface="Cambria"/>
            </a:endParaRPr>
          </a:p>
        </p:txBody>
      </p:sp>
      <p:grpSp>
        <p:nvGrpSpPr>
          <p:cNvPr id="10" name="object 10"/>
          <p:cNvGrpSpPr/>
          <p:nvPr/>
        </p:nvGrpSpPr>
        <p:grpSpPr>
          <a:xfrm>
            <a:off x="937267" y="1595746"/>
            <a:ext cx="6650831" cy="2384108"/>
            <a:chOff x="1376762" y="2099612"/>
            <a:chExt cx="8867775" cy="3178810"/>
          </a:xfrm>
        </p:grpSpPr>
        <p:sp>
          <p:nvSpPr>
            <p:cNvPr id="11" name="object 11"/>
            <p:cNvSpPr/>
            <p:nvPr/>
          </p:nvSpPr>
          <p:spPr>
            <a:xfrm>
              <a:off x="1381524" y="2104375"/>
              <a:ext cx="1059815" cy="888365"/>
            </a:xfrm>
            <a:custGeom>
              <a:avLst/>
              <a:gdLst/>
              <a:ahLst/>
              <a:cxnLst/>
              <a:rect l="l" t="t" r="r" b="b"/>
              <a:pathLst>
                <a:path w="1059814" h="888364">
                  <a:moveTo>
                    <a:pt x="888940" y="887867"/>
                  </a:moveTo>
                  <a:lnTo>
                    <a:pt x="170431" y="887867"/>
                  </a:lnTo>
                  <a:lnTo>
                    <a:pt x="145246" y="883054"/>
                  </a:lnTo>
                  <a:lnTo>
                    <a:pt x="98581" y="846607"/>
                  </a:lnTo>
                  <a:lnTo>
                    <a:pt x="58615" y="778978"/>
                  </a:lnTo>
                  <a:lnTo>
                    <a:pt x="41803" y="735187"/>
                  </a:lnTo>
                  <a:lnTo>
                    <a:pt x="27457" y="685660"/>
                  </a:lnTo>
                  <a:lnTo>
                    <a:pt x="15840" y="631085"/>
                  </a:lnTo>
                  <a:lnTo>
                    <a:pt x="7215" y="572148"/>
                  </a:lnTo>
                  <a:lnTo>
                    <a:pt x="1847" y="509535"/>
                  </a:lnTo>
                  <a:lnTo>
                    <a:pt x="0" y="443933"/>
                  </a:lnTo>
                  <a:lnTo>
                    <a:pt x="1847" y="378332"/>
                  </a:lnTo>
                  <a:lnTo>
                    <a:pt x="7215" y="315719"/>
                  </a:lnTo>
                  <a:lnTo>
                    <a:pt x="15840" y="256782"/>
                  </a:lnTo>
                  <a:lnTo>
                    <a:pt x="27457" y="202207"/>
                  </a:lnTo>
                  <a:lnTo>
                    <a:pt x="41803" y="152680"/>
                  </a:lnTo>
                  <a:lnTo>
                    <a:pt x="58615" y="108889"/>
                  </a:lnTo>
                  <a:lnTo>
                    <a:pt x="77629" y="71520"/>
                  </a:lnTo>
                  <a:lnTo>
                    <a:pt x="121208" y="18795"/>
                  </a:lnTo>
                  <a:lnTo>
                    <a:pt x="170431" y="0"/>
                  </a:lnTo>
                  <a:lnTo>
                    <a:pt x="888940" y="0"/>
                  </a:lnTo>
                  <a:lnTo>
                    <a:pt x="938163" y="18795"/>
                  </a:lnTo>
                  <a:lnTo>
                    <a:pt x="981742" y="71520"/>
                  </a:lnTo>
                  <a:lnTo>
                    <a:pt x="1000756" y="108889"/>
                  </a:lnTo>
                  <a:lnTo>
                    <a:pt x="1017568" y="152680"/>
                  </a:lnTo>
                  <a:lnTo>
                    <a:pt x="1031914" y="202207"/>
                  </a:lnTo>
                  <a:lnTo>
                    <a:pt x="1043531" y="256782"/>
                  </a:lnTo>
                  <a:lnTo>
                    <a:pt x="1052156" y="315719"/>
                  </a:lnTo>
                  <a:lnTo>
                    <a:pt x="1057524" y="378332"/>
                  </a:lnTo>
                  <a:lnTo>
                    <a:pt x="1059371" y="443933"/>
                  </a:lnTo>
                  <a:lnTo>
                    <a:pt x="1057524" y="509535"/>
                  </a:lnTo>
                  <a:lnTo>
                    <a:pt x="1052156" y="572148"/>
                  </a:lnTo>
                  <a:lnTo>
                    <a:pt x="1043531" y="631085"/>
                  </a:lnTo>
                  <a:lnTo>
                    <a:pt x="1031914" y="685660"/>
                  </a:lnTo>
                  <a:lnTo>
                    <a:pt x="1017568" y="735187"/>
                  </a:lnTo>
                  <a:lnTo>
                    <a:pt x="1000756" y="778978"/>
                  </a:lnTo>
                  <a:lnTo>
                    <a:pt x="981742" y="816347"/>
                  </a:lnTo>
                  <a:lnTo>
                    <a:pt x="938163" y="869072"/>
                  </a:lnTo>
                  <a:lnTo>
                    <a:pt x="888940" y="887867"/>
                  </a:lnTo>
                  <a:close/>
                </a:path>
              </a:pathLst>
            </a:custGeom>
            <a:solidFill>
              <a:srgbClr val="E69137"/>
            </a:solidFill>
          </p:spPr>
          <p:txBody>
            <a:bodyPr wrap="square" lIns="0" tIns="0" rIns="0" bIns="0" rtlCol="0"/>
            <a:lstStyle/>
            <a:p>
              <a:endParaRPr sz="1050"/>
            </a:p>
          </p:txBody>
        </p:sp>
        <p:sp>
          <p:nvSpPr>
            <p:cNvPr id="12" name="object 12"/>
            <p:cNvSpPr/>
            <p:nvPr/>
          </p:nvSpPr>
          <p:spPr>
            <a:xfrm>
              <a:off x="1381524" y="2104375"/>
              <a:ext cx="1059815" cy="888365"/>
            </a:xfrm>
            <a:custGeom>
              <a:avLst/>
              <a:gdLst/>
              <a:ahLst/>
              <a:cxnLst/>
              <a:rect l="l" t="t" r="r" b="b"/>
              <a:pathLst>
                <a:path w="1059814" h="888364">
                  <a:moveTo>
                    <a:pt x="170431" y="0"/>
                  </a:moveTo>
                  <a:lnTo>
                    <a:pt x="888940" y="0"/>
                  </a:lnTo>
                  <a:lnTo>
                    <a:pt x="914125" y="4813"/>
                  </a:lnTo>
                  <a:lnTo>
                    <a:pt x="938163" y="18795"/>
                  </a:lnTo>
                  <a:lnTo>
                    <a:pt x="981742" y="71520"/>
                  </a:lnTo>
                  <a:lnTo>
                    <a:pt x="1000756" y="108889"/>
                  </a:lnTo>
                  <a:lnTo>
                    <a:pt x="1017568" y="152680"/>
                  </a:lnTo>
                  <a:lnTo>
                    <a:pt x="1031914" y="202207"/>
                  </a:lnTo>
                  <a:lnTo>
                    <a:pt x="1043531" y="256782"/>
                  </a:lnTo>
                  <a:lnTo>
                    <a:pt x="1052156" y="315719"/>
                  </a:lnTo>
                  <a:lnTo>
                    <a:pt x="1057524" y="378332"/>
                  </a:lnTo>
                  <a:lnTo>
                    <a:pt x="1059371" y="443933"/>
                  </a:lnTo>
                  <a:lnTo>
                    <a:pt x="1057524" y="509535"/>
                  </a:lnTo>
                  <a:lnTo>
                    <a:pt x="1052156" y="572148"/>
                  </a:lnTo>
                  <a:lnTo>
                    <a:pt x="1043531" y="631085"/>
                  </a:lnTo>
                  <a:lnTo>
                    <a:pt x="1031914" y="685660"/>
                  </a:lnTo>
                  <a:lnTo>
                    <a:pt x="1017568" y="735187"/>
                  </a:lnTo>
                  <a:lnTo>
                    <a:pt x="1000756" y="778978"/>
                  </a:lnTo>
                  <a:lnTo>
                    <a:pt x="981742" y="816347"/>
                  </a:lnTo>
                  <a:lnTo>
                    <a:pt x="938163" y="869072"/>
                  </a:lnTo>
                  <a:lnTo>
                    <a:pt x="888940" y="887867"/>
                  </a:lnTo>
                  <a:lnTo>
                    <a:pt x="170431" y="887867"/>
                  </a:lnTo>
                  <a:lnTo>
                    <a:pt x="121208" y="869072"/>
                  </a:lnTo>
                  <a:lnTo>
                    <a:pt x="77629" y="816347"/>
                  </a:lnTo>
                  <a:lnTo>
                    <a:pt x="58615" y="778978"/>
                  </a:lnTo>
                  <a:lnTo>
                    <a:pt x="41803" y="735187"/>
                  </a:lnTo>
                  <a:lnTo>
                    <a:pt x="27457" y="685660"/>
                  </a:lnTo>
                  <a:lnTo>
                    <a:pt x="15840" y="631085"/>
                  </a:lnTo>
                  <a:lnTo>
                    <a:pt x="7215" y="572148"/>
                  </a:lnTo>
                  <a:lnTo>
                    <a:pt x="1847" y="509535"/>
                  </a:lnTo>
                  <a:lnTo>
                    <a:pt x="0" y="443933"/>
                  </a:lnTo>
                  <a:lnTo>
                    <a:pt x="1847" y="378332"/>
                  </a:lnTo>
                  <a:lnTo>
                    <a:pt x="7215" y="315719"/>
                  </a:lnTo>
                  <a:lnTo>
                    <a:pt x="15840" y="256782"/>
                  </a:lnTo>
                  <a:lnTo>
                    <a:pt x="27457" y="202207"/>
                  </a:lnTo>
                  <a:lnTo>
                    <a:pt x="41803" y="152680"/>
                  </a:lnTo>
                  <a:lnTo>
                    <a:pt x="58615" y="108889"/>
                  </a:lnTo>
                  <a:lnTo>
                    <a:pt x="77629" y="71520"/>
                  </a:lnTo>
                  <a:lnTo>
                    <a:pt x="121208" y="18795"/>
                  </a:lnTo>
                  <a:lnTo>
                    <a:pt x="145246" y="4813"/>
                  </a:lnTo>
                  <a:lnTo>
                    <a:pt x="170431" y="0"/>
                  </a:lnTo>
                  <a:close/>
                </a:path>
              </a:pathLst>
            </a:custGeom>
            <a:ln w="9524">
              <a:solidFill>
                <a:srgbClr val="FFFFFF"/>
              </a:solidFill>
            </a:ln>
          </p:spPr>
          <p:txBody>
            <a:bodyPr wrap="square" lIns="0" tIns="0" rIns="0" bIns="0" rtlCol="0"/>
            <a:lstStyle/>
            <a:p>
              <a:endParaRPr sz="1050"/>
            </a:p>
          </p:txBody>
        </p:sp>
        <p:sp>
          <p:nvSpPr>
            <p:cNvPr id="13" name="object 13"/>
            <p:cNvSpPr/>
            <p:nvPr/>
          </p:nvSpPr>
          <p:spPr>
            <a:xfrm>
              <a:off x="2362824" y="2176350"/>
              <a:ext cx="7876540" cy="781050"/>
            </a:xfrm>
            <a:custGeom>
              <a:avLst/>
              <a:gdLst/>
              <a:ahLst/>
              <a:cxnLst/>
              <a:rect l="l" t="t" r="r" b="b"/>
              <a:pathLst>
                <a:path w="7876540" h="781050">
                  <a:moveTo>
                    <a:pt x="7876499" y="780599"/>
                  </a:moveTo>
                  <a:lnTo>
                    <a:pt x="0" y="780599"/>
                  </a:lnTo>
                  <a:lnTo>
                    <a:pt x="0" y="0"/>
                  </a:lnTo>
                  <a:lnTo>
                    <a:pt x="7876499" y="0"/>
                  </a:lnTo>
                  <a:lnTo>
                    <a:pt x="7876499" y="780599"/>
                  </a:lnTo>
                  <a:close/>
                </a:path>
              </a:pathLst>
            </a:custGeom>
            <a:solidFill>
              <a:srgbClr val="B45F06"/>
            </a:solidFill>
          </p:spPr>
          <p:txBody>
            <a:bodyPr wrap="square" lIns="0" tIns="0" rIns="0" bIns="0" rtlCol="0"/>
            <a:lstStyle/>
            <a:p>
              <a:endParaRPr sz="1050"/>
            </a:p>
          </p:txBody>
        </p:sp>
        <p:sp>
          <p:nvSpPr>
            <p:cNvPr id="14" name="object 14"/>
            <p:cNvSpPr/>
            <p:nvPr/>
          </p:nvSpPr>
          <p:spPr>
            <a:xfrm>
              <a:off x="2362824" y="2176350"/>
              <a:ext cx="7876540" cy="781050"/>
            </a:xfrm>
            <a:custGeom>
              <a:avLst/>
              <a:gdLst/>
              <a:ahLst/>
              <a:cxnLst/>
              <a:rect l="l" t="t" r="r" b="b"/>
              <a:pathLst>
                <a:path w="7876540" h="781050">
                  <a:moveTo>
                    <a:pt x="0" y="0"/>
                  </a:moveTo>
                  <a:lnTo>
                    <a:pt x="7876499" y="0"/>
                  </a:lnTo>
                  <a:lnTo>
                    <a:pt x="7876499" y="780599"/>
                  </a:lnTo>
                  <a:lnTo>
                    <a:pt x="0" y="780599"/>
                  </a:lnTo>
                  <a:lnTo>
                    <a:pt x="0" y="0"/>
                  </a:lnTo>
                  <a:close/>
                </a:path>
              </a:pathLst>
            </a:custGeom>
            <a:ln w="9524">
              <a:solidFill>
                <a:srgbClr val="FFFFFF"/>
              </a:solidFill>
            </a:ln>
          </p:spPr>
          <p:txBody>
            <a:bodyPr wrap="square" lIns="0" tIns="0" rIns="0" bIns="0" rtlCol="0"/>
            <a:lstStyle/>
            <a:p>
              <a:endParaRPr sz="1050"/>
            </a:p>
          </p:txBody>
        </p:sp>
        <p:sp>
          <p:nvSpPr>
            <p:cNvPr id="15" name="object 15"/>
            <p:cNvSpPr/>
            <p:nvPr/>
          </p:nvSpPr>
          <p:spPr>
            <a:xfrm>
              <a:off x="1381524" y="3247375"/>
              <a:ext cx="1059815" cy="888365"/>
            </a:xfrm>
            <a:custGeom>
              <a:avLst/>
              <a:gdLst/>
              <a:ahLst/>
              <a:cxnLst/>
              <a:rect l="l" t="t" r="r" b="b"/>
              <a:pathLst>
                <a:path w="1059814" h="888364">
                  <a:moveTo>
                    <a:pt x="888940" y="887867"/>
                  </a:moveTo>
                  <a:lnTo>
                    <a:pt x="170431" y="887867"/>
                  </a:lnTo>
                  <a:lnTo>
                    <a:pt x="145246" y="883054"/>
                  </a:lnTo>
                  <a:lnTo>
                    <a:pt x="98581" y="846607"/>
                  </a:lnTo>
                  <a:lnTo>
                    <a:pt x="58615" y="778978"/>
                  </a:lnTo>
                  <a:lnTo>
                    <a:pt x="41803" y="735187"/>
                  </a:lnTo>
                  <a:lnTo>
                    <a:pt x="27457" y="685660"/>
                  </a:lnTo>
                  <a:lnTo>
                    <a:pt x="15840" y="631085"/>
                  </a:lnTo>
                  <a:lnTo>
                    <a:pt x="7215" y="572148"/>
                  </a:lnTo>
                  <a:lnTo>
                    <a:pt x="1847" y="509535"/>
                  </a:lnTo>
                  <a:lnTo>
                    <a:pt x="0" y="443933"/>
                  </a:lnTo>
                  <a:lnTo>
                    <a:pt x="1847" y="378332"/>
                  </a:lnTo>
                  <a:lnTo>
                    <a:pt x="7215" y="315719"/>
                  </a:lnTo>
                  <a:lnTo>
                    <a:pt x="15840" y="256782"/>
                  </a:lnTo>
                  <a:lnTo>
                    <a:pt x="27457" y="202207"/>
                  </a:lnTo>
                  <a:lnTo>
                    <a:pt x="41803" y="152680"/>
                  </a:lnTo>
                  <a:lnTo>
                    <a:pt x="58615" y="108889"/>
                  </a:lnTo>
                  <a:lnTo>
                    <a:pt x="77629" y="71520"/>
                  </a:lnTo>
                  <a:lnTo>
                    <a:pt x="121208" y="18795"/>
                  </a:lnTo>
                  <a:lnTo>
                    <a:pt x="170431" y="0"/>
                  </a:lnTo>
                  <a:lnTo>
                    <a:pt x="888940" y="0"/>
                  </a:lnTo>
                  <a:lnTo>
                    <a:pt x="938163" y="18795"/>
                  </a:lnTo>
                  <a:lnTo>
                    <a:pt x="981742" y="71520"/>
                  </a:lnTo>
                  <a:lnTo>
                    <a:pt x="1000756" y="108889"/>
                  </a:lnTo>
                  <a:lnTo>
                    <a:pt x="1017568" y="152680"/>
                  </a:lnTo>
                  <a:lnTo>
                    <a:pt x="1031914" y="202207"/>
                  </a:lnTo>
                  <a:lnTo>
                    <a:pt x="1043531" y="256782"/>
                  </a:lnTo>
                  <a:lnTo>
                    <a:pt x="1052156" y="315719"/>
                  </a:lnTo>
                  <a:lnTo>
                    <a:pt x="1057524" y="378332"/>
                  </a:lnTo>
                  <a:lnTo>
                    <a:pt x="1059371" y="443933"/>
                  </a:lnTo>
                  <a:lnTo>
                    <a:pt x="1057524" y="509535"/>
                  </a:lnTo>
                  <a:lnTo>
                    <a:pt x="1052156" y="572148"/>
                  </a:lnTo>
                  <a:lnTo>
                    <a:pt x="1043531" y="631085"/>
                  </a:lnTo>
                  <a:lnTo>
                    <a:pt x="1031914" y="685660"/>
                  </a:lnTo>
                  <a:lnTo>
                    <a:pt x="1017568" y="735187"/>
                  </a:lnTo>
                  <a:lnTo>
                    <a:pt x="1000756" y="778978"/>
                  </a:lnTo>
                  <a:lnTo>
                    <a:pt x="981742" y="816347"/>
                  </a:lnTo>
                  <a:lnTo>
                    <a:pt x="938163" y="869072"/>
                  </a:lnTo>
                  <a:lnTo>
                    <a:pt x="888940" y="887867"/>
                  </a:lnTo>
                  <a:close/>
                </a:path>
              </a:pathLst>
            </a:custGeom>
            <a:solidFill>
              <a:srgbClr val="E69137"/>
            </a:solidFill>
          </p:spPr>
          <p:txBody>
            <a:bodyPr wrap="square" lIns="0" tIns="0" rIns="0" bIns="0" rtlCol="0"/>
            <a:lstStyle/>
            <a:p>
              <a:endParaRPr sz="1050"/>
            </a:p>
          </p:txBody>
        </p:sp>
        <p:sp>
          <p:nvSpPr>
            <p:cNvPr id="16" name="object 16"/>
            <p:cNvSpPr/>
            <p:nvPr/>
          </p:nvSpPr>
          <p:spPr>
            <a:xfrm>
              <a:off x="1381524" y="3247375"/>
              <a:ext cx="1059815" cy="888365"/>
            </a:xfrm>
            <a:custGeom>
              <a:avLst/>
              <a:gdLst/>
              <a:ahLst/>
              <a:cxnLst/>
              <a:rect l="l" t="t" r="r" b="b"/>
              <a:pathLst>
                <a:path w="1059814" h="888364">
                  <a:moveTo>
                    <a:pt x="170431" y="0"/>
                  </a:moveTo>
                  <a:lnTo>
                    <a:pt x="888940" y="0"/>
                  </a:lnTo>
                  <a:lnTo>
                    <a:pt x="914125" y="4813"/>
                  </a:lnTo>
                  <a:lnTo>
                    <a:pt x="938163" y="18795"/>
                  </a:lnTo>
                  <a:lnTo>
                    <a:pt x="981742" y="71520"/>
                  </a:lnTo>
                  <a:lnTo>
                    <a:pt x="1000756" y="108889"/>
                  </a:lnTo>
                  <a:lnTo>
                    <a:pt x="1017568" y="152680"/>
                  </a:lnTo>
                  <a:lnTo>
                    <a:pt x="1031914" y="202207"/>
                  </a:lnTo>
                  <a:lnTo>
                    <a:pt x="1043531" y="256782"/>
                  </a:lnTo>
                  <a:lnTo>
                    <a:pt x="1052156" y="315719"/>
                  </a:lnTo>
                  <a:lnTo>
                    <a:pt x="1057524" y="378332"/>
                  </a:lnTo>
                  <a:lnTo>
                    <a:pt x="1059371" y="443933"/>
                  </a:lnTo>
                  <a:lnTo>
                    <a:pt x="1057524" y="509535"/>
                  </a:lnTo>
                  <a:lnTo>
                    <a:pt x="1052156" y="572148"/>
                  </a:lnTo>
                  <a:lnTo>
                    <a:pt x="1043531" y="631085"/>
                  </a:lnTo>
                  <a:lnTo>
                    <a:pt x="1031914" y="685660"/>
                  </a:lnTo>
                  <a:lnTo>
                    <a:pt x="1017568" y="735187"/>
                  </a:lnTo>
                  <a:lnTo>
                    <a:pt x="1000756" y="778978"/>
                  </a:lnTo>
                  <a:lnTo>
                    <a:pt x="981742" y="816347"/>
                  </a:lnTo>
                  <a:lnTo>
                    <a:pt x="938163" y="869072"/>
                  </a:lnTo>
                  <a:lnTo>
                    <a:pt x="888940" y="887867"/>
                  </a:lnTo>
                  <a:lnTo>
                    <a:pt x="170431" y="887867"/>
                  </a:lnTo>
                  <a:lnTo>
                    <a:pt x="121208" y="869072"/>
                  </a:lnTo>
                  <a:lnTo>
                    <a:pt x="77629" y="816347"/>
                  </a:lnTo>
                  <a:lnTo>
                    <a:pt x="58615" y="778978"/>
                  </a:lnTo>
                  <a:lnTo>
                    <a:pt x="41803" y="735187"/>
                  </a:lnTo>
                  <a:lnTo>
                    <a:pt x="27457" y="685660"/>
                  </a:lnTo>
                  <a:lnTo>
                    <a:pt x="15840" y="631085"/>
                  </a:lnTo>
                  <a:lnTo>
                    <a:pt x="7215" y="572148"/>
                  </a:lnTo>
                  <a:lnTo>
                    <a:pt x="1847" y="509535"/>
                  </a:lnTo>
                  <a:lnTo>
                    <a:pt x="0" y="443933"/>
                  </a:lnTo>
                  <a:lnTo>
                    <a:pt x="1847" y="378332"/>
                  </a:lnTo>
                  <a:lnTo>
                    <a:pt x="7215" y="315719"/>
                  </a:lnTo>
                  <a:lnTo>
                    <a:pt x="15840" y="256782"/>
                  </a:lnTo>
                  <a:lnTo>
                    <a:pt x="27457" y="202207"/>
                  </a:lnTo>
                  <a:lnTo>
                    <a:pt x="41803" y="152680"/>
                  </a:lnTo>
                  <a:lnTo>
                    <a:pt x="58615" y="108889"/>
                  </a:lnTo>
                  <a:lnTo>
                    <a:pt x="77629" y="71520"/>
                  </a:lnTo>
                  <a:lnTo>
                    <a:pt x="121208" y="18795"/>
                  </a:lnTo>
                  <a:lnTo>
                    <a:pt x="145246" y="4813"/>
                  </a:lnTo>
                  <a:lnTo>
                    <a:pt x="170431" y="0"/>
                  </a:lnTo>
                  <a:close/>
                </a:path>
              </a:pathLst>
            </a:custGeom>
            <a:ln w="9524">
              <a:solidFill>
                <a:srgbClr val="FFFFFF"/>
              </a:solidFill>
            </a:ln>
          </p:spPr>
          <p:txBody>
            <a:bodyPr wrap="square" lIns="0" tIns="0" rIns="0" bIns="0" rtlCol="0"/>
            <a:lstStyle/>
            <a:p>
              <a:endParaRPr sz="1050"/>
            </a:p>
          </p:txBody>
        </p:sp>
        <p:sp>
          <p:nvSpPr>
            <p:cNvPr id="17" name="object 17"/>
            <p:cNvSpPr/>
            <p:nvPr/>
          </p:nvSpPr>
          <p:spPr>
            <a:xfrm>
              <a:off x="2362824" y="3319350"/>
              <a:ext cx="7876540" cy="781050"/>
            </a:xfrm>
            <a:custGeom>
              <a:avLst/>
              <a:gdLst/>
              <a:ahLst/>
              <a:cxnLst/>
              <a:rect l="l" t="t" r="r" b="b"/>
              <a:pathLst>
                <a:path w="7876540" h="781050">
                  <a:moveTo>
                    <a:pt x="7876499" y="780599"/>
                  </a:moveTo>
                  <a:lnTo>
                    <a:pt x="0" y="780599"/>
                  </a:lnTo>
                  <a:lnTo>
                    <a:pt x="0" y="0"/>
                  </a:lnTo>
                  <a:lnTo>
                    <a:pt x="7876499" y="0"/>
                  </a:lnTo>
                  <a:lnTo>
                    <a:pt x="7876499" y="780599"/>
                  </a:lnTo>
                  <a:close/>
                </a:path>
              </a:pathLst>
            </a:custGeom>
            <a:solidFill>
              <a:srgbClr val="B45F06"/>
            </a:solidFill>
          </p:spPr>
          <p:txBody>
            <a:bodyPr wrap="square" lIns="0" tIns="0" rIns="0" bIns="0" rtlCol="0"/>
            <a:lstStyle/>
            <a:p>
              <a:endParaRPr sz="1050"/>
            </a:p>
          </p:txBody>
        </p:sp>
        <p:sp>
          <p:nvSpPr>
            <p:cNvPr id="18" name="object 18"/>
            <p:cNvSpPr/>
            <p:nvPr/>
          </p:nvSpPr>
          <p:spPr>
            <a:xfrm>
              <a:off x="2362824" y="3319350"/>
              <a:ext cx="7876540" cy="781050"/>
            </a:xfrm>
            <a:custGeom>
              <a:avLst/>
              <a:gdLst/>
              <a:ahLst/>
              <a:cxnLst/>
              <a:rect l="l" t="t" r="r" b="b"/>
              <a:pathLst>
                <a:path w="7876540" h="781050">
                  <a:moveTo>
                    <a:pt x="0" y="0"/>
                  </a:moveTo>
                  <a:lnTo>
                    <a:pt x="7876499" y="0"/>
                  </a:lnTo>
                  <a:lnTo>
                    <a:pt x="7876499" y="780599"/>
                  </a:lnTo>
                  <a:lnTo>
                    <a:pt x="0" y="780599"/>
                  </a:lnTo>
                  <a:lnTo>
                    <a:pt x="0" y="0"/>
                  </a:lnTo>
                  <a:close/>
                </a:path>
              </a:pathLst>
            </a:custGeom>
            <a:ln w="9524">
              <a:solidFill>
                <a:srgbClr val="FFFFFF"/>
              </a:solidFill>
            </a:ln>
          </p:spPr>
          <p:txBody>
            <a:bodyPr wrap="square" lIns="0" tIns="0" rIns="0" bIns="0" rtlCol="0"/>
            <a:lstStyle/>
            <a:p>
              <a:endParaRPr sz="1050"/>
            </a:p>
          </p:txBody>
        </p:sp>
        <p:sp>
          <p:nvSpPr>
            <p:cNvPr id="19" name="object 19"/>
            <p:cNvSpPr/>
            <p:nvPr/>
          </p:nvSpPr>
          <p:spPr>
            <a:xfrm>
              <a:off x="1381524" y="4390375"/>
              <a:ext cx="1059815" cy="888365"/>
            </a:xfrm>
            <a:custGeom>
              <a:avLst/>
              <a:gdLst/>
              <a:ahLst/>
              <a:cxnLst/>
              <a:rect l="l" t="t" r="r" b="b"/>
              <a:pathLst>
                <a:path w="1059814" h="888364">
                  <a:moveTo>
                    <a:pt x="888940" y="887867"/>
                  </a:moveTo>
                  <a:lnTo>
                    <a:pt x="170431" y="887867"/>
                  </a:lnTo>
                  <a:lnTo>
                    <a:pt x="145246" y="883054"/>
                  </a:lnTo>
                  <a:lnTo>
                    <a:pt x="98581" y="846607"/>
                  </a:lnTo>
                  <a:lnTo>
                    <a:pt x="58615" y="778978"/>
                  </a:lnTo>
                  <a:lnTo>
                    <a:pt x="41803" y="735187"/>
                  </a:lnTo>
                  <a:lnTo>
                    <a:pt x="27457" y="685660"/>
                  </a:lnTo>
                  <a:lnTo>
                    <a:pt x="15840" y="631085"/>
                  </a:lnTo>
                  <a:lnTo>
                    <a:pt x="7215" y="572148"/>
                  </a:lnTo>
                  <a:lnTo>
                    <a:pt x="1847" y="509535"/>
                  </a:lnTo>
                  <a:lnTo>
                    <a:pt x="0" y="443933"/>
                  </a:lnTo>
                  <a:lnTo>
                    <a:pt x="1847" y="378332"/>
                  </a:lnTo>
                  <a:lnTo>
                    <a:pt x="7215" y="315719"/>
                  </a:lnTo>
                  <a:lnTo>
                    <a:pt x="15840" y="256782"/>
                  </a:lnTo>
                  <a:lnTo>
                    <a:pt x="27457" y="202207"/>
                  </a:lnTo>
                  <a:lnTo>
                    <a:pt x="41803" y="152680"/>
                  </a:lnTo>
                  <a:lnTo>
                    <a:pt x="58615" y="108889"/>
                  </a:lnTo>
                  <a:lnTo>
                    <a:pt x="77629" y="71520"/>
                  </a:lnTo>
                  <a:lnTo>
                    <a:pt x="121208" y="18795"/>
                  </a:lnTo>
                  <a:lnTo>
                    <a:pt x="170431" y="0"/>
                  </a:lnTo>
                  <a:lnTo>
                    <a:pt x="888940" y="0"/>
                  </a:lnTo>
                  <a:lnTo>
                    <a:pt x="938163" y="18795"/>
                  </a:lnTo>
                  <a:lnTo>
                    <a:pt x="981742" y="71520"/>
                  </a:lnTo>
                  <a:lnTo>
                    <a:pt x="1000756" y="108889"/>
                  </a:lnTo>
                  <a:lnTo>
                    <a:pt x="1017568" y="152680"/>
                  </a:lnTo>
                  <a:lnTo>
                    <a:pt x="1031914" y="202207"/>
                  </a:lnTo>
                  <a:lnTo>
                    <a:pt x="1043531" y="256782"/>
                  </a:lnTo>
                  <a:lnTo>
                    <a:pt x="1052156" y="315719"/>
                  </a:lnTo>
                  <a:lnTo>
                    <a:pt x="1057524" y="378332"/>
                  </a:lnTo>
                  <a:lnTo>
                    <a:pt x="1059371" y="443933"/>
                  </a:lnTo>
                  <a:lnTo>
                    <a:pt x="1057524" y="509535"/>
                  </a:lnTo>
                  <a:lnTo>
                    <a:pt x="1052156" y="572148"/>
                  </a:lnTo>
                  <a:lnTo>
                    <a:pt x="1043531" y="631085"/>
                  </a:lnTo>
                  <a:lnTo>
                    <a:pt x="1031914" y="685660"/>
                  </a:lnTo>
                  <a:lnTo>
                    <a:pt x="1017568" y="735187"/>
                  </a:lnTo>
                  <a:lnTo>
                    <a:pt x="1000756" y="778978"/>
                  </a:lnTo>
                  <a:lnTo>
                    <a:pt x="981742" y="816347"/>
                  </a:lnTo>
                  <a:lnTo>
                    <a:pt x="938163" y="869072"/>
                  </a:lnTo>
                  <a:lnTo>
                    <a:pt x="888940" y="887867"/>
                  </a:lnTo>
                  <a:close/>
                </a:path>
              </a:pathLst>
            </a:custGeom>
            <a:solidFill>
              <a:srgbClr val="E69137"/>
            </a:solidFill>
          </p:spPr>
          <p:txBody>
            <a:bodyPr wrap="square" lIns="0" tIns="0" rIns="0" bIns="0" rtlCol="0"/>
            <a:lstStyle/>
            <a:p>
              <a:endParaRPr sz="1050"/>
            </a:p>
          </p:txBody>
        </p:sp>
        <p:sp>
          <p:nvSpPr>
            <p:cNvPr id="20" name="object 20"/>
            <p:cNvSpPr/>
            <p:nvPr/>
          </p:nvSpPr>
          <p:spPr>
            <a:xfrm>
              <a:off x="2362824" y="4462350"/>
              <a:ext cx="7876540" cy="781050"/>
            </a:xfrm>
            <a:custGeom>
              <a:avLst/>
              <a:gdLst/>
              <a:ahLst/>
              <a:cxnLst/>
              <a:rect l="l" t="t" r="r" b="b"/>
              <a:pathLst>
                <a:path w="7876540" h="781050">
                  <a:moveTo>
                    <a:pt x="7876499" y="780599"/>
                  </a:moveTo>
                  <a:lnTo>
                    <a:pt x="0" y="780599"/>
                  </a:lnTo>
                  <a:lnTo>
                    <a:pt x="0" y="0"/>
                  </a:lnTo>
                  <a:lnTo>
                    <a:pt x="7876499" y="0"/>
                  </a:lnTo>
                  <a:lnTo>
                    <a:pt x="7876499" y="780599"/>
                  </a:lnTo>
                  <a:close/>
                </a:path>
              </a:pathLst>
            </a:custGeom>
            <a:solidFill>
              <a:srgbClr val="B45F06"/>
            </a:solidFill>
          </p:spPr>
          <p:txBody>
            <a:bodyPr wrap="square" lIns="0" tIns="0" rIns="0" bIns="0" rtlCol="0"/>
            <a:lstStyle/>
            <a:p>
              <a:endParaRPr sz="1050"/>
            </a:p>
          </p:txBody>
        </p:sp>
        <p:sp>
          <p:nvSpPr>
            <p:cNvPr id="21" name="object 21"/>
            <p:cNvSpPr/>
            <p:nvPr/>
          </p:nvSpPr>
          <p:spPr>
            <a:xfrm>
              <a:off x="2362824" y="4462350"/>
              <a:ext cx="7876540" cy="781050"/>
            </a:xfrm>
            <a:custGeom>
              <a:avLst/>
              <a:gdLst/>
              <a:ahLst/>
              <a:cxnLst/>
              <a:rect l="l" t="t" r="r" b="b"/>
              <a:pathLst>
                <a:path w="7876540" h="781050">
                  <a:moveTo>
                    <a:pt x="0" y="0"/>
                  </a:moveTo>
                  <a:lnTo>
                    <a:pt x="7876499" y="0"/>
                  </a:lnTo>
                  <a:lnTo>
                    <a:pt x="7876499" y="780599"/>
                  </a:lnTo>
                  <a:lnTo>
                    <a:pt x="0" y="780599"/>
                  </a:lnTo>
                  <a:lnTo>
                    <a:pt x="0" y="0"/>
                  </a:lnTo>
                  <a:close/>
                </a:path>
              </a:pathLst>
            </a:custGeom>
            <a:ln w="9524">
              <a:solidFill>
                <a:srgbClr val="FFFFFF"/>
              </a:solidFill>
            </a:ln>
          </p:spPr>
          <p:txBody>
            <a:bodyPr wrap="square" lIns="0" tIns="0" rIns="0" bIns="0" rtlCol="0"/>
            <a:lstStyle/>
            <a:p>
              <a:endParaRPr sz="1050"/>
            </a:p>
          </p:txBody>
        </p:sp>
      </p:grpSp>
      <p:sp>
        <p:nvSpPr>
          <p:cNvPr id="22" name="object 22"/>
          <p:cNvSpPr txBox="1"/>
          <p:nvPr/>
        </p:nvSpPr>
        <p:spPr>
          <a:xfrm>
            <a:off x="987335" y="730780"/>
            <a:ext cx="6772751" cy="528189"/>
          </a:xfrm>
          <a:prstGeom prst="rect">
            <a:avLst/>
          </a:prstGeom>
        </p:spPr>
        <p:txBody>
          <a:bodyPr vert="horz" wrap="square" lIns="0" tIns="40481" rIns="0" bIns="0" rtlCol="0">
            <a:spAutoFit/>
          </a:bodyPr>
          <a:lstStyle/>
          <a:p>
            <a:pPr marL="971074" marR="3810" indent="-962025">
              <a:lnSpc>
                <a:spcPts val="1943"/>
              </a:lnSpc>
              <a:spcBef>
                <a:spcPts val="319"/>
              </a:spcBef>
            </a:pPr>
            <a:r>
              <a:rPr sz="1800" b="1" spc="-15" dirty="0">
                <a:solidFill>
                  <a:srgbClr val="063763"/>
                </a:solidFill>
                <a:latin typeface="Cambria"/>
                <a:cs typeface="Cambria"/>
              </a:rPr>
              <a:t>Development</a:t>
            </a:r>
            <a:r>
              <a:rPr sz="1800" b="1" spc="-38" dirty="0">
                <a:solidFill>
                  <a:srgbClr val="063763"/>
                </a:solidFill>
                <a:latin typeface="Cambria"/>
                <a:cs typeface="Cambria"/>
              </a:rPr>
              <a:t> </a:t>
            </a:r>
            <a:r>
              <a:rPr sz="1800" b="1" dirty="0">
                <a:solidFill>
                  <a:srgbClr val="063763"/>
                </a:solidFill>
                <a:latin typeface="Cambria"/>
                <a:cs typeface="Cambria"/>
              </a:rPr>
              <a:t>of</a:t>
            </a:r>
            <a:r>
              <a:rPr sz="1800" b="1" spc="-38" dirty="0">
                <a:solidFill>
                  <a:srgbClr val="063763"/>
                </a:solidFill>
                <a:latin typeface="Cambria"/>
                <a:cs typeface="Cambria"/>
              </a:rPr>
              <a:t> </a:t>
            </a:r>
            <a:r>
              <a:rPr sz="1800" b="1" dirty="0">
                <a:solidFill>
                  <a:srgbClr val="063763"/>
                </a:solidFill>
                <a:latin typeface="Cambria"/>
                <a:cs typeface="Cambria"/>
              </a:rPr>
              <a:t>Digital</a:t>
            </a:r>
            <a:r>
              <a:rPr sz="1800" b="1" spc="-38" dirty="0">
                <a:solidFill>
                  <a:srgbClr val="063763"/>
                </a:solidFill>
                <a:latin typeface="Cambria"/>
                <a:cs typeface="Cambria"/>
              </a:rPr>
              <a:t> </a:t>
            </a:r>
            <a:r>
              <a:rPr sz="1800" b="1" spc="-8" dirty="0">
                <a:solidFill>
                  <a:srgbClr val="063763"/>
                </a:solidFill>
                <a:latin typeface="Cambria"/>
                <a:cs typeface="Cambria"/>
              </a:rPr>
              <a:t>networking</a:t>
            </a:r>
            <a:r>
              <a:rPr sz="1800" b="1" spc="-34" dirty="0">
                <a:solidFill>
                  <a:srgbClr val="063763"/>
                </a:solidFill>
                <a:latin typeface="Cambria"/>
                <a:cs typeface="Cambria"/>
              </a:rPr>
              <a:t> </a:t>
            </a:r>
            <a:r>
              <a:rPr sz="1800" b="1" dirty="0">
                <a:solidFill>
                  <a:srgbClr val="063763"/>
                </a:solidFill>
                <a:latin typeface="Cambria"/>
                <a:cs typeface="Cambria"/>
              </a:rPr>
              <a:t>for</a:t>
            </a:r>
            <a:r>
              <a:rPr sz="1800" b="1" spc="-38" dirty="0">
                <a:solidFill>
                  <a:srgbClr val="063763"/>
                </a:solidFill>
                <a:latin typeface="Cambria"/>
                <a:cs typeface="Cambria"/>
              </a:rPr>
              <a:t> </a:t>
            </a:r>
            <a:r>
              <a:rPr sz="1800" b="1" spc="-26" dirty="0">
                <a:solidFill>
                  <a:srgbClr val="063763"/>
                </a:solidFill>
                <a:latin typeface="Cambria"/>
                <a:cs typeface="Cambria"/>
              </a:rPr>
              <a:t>preventive</a:t>
            </a:r>
            <a:r>
              <a:rPr sz="1800" b="1" spc="-38" dirty="0">
                <a:solidFill>
                  <a:srgbClr val="063763"/>
                </a:solidFill>
                <a:latin typeface="Cambria"/>
                <a:cs typeface="Cambria"/>
              </a:rPr>
              <a:t> </a:t>
            </a:r>
            <a:r>
              <a:rPr sz="1800" b="1" dirty="0">
                <a:solidFill>
                  <a:srgbClr val="063763"/>
                </a:solidFill>
                <a:latin typeface="Cambria"/>
                <a:cs typeface="Cambria"/>
              </a:rPr>
              <a:t>and</a:t>
            </a:r>
            <a:r>
              <a:rPr sz="1800" b="1" spc="-34" dirty="0">
                <a:solidFill>
                  <a:srgbClr val="063763"/>
                </a:solidFill>
                <a:latin typeface="Cambria"/>
                <a:cs typeface="Cambria"/>
              </a:rPr>
              <a:t> </a:t>
            </a:r>
            <a:r>
              <a:rPr sz="1800" b="1" spc="-8" dirty="0">
                <a:solidFill>
                  <a:srgbClr val="063763"/>
                </a:solidFill>
                <a:latin typeface="Cambria"/>
                <a:cs typeface="Cambria"/>
              </a:rPr>
              <a:t>predictive </a:t>
            </a:r>
            <a:r>
              <a:rPr sz="1800" b="1" spc="-19" dirty="0">
                <a:solidFill>
                  <a:srgbClr val="063763"/>
                </a:solidFill>
                <a:latin typeface="Cambria"/>
                <a:cs typeface="Cambria"/>
              </a:rPr>
              <a:t>environmental</a:t>
            </a:r>
            <a:r>
              <a:rPr sz="1800" b="1" spc="-45" dirty="0">
                <a:solidFill>
                  <a:srgbClr val="063763"/>
                </a:solidFill>
                <a:latin typeface="Cambria"/>
                <a:cs typeface="Cambria"/>
              </a:rPr>
              <a:t> </a:t>
            </a:r>
            <a:r>
              <a:rPr sz="1800" b="1" dirty="0">
                <a:solidFill>
                  <a:srgbClr val="063763"/>
                </a:solidFill>
                <a:latin typeface="Cambria"/>
                <a:cs typeface="Cambria"/>
              </a:rPr>
              <a:t>and</a:t>
            </a:r>
            <a:r>
              <a:rPr sz="1800" b="1" spc="-41" dirty="0">
                <a:solidFill>
                  <a:srgbClr val="063763"/>
                </a:solidFill>
                <a:latin typeface="Cambria"/>
                <a:cs typeface="Cambria"/>
              </a:rPr>
              <a:t> </a:t>
            </a:r>
            <a:r>
              <a:rPr sz="1800" b="1" dirty="0">
                <a:solidFill>
                  <a:srgbClr val="063763"/>
                </a:solidFill>
                <a:latin typeface="Cambria"/>
                <a:cs typeface="Cambria"/>
              </a:rPr>
              <a:t>climatic</a:t>
            </a:r>
            <a:r>
              <a:rPr sz="1800" b="1" spc="-45" dirty="0">
                <a:solidFill>
                  <a:srgbClr val="063763"/>
                </a:solidFill>
                <a:latin typeface="Cambria"/>
                <a:cs typeface="Cambria"/>
              </a:rPr>
              <a:t> </a:t>
            </a:r>
            <a:r>
              <a:rPr sz="1800" b="1" dirty="0">
                <a:solidFill>
                  <a:srgbClr val="063763"/>
                </a:solidFill>
                <a:latin typeface="Cambria"/>
                <a:cs typeface="Cambria"/>
              </a:rPr>
              <a:t>warning</a:t>
            </a:r>
            <a:r>
              <a:rPr sz="1800" b="1" spc="-41" dirty="0">
                <a:solidFill>
                  <a:srgbClr val="063763"/>
                </a:solidFill>
                <a:latin typeface="Cambria"/>
                <a:cs typeface="Cambria"/>
              </a:rPr>
              <a:t> </a:t>
            </a:r>
            <a:r>
              <a:rPr sz="1800" b="1" spc="-8" dirty="0">
                <a:solidFill>
                  <a:srgbClr val="063763"/>
                </a:solidFill>
                <a:latin typeface="Cambria"/>
                <a:cs typeface="Cambria"/>
              </a:rPr>
              <a:t>solutions</a:t>
            </a:r>
            <a:endParaRPr sz="1800" dirty="0">
              <a:latin typeface="Cambria"/>
              <a:cs typeface="Cambria"/>
            </a:endParaRPr>
          </a:p>
        </p:txBody>
      </p:sp>
      <p:sp>
        <p:nvSpPr>
          <p:cNvPr id="23" name="object 23"/>
          <p:cNvSpPr txBox="1"/>
          <p:nvPr/>
        </p:nvSpPr>
        <p:spPr>
          <a:xfrm>
            <a:off x="1772118" y="1632262"/>
            <a:ext cx="5907405" cy="552235"/>
          </a:xfrm>
          <a:prstGeom prst="rect">
            <a:avLst/>
          </a:prstGeom>
        </p:spPr>
        <p:txBody>
          <a:bodyPr vert="horz" wrap="square" lIns="0" tIns="64294" rIns="0" bIns="0" rtlCol="0">
            <a:spAutoFit/>
          </a:bodyPr>
          <a:lstStyle/>
          <a:p>
            <a:pPr marL="185261" marR="138113">
              <a:lnSpc>
                <a:spcPts val="1943"/>
              </a:lnSpc>
              <a:spcBef>
                <a:spcPts val="506"/>
              </a:spcBef>
            </a:pPr>
            <a:r>
              <a:rPr sz="1800" dirty="0">
                <a:solidFill>
                  <a:srgbClr val="FFFFFF"/>
                </a:solidFill>
                <a:latin typeface="Cambria"/>
                <a:cs typeface="Cambria"/>
              </a:rPr>
              <a:t>Intelligent</a:t>
            </a:r>
            <a:r>
              <a:rPr sz="1800" spc="169" dirty="0">
                <a:solidFill>
                  <a:srgbClr val="FFFFFF"/>
                </a:solidFill>
                <a:latin typeface="Cambria"/>
                <a:cs typeface="Cambria"/>
              </a:rPr>
              <a:t> </a:t>
            </a:r>
            <a:r>
              <a:rPr sz="1800" dirty="0">
                <a:solidFill>
                  <a:srgbClr val="FFFFFF"/>
                </a:solidFill>
                <a:latin typeface="Cambria"/>
                <a:cs typeface="Cambria"/>
              </a:rPr>
              <a:t>sensor</a:t>
            </a:r>
            <a:r>
              <a:rPr sz="1800" spc="169" dirty="0">
                <a:solidFill>
                  <a:srgbClr val="FFFFFF"/>
                </a:solidFill>
                <a:latin typeface="Cambria"/>
                <a:cs typeface="Cambria"/>
              </a:rPr>
              <a:t> </a:t>
            </a:r>
            <a:r>
              <a:rPr sz="1800" dirty="0">
                <a:solidFill>
                  <a:srgbClr val="FFFFFF"/>
                </a:solidFill>
                <a:latin typeface="Cambria"/>
                <a:cs typeface="Cambria"/>
              </a:rPr>
              <a:t>module</a:t>
            </a:r>
            <a:r>
              <a:rPr sz="1800" spc="172" dirty="0">
                <a:solidFill>
                  <a:srgbClr val="FFFFFF"/>
                </a:solidFill>
                <a:latin typeface="Cambria"/>
                <a:cs typeface="Cambria"/>
              </a:rPr>
              <a:t> </a:t>
            </a:r>
            <a:r>
              <a:rPr sz="1800" dirty="0">
                <a:solidFill>
                  <a:srgbClr val="FFFFFF"/>
                </a:solidFill>
                <a:latin typeface="Cambria"/>
                <a:cs typeface="Cambria"/>
              </a:rPr>
              <a:t>for</a:t>
            </a:r>
            <a:r>
              <a:rPr sz="1800" spc="169" dirty="0">
                <a:solidFill>
                  <a:srgbClr val="FFFFFF"/>
                </a:solidFill>
                <a:latin typeface="Cambria"/>
                <a:cs typeface="Cambria"/>
              </a:rPr>
              <a:t> </a:t>
            </a:r>
            <a:r>
              <a:rPr sz="1800" dirty="0">
                <a:solidFill>
                  <a:srgbClr val="FFFFFF"/>
                </a:solidFill>
                <a:latin typeface="Cambria"/>
                <a:cs typeface="Cambria"/>
              </a:rPr>
              <a:t>monitoring</a:t>
            </a:r>
            <a:r>
              <a:rPr sz="1800" spc="172" dirty="0">
                <a:solidFill>
                  <a:srgbClr val="FFFFFF"/>
                </a:solidFill>
                <a:latin typeface="Cambria"/>
                <a:cs typeface="Cambria"/>
              </a:rPr>
              <a:t> </a:t>
            </a:r>
            <a:r>
              <a:rPr sz="1800" dirty="0">
                <a:solidFill>
                  <a:srgbClr val="FFFFFF"/>
                </a:solidFill>
                <a:latin typeface="Cambria"/>
                <a:cs typeface="Cambria"/>
              </a:rPr>
              <a:t>and</a:t>
            </a:r>
            <a:r>
              <a:rPr sz="1800" spc="169" dirty="0">
                <a:solidFill>
                  <a:srgbClr val="FFFFFF"/>
                </a:solidFill>
                <a:latin typeface="Cambria"/>
                <a:cs typeface="Cambria"/>
              </a:rPr>
              <a:t> </a:t>
            </a:r>
            <a:r>
              <a:rPr sz="1800" spc="-8" dirty="0">
                <a:solidFill>
                  <a:srgbClr val="FFFFFF"/>
                </a:solidFill>
                <a:latin typeface="Cambria"/>
                <a:cs typeface="Cambria"/>
              </a:rPr>
              <a:t>managing </a:t>
            </a:r>
            <a:r>
              <a:rPr sz="1800" spc="-15" dirty="0">
                <a:solidFill>
                  <a:srgbClr val="FFFFFF"/>
                </a:solidFill>
                <a:latin typeface="Cambria"/>
                <a:cs typeface="Cambria"/>
              </a:rPr>
              <a:t>environmental</a:t>
            </a:r>
            <a:r>
              <a:rPr sz="1800" spc="-4" dirty="0">
                <a:solidFill>
                  <a:srgbClr val="FFFFFF"/>
                </a:solidFill>
                <a:latin typeface="Cambria"/>
                <a:cs typeface="Cambria"/>
              </a:rPr>
              <a:t> </a:t>
            </a:r>
            <a:r>
              <a:rPr sz="1800" spc="-8" dirty="0">
                <a:solidFill>
                  <a:srgbClr val="FFFFFF"/>
                </a:solidFill>
                <a:latin typeface="Cambria"/>
                <a:cs typeface="Cambria"/>
              </a:rPr>
              <a:t>pollution</a:t>
            </a:r>
            <a:endParaRPr sz="1800" dirty="0">
              <a:latin typeface="Cambria"/>
              <a:cs typeface="Cambria"/>
            </a:endParaRPr>
          </a:p>
        </p:txBody>
      </p:sp>
      <p:sp>
        <p:nvSpPr>
          <p:cNvPr id="24" name="object 24"/>
          <p:cNvSpPr txBox="1"/>
          <p:nvPr/>
        </p:nvSpPr>
        <p:spPr>
          <a:xfrm>
            <a:off x="1772118" y="2489512"/>
            <a:ext cx="5907405" cy="515206"/>
          </a:xfrm>
          <a:prstGeom prst="rect">
            <a:avLst/>
          </a:prstGeom>
        </p:spPr>
        <p:txBody>
          <a:bodyPr vert="horz" wrap="square" lIns="0" tIns="27623" rIns="0" bIns="0" rtlCol="0">
            <a:spAutoFit/>
          </a:bodyPr>
          <a:lstStyle/>
          <a:p>
            <a:pPr marL="124778" marR="140018">
              <a:lnSpc>
                <a:spcPts val="1943"/>
              </a:lnSpc>
              <a:spcBef>
                <a:spcPts val="217"/>
              </a:spcBef>
              <a:tabLst>
                <a:tab pos="681989" algn="l"/>
              </a:tabLst>
            </a:pPr>
            <a:r>
              <a:rPr sz="1800" dirty="0">
                <a:solidFill>
                  <a:srgbClr val="FFFFFF"/>
                </a:solidFill>
                <a:latin typeface="Cambria"/>
                <a:cs typeface="Cambria"/>
              </a:rPr>
              <a:t>Smart</a:t>
            </a:r>
            <a:r>
              <a:rPr sz="1800" spc="38" dirty="0">
                <a:solidFill>
                  <a:srgbClr val="FFFFFF"/>
                </a:solidFill>
                <a:latin typeface="Cambria"/>
                <a:cs typeface="Cambria"/>
              </a:rPr>
              <a:t> </a:t>
            </a:r>
            <a:r>
              <a:rPr sz="1800" dirty="0">
                <a:solidFill>
                  <a:srgbClr val="FFFFFF"/>
                </a:solidFill>
                <a:latin typeface="Cambria"/>
                <a:cs typeface="Cambria"/>
              </a:rPr>
              <a:t>water</a:t>
            </a:r>
            <a:r>
              <a:rPr sz="1800" spc="41" dirty="0">
                <a:solidFill>
                  <a:srgbClr val="FFFFFF"/>
                </a:solidFill>
                <a:latin typeface="Cambria"/>
                <a:cs typeface="Cambria"/>
              </a:rPr>
              <a:t> </a:t>
            </a:r>
            <a:r>
              <a:rPr sz="1800" dirty="0">
                <a:solidFill>
                  <a:srgbClr val="FFFFFF"/>
                </a:solidFill>
                <a:latin typeface="Cambria"/>
                <a:cs typeface="Cambria"/>
              </a:rPr>
              <a:t>level</a:t>
            </a:r>
            <a:r>
              <a:rPr sz="1800" spc="41" dirty="0">
                <a:solidFill>
                  <a:srgbClr val="FFFFFF"/>
                </a:solidFill>
                <a:latin typeface="Cambria"/>
                <a:cs typeface="Cambria"/>
              </a:rPr>
              <a:t> </a:t>
            </a:r>
            <a:r>
              <a:rPr sz="1800" dirty="0">
                <a:solidFill>
                  <a:srgbClr val="FFFFFF"/>
                </a:solidFill>
                <a:latin typeface="Cambria"/>
                <a:cs typeface="Cambria"/>
              </a:rPr>
              <a:t>monitoring</a:t>
            </a:r>
            <a:r>
              <a:rPr sz="1800" spc="38" dirty="0">
                <a:solidFill>
                  <a:srgbClr val="FFFFFF"/>
                </a:solidFill>
                <a:latin typeface="Cambria"/>
                <a:cs typeface="Cambria"/>
              </a:rPr>
              <a:t> </a:t>
            </a:r>
            <a:r>
              <a:rPr sz="1800" dirty="0">
                <a:solidFill>
                  <a:srgbClr val="FFFFFF"/>
                </a:solidFill>
                <a:latin typeface="Cambria"/>
                <a:cs typeface="Cambria"/>
              </a:rPr>
              <a:t>solution</a:t>
            </a:r>
            <a:r>
              <a:rPr sz="1800" spc="41" dirty="0">
                <a:solidFill>
                  <a:srgbClr val="FFFFFF"/>
                </a:solidFill>
                <a:latin typeface="Cambria"/>
                <a:cs typeface="Cambria"/>
              </a:rPr>
              <a:t> </a:t>
            </a:r>
            <a:r>
              <a:rPr sz="1800" dirty="0">
                <a:solidFill>
                  <a:srgbClr val="FFFFFF"/>
                </a:solidFill>
                <a:latin typeface="Cambria"/>
                <a:cs typeface="Cambria"/>
              </a:rPr>
              <a:t>with</a:t>
            </a:r>
            <a:r>
              <a:rPr sz="1800" spc="41" dirty="0">
                <a:solidFill>
                  <a:srgbClr val="FFFFFF"/>
                </a:solidFill>
                <a:latin typeface="Cambria"/>
                <a:cs typeface="Cambria"/>
              </a:rPr>
              <a:t> </a:t>
            </a:r>
            <a:r>
              <a:rPr sz="1800" dirty="0">
                <a:solidFill>
                  <a:srgbClr val="FFFFFF"/>
                </a:solidFill>
                <a:latin typeface="Cambria"/>
                <a:cs typeface="Cambria"/>
              </a:rPr>
              <a:t>an</a:t>
            </a:r>
            <a:r>
              <a:rPr sz="1800" spc="41" dirty="0">
                <a:solidFill>
                  <a:srgbClr val="FFFFFF"/>
                </a:solidFill>
                <a:latin typeface="Cambria"/>
                <a:cs typeface="Cambria"/>
              </a:rPr>
              <a:t> </a:t>
            </a:r>
            <a:r>
              <a:rPr sz="1800" spc="-8" dirty="0">
                <a:solidFill>
                  <a:srgbClr val="FFFFFF"/>
                </a:solidFill>
                <a:latin typeface="Cambria"/>
                <a:cs typeface="Cambria"/>
              </a:rPr>
              <a:t>associated alert</a:t>
            </a:r>
            <a:r>
              <a:rPr sz="1800" dirty="0">
                <a:solidFill>
                  <a:srgbClr val="FFFFFF"/>
                </a:solidFill>
                <a:latin typeface="Cambria"/>
                <a:cs typeface="Cambria"/>
              </a:rPr>
              <a:t>	for</a:t>
            </a:r>
            <a:r>
              <a:rPr sz="1800" spc="-34" dirty="0">
                <a:solidFill>
                  <a:srgbClr val="FFFFFF"/>
                </a:solidFill>
                <a:latin typeface="Cambria"/>
                <a:cs typeface="Cambria"/>
              </a:rPr>
              <a:t> </a:t>
            </a:r>
            <a:r>
              <a:rPr sz="1800" spc="-8" dirty="0">
                <a:solidFill>
                  <a:srgbClr val="FFFFFF"/>
                </a:solidFill>
                <a:latin typeface="Cambria"/>
                <a:cs typeface="Cambria"/>
              </a:rPr>
              <a:t>floods.</a:t>
            </a:r>
            <a:endParaRPr sz="1800" dirty="0">
              <a:latin typeface="Cambria"/>
              <a:cs typeface="Cambria"/>
            </a:endParaRPr>
          </a:p>
        </p:txBody>
      </p:sp>
      <p:sp>
        <p:nvSpPr>
          <p:cNvPr id="25" name="object 25"/>
          <p:cNvSpPr txBox="1"/>
          <p:nvPr/>
        </p:nvSpPr>
        <p:spPr>
          <a:xfrm>
            <a:off x="1772118" y="3346763"/>
            <a:ext cx="5907405" cy="554158"/>
          </a:xfrm>
          <a:prstGeom prst="rect">
            <a:avLst/>
          </a:prstGeom>
        </p:spPr>
        <p:txBody>
          <a:bodyPr vert="horz" wrap="square" lIns="0" tIns="66199" rIns="0" bIns="0" rtlCol="0">
            <a:spAutoFit/>
          </a:bodyPr>
          <a:lstStyle/>
          <a:p>
            <a:pPr marL="185261" marR="391001">
              <a:lnSpc>
                <a:spcPts val="1943"/>
              </a:lnSpc>
              <a:spcBef>
                <a:spcPts val="521"/>
              </a:spcBef>
            </a:pPr>
            <a:r>
              <a:rPr sz="1800" dirty="0">
                <a:solidFill>
                  <a:srgbClr val="FFFFFF"/>
                </a:solidFill>
                <a:latin typeface="Cambria"/>
                <a:cs typeface="Cambria"/>
              </a:rPr>
              <a:t>Digital</a:t>
            </a:r>
            <a:r>
              <a:rPr sz="1800" spc="-53" dirty="0">
                <a:solidFill>
                  <a:srgbClr val="FFFFFF"/>
                </a:solidFill>
                <a:latin typeface="Cambria"/>
                <a:cs typeface="Cambria"/>
              </a:rPr>
              <a:t> </a:t>
            </a:r>
            <a:r>
              <a:rPr sz="1800" spc="-8" dirty="0">
                <a:solidFill>
                  <a:srgbClr val="FFFFFF"/>
                </a:solidFill>
                <a:latin typeface="Cambria"/>
                <a:cs typeface="Cambria"/>
              </a:rPr>
              <a:t>system</a:t>
            </a:r>
            <a:r>
              <a:rPr sz="1800" spc="-49" dirty="0">
                <a:solidFill>
                  <a:srgbClr val="FFFFFF"/>
                </a:solidFill>
                <a:latin typeface="Cambria"/>
                <a:cs typeface="Cambria"/>
              </a:rPr>
              <a:t> </a:t>
            </a:r>
            <a:r>
              <a:rPr sz="1800" dirty="0">
                <a:solidFill>
                  <a:srgbClr val="FFFFFF"/>
                </a:solidFill>
                <a:latin typeface="Cambria"/>
                <a:cs typeface="Cambria"/>
              </a:rPr>
              <a:t>that</a:t>
            </a:r>
            <a:r>
              <a:rPr sz="1800" spc="-49" dirty="0">
                <a:solidFill>
                  <a:srgbClr val="FFFFFF"/>
                </a:solidFill>
                <a:latin typeface="Cambria"/>
                <a:cs typeface="Cambria"/>
              </a:rPr>
              <a:t> </a:t>
            </a:r>
            <a:r>
              <a:rPr sz="1800" spc="-19" dirty="0">
                <a:solidFill>
                  <a:srgbClr val="FFFFFF"/>
                </a:solidFill>
                <a:latin typeface="Cambria"/>
                <a:cs typeface="Cambria"/>
              </a:rPr>
              <a:t>effectively</a:t>
            </a:r>
            <a:r>
              <a:rPr sz="1800" spc="-49" dirty="0">
                <a:solidFill>
                  <a:srgbClr val="FFFFFF"/>
                </a:solidFill>
                <a:latin typeface="Cambria"/>
                <a:cs typeface="Cambria"/>
              </a:rPr>
              <a:t> </a:t>
            </a:r>
            <a:r>
              <a:rPr sz="1800" dirty="0">
                <a:solidFill>
                  <a:srgbClr val="FFFFFF"/>
                </a:solidFill>
                <a:latin typeface="Cambria"/>
                <a:cs typeface="Cambria"/>
              </a:rPr>
              <a:t>monitors</a:t>
            </a:r>
            <a:r>
              <a:rPr sz="1800" spc="-53" dirty="0">
                <a:solidFill>
                  <a:srgbClr val="FFFFFF"/>
                </a:solidFill>
                <a:latin typeface="Cambria"/>
                <a:cs typeface="Cambria"/>
              </a:rPr>
              <a:t> </a:t>
            </a:r>
            <a:r>
              <a:rPr sz="1800" dirty="0">
                <a:solidFill>
                  <a:srgbClr val="FFFFFF"/>
                </a:solidFill>
                <a:latin typeface="Cambria"/>
                <a:cs typeface="Cambria"/>
              </a:rPr>
              <a:t>and</a:t>
            </a:r>
            <a:r>
              <a:rPr sz="1800" spc="-49" dirty="0">
                <a:solidFill>
                  <a:srgbClr val="FFFFFF"/>
                </a:solidFill>
                <a:latin typeface="Cambria"/>
                <a:cs typeface="Cambria"/>
              </a:rPr>
              <a:t> </a:t>
            </a:r>
            <a:r>
              <a:rPr sz="1800" spc="-8" dirty="0">
                <a:solidFill>
                  <a:srgbClr val="FFFFFF"/>
                </a:solidFill>
                <a:latin typeface="Cambria"/>
                <a:cs typeface="Cambria"/>
              </a:rPr>
              <a:t>distributes </a:t>
            </a:r>
            <a:r>
              <a:rPr sz="1800" dirty="0">
                <a:solidFill>
                  <a:srgbClr val="FFFFFF"/>
                </a:solidFill>
                <a:latin typeface="Cambria"/>
                <a:cs typeface="Cambria"/>
              </a:rPr>
              <a:t>drinking</a:t>
            </a:r>
            <a:r>
              <a:rPr sz="1800" spc="-45" dirty="0">
                <a:solidFill>
                  <a:srgbClr val="FFFFFF"/>
                </a:solidFill>
                <a:latin typeface="Cambria"/>
                <a:cs typeface="Cambria"/>
              </a:rPr>
              <a:t> </a:t>
            </a:r>
            <a:r>
              <a:rPr sz="1800" dirty="0">
                <a:solidFill>
                  <a:srgbClr val="FFFFFF"/>
                </a:solidFill>
                <a:latin typeface="Cambria"/>
                <a:cs typeface="Cambria"/>
              </a:rPr>
              <a:t>water</a:t>
            </a:r>
            <a:r>
              <a:rPr sz="1800" spc="-45" dirty="0">
                <a:solidFill>
                  <a:srgbClr val="FFFFFF"/>
                </a:solidFill>
                <a:latin typeface="Cambria"/>
                <a:cs typeface="Cambria"/>
              </a:rPr>
              <a:t> </a:t>
            </a:r>
            <a:r>
              <a:rPr sz="1800" dirty="0">
                <a:solidFill>
                  <a:srgbClr val="FFFFFF"/>
                </a:solidFill>
                <a:latin typeface="Cambria"/>
                <a:cs typeface="Cambria"/>
              </a:rPr>
              <a:t>in</a:t>
            </a:r>
            <a:r>
              <a:rPr sz="1800" spc="-45" dirty="0">
                <a:solidFill>
                  <a:srgbClr val="FFFFFF"/>
                </a:solidFill>
                <a:latin typeface="Cambria"/>
                <a:cs typeface="Cambria"/>
              </a:rPr>
              <a:t> </a:t>
            </a:r>
            <a:r>
              <a:rPr sz="1800" dirty="0">
                <a:solidFill>
                  <a:srgbClr val="FFFFFF"/>
                </a:solidFill>
                <a:latin typeface="Cambria"/>
                <a:cs typeface="Cambria"/>
              </a:rPr>
              <a:t>the</a:t>
            </a:r>
            <a:r>
              <a:rPr sz="1800" spc="-45" dirty="0">
                <a:solidFill>
                  <a:srgbClr val="FFFFFF"/>
                </a:solidFill>
                <a:latin typeface="Cambria"/>
                <a:cs typeface="Cambria"/>
              </a:rPr>
              <a:t> </a:t>
            </a:r>
            <a:r>
              <a:rPr sz="1800" dirty="0">
                <a:solidFill>
                  <a:srgbClr val="FFFFFF"/>
                </a:solidFill>
                <a:latin typeface="Cambria"/>
                <a:cs typeface="Cambria"/>
              </a:rPr>
              <a:t>local</a:t>
            </a:r>
            <a:r>
              <a:rPr sz="1800" spc="-41" dirty="0">
                <a:solidFill>
                  <a:srgbClr val="FFFFFF"/>
                </a:solidFill>
                <a:latin typeface="Cambria"/>
                <a:cs typeface="Cambria"/>
              </a:rPr>
              <a:t> </a:t>
            </a:r>
            <a:r>
              <a:rPr sz="1800" spc="-15" dirty="0">
                <a:solidFill>
                  <a:srgbClr val="FFFFFF"/>
                </a:solidFill>
                <a:latin typeface="Cambria"/>
                <a:cs typeface="Cambria"/>
              </a:rPr>
              <a:t>area</a:t>
            </a:r>
            <a:endParaRPr sz="1800" dirty="0">
              <a:latin typeface="Cambria"/>
              <a:cs typeface="Cambria"/>
            </a:endParaRPr>
          </a:p>
        </p:txBody>
      </p:sp>
      <p:grpSp>
        <p:nvGrpSpPr>
          <p:cNvPr id="26" name="object 26"/>
          <p:cNvGrpSpPr/>
          <p:nvPr/>
        </p:nvGrpSpPr>
        <p:grpSpPr>
          <a:xfrm>
            <a:off x="332953" y="1106953"/>
            <a:ext cx="644366" cy="3456146"/>
            <a:chOff x="443937" y="1475937"/>
            <a:chExt cx="859155" cy="4608195"/>
          </a:xfrm>
        </p:grpSpPr>
        <p:sp>
          <p:nvSpPr>
            <p:cNvPr id="27" name="object 27"/>
            <p:cNvSpPr/>
            <p:nvPr/>
          </p:nvSpPr>
          <p:spPr>
            <a:xfrm>
              <a:off x="448699" y="1480700"/>
              <a:ext cx="849630" cy="4598670"/>
            </a:xfrm>
            <a:custGeom>
              <a:avLst/>
              <a:gdLst/>
              <a:ahLst/>
              <a:cxnLst/>
              <a:rect l="l" t="t" r="r" b="b"/>
              <a:pathLst>
                <a:path w="849630" h="4598670">
                  <a:moveTo>
                    <a:pt x="849599" y="4598399"/>
                  </a:moveTo>
                  <a:lnTo>
                    <a:pt x="0" y="4598399"/>
                  </a:lnTo>
                  <a:lnTo>
                    <a:pt x="0" y="0"/>
                  </a:lnTo>
                  <a:lnTo>
                    <a:pt x="849599" y="0"/>
                  </a:lnTo>
                  <a:lnTo>
                    <a:pt x="849599" y="4598399"/>
                  </a:lnTo>
                  <a:close/>
                </a:path>
              </a:pathLst>
            </a:custGeom>
            <a:solidFill>
              <a:srgbClr val="666666"/>
            </a:solidFill>
          </p:spPr>
          <p:txBody>
            <a:bodyPr wrap="square" lIns="0" tIns="0" rIns="0" bIns="0" rtlCol="0"/>
            <a:lstStyle/>
            <a:p>
              <a:endParaRPr sz="1050"/>
            </a:p>
          </p:txBody>
        </p:sp>
        <p:sp>
          <p:nvSpPr>
            <p:cNvPr id="28" name="object 28"/>
            <p:cNvSpPr/>
            <p:nvPr/>
          </p:nvSpPr>
          <p:spPr>
            <a:xfrm>
              <a:off x="448699" y="1480700"/>
              <a:ext cx="849630" cy="4598670"/>
            </a:xfrm>
            <a:custGeom>
              <a:avLst/>
              <a:gdLst/>
              <a:ahLst/>
              <a:cxnLst/>
              <a:rect l="l" t="t" r="r" b="b"/>
              <a:pathLst>
                <a:path w="849630" h="4598670">
                  <a:moveTo>
                    <a:pt x="0" y="0"/>
                  </a:moveTo>
                  <a:lnTo>
                    <a:pt x="849599" y="0"/>
                  </a:lnTo>
                  <a:lnTo>
                    <a:pt x="849599" y="4598399"/>
                  </a:lnTo>
                  <a:lnTo>
                    <a:pt x="0" y="4598399"/>
                  </a:lnTo>
                  <a:lnTo>
                    <a:pt x="0" y="0"/>
                  </a:lnTo>
                  <a:close/>
                </a:path>
              </a:pathLst>
            </a:custGeom>
            <a:ln w="9524">
              <a:solidFill>
                <a:srgbClr val="44546A"/>
              </a:solidFill>
            </a:ln>
          </p:spPr>
          <p:txBody>
            <a:bodyPr wrap="square" lIns="0" tIns="0" rIns="0" bIns="0" rtlCol="0"/>
            <a:lstStyle/>
            <a:p>
              <a:endParaRPr sz="1050"/>
            </a:p>
          </p:txBody>
        </p:sp>
      </p:grpSp>
      <p:sp>
        <p:nvSpPr>
          <p:cNvPr id="29" name="object 29"/>
          <p:cNvSpPr txBox="1"/>
          <p:nvPr/>
        </p:nvSpPr>
        <p:spPr>
          <a:xfrm>
            <a:off x="418187" y="1329877"/>
            <a:ext cx="487313" cy="2881313"/>
          </a:xfrm>
          <a:prstGeom prst="rect">
            <a:avLst/>
          </a:prstGeom>
        </p:spPr>
        <p:txBody>
          <a:bodyPr vert="vert270" wrap="square" lIns="0" tIns="0" rIns="0" bIns="0" rtlCol="0">
            <a:spAutoFit/>
          </a:bodyPr>
          <a:lstStyle/>
          <a:p>
            <a:pPr algn="ctr">
              <a:lnSpc>
                <a:spcPts val="1729"/>
              </a:lnSpc>
            </a:pPr>
            <a:r>
              <a:rPr sz="1800" dirty="0">
                <a:solidFill>
                  <a:srgbClr val="FFFFFF"/>
                </a:solidFill>
                <a:latin typeface="Cambria"/>
                <a:cs typeface="Cambria"/>
              </a:rPr>
              <a:t>Explainable</a:t>
            </a:r>
            <a:r>
              <a:rPr sz="1800" spc="-45" dirty="0">
                <a:solidFill>
                  <a:srgbClr val="FFFFFF"/>
                </a:solidFill>
                <a:latin typeface="Cambria"/>
                <a:cs typeface="Cambria"/>
              </a:rPr>
              <a:t> </a:t>
            </a:r>
            <a:r>
              <a:rPr sz="1800" dirty="0">
                <a:solidFill>
                  <a:srgbClr val="FFFFFF"/>
                </a:solidFill>
                <a:latin typeface="Cambria"/>
                <a:cs typeface="Cambria"/>
              </a:rPr>
              <a:t>AI</a:t>
            </a:r>
            <a:r>
              <a:rPr sz="1800" spc="-45" dirty="0">
                <a:solidFill>
                  <a:srgbClr val="FFFFFF"/>
                </a:solidFill>
                <a:latin typeface="Cambria"/>
                <a:cs typeface="Cambria"/>
              </a:rPr>
              <a:t> </a:t>
            </a:r>
            <a:r>
              <a:rPr sz="1800" dirty="0">
                <a:solidFill>
                  <a:srgbClr val="FFFFFF"/>
                </a:solidFill>
                <a:latin typeface="Cambria"/>
                <a:cs typeface="Cambria"/>
              </a:rPr>
              <a:t>based</a:t>
            </a:r>
            <a:r>
              <a:rPr sz="1800" spc="-41" dirty="0">
                <a:solidFill>
                  <a:srgbClr val="FFFFFF"/>
                </a:solidFill>
                <a:latin typeface="Cambria"/>
                <a:cs typeface="Cambria"/>
              </a:rPr>
              <a:t> </a:t>
            </a:r>
            <a:r>
              <a:rPr sz="1800" spc="-8" dirty="0">
                <a:solidFill>
                  <a:srgbClr val="FFFFFF"/>
                </a:solidFill>
                <a:latin typeface="Cambria"/>
                <a:cs typeface="Cambria"/>
              </a:rPr>
              <a:t>analysis</a:t>
            </a:r>
            <a:endParaRPr sz="1800" dirty="0">
              <a:latin typeface="Cambria"/>
              <a:cs typeface="Cambria"/>
            </a:endParaRPr>
          </a:p>
          <a:p>
            <a:pPr marL="3334" algn="ctr">
              <a:lnSpc>
                <a:spcPts val="2051"/>
              </a:lnSpc>
            </a:pPr>
            <a:r>
              <a:rPr sz="1800" spc="-8" dirty="0">
                <a:solidFill>
                  <a:srgbClr val="FFFFFF"/>
                </a:solidFill>
                <a:latin typeface="Cambria"/>
                <a:cs typeface="Cambria"/>
              </a:rPr>
              <a:t>software</a:t>
            </a:r>
            <a:endParaRPr sz="1800" dirty="0">
              <a:latin typeface="Cambria"/>
              <a:cs typeface="Cambria"/>
            </a:endParaRPr>
          </a:p>
        </p:txBody>
      </p:sp>
      <p:sp>
        <p:nvSpPr>
          <p:cNvPr id="34" name="object 34"/>
          <p:cNvSpPr txBox="1"/>
          <p:nvPr/>
        </p:nvSpPr>
        <p:spPr>
          <a:xfrm>
            <a:off x="8848018" y="4823204"/>
            <a:ext cx="124778" cy="230832"/>
          </a:xfrm>
          <a:prstGeom prst="rect">
            <a:avLst/>
          </a:prstGeom>
        </p:spPr>
        <p:txBody>
          <a:bodyPr vert="horz" wrap="square" lIns="0" tIns="0" rIns="0" bIns="0" rtlCol="0">
            <a:spAutoFit/>
          </a:bodyPr>
          <a:lstStyle/>
          <a:p>
            <a:pPr marL="28575">
              <a:lnSpc>
                <a:spcPts val="930"/>
              </a:lnSpc>
            </a:pPr>
            <a:fld id="{81D60167-4931-47E6-BA6A-407CBD079E47}" type="slidenum">
              <a:rPr sz="900" spc="-38" dirty="0">
                <a:solidFill>
                  <a:srgbClr val="888888"/>
                </a:solidFill>
                <a:latin typeface="Calibri"/>
                <a:cs typeface="Calibri"/>
              </a:rPr>
              <a:pPr marL="28575">
                <a:lnSpc>
                  <a:spcPts val="930"/>
                </a:lnSpc>
              </a:pPr>
              <a:t>3</a:t>
            </a:fld>
            <a:endParaRPr sz="900">
              <a:latin typeface="Calibri"/>
              <a:cs typeface="Calibri"/>
            </a:endParaRPr>
          </a:p>
        </p:txBody>
      </p:sp>
      <p:sp>
        <p:nvSpPr>
          <p:cNvPr id="30" name="object 30"/>
          <p:cNvSpPr txBox="1"/>
          <p:nvPr/>
        </p:nvSpPr>
        <p:spPr>
          <a:xfrm>
            <a:off x="1314886" y="1728031"/>
            <a:ext cx="105728" cy="309700"/>
          </a:xfrm>
          <a:prstGeom prst="rect">
            <a:avLst/>
          </a:prstGeom>
        </p:spPr>
        <p:txBody>
          <a:bodyPr vert="horz" wrap="square" lIns="0" tIns="9525" rIns="0" bIns="0" rtlCol="0">
            <a:spAutoFit/>
          </a:bodyPr>
          <a:lstStyle/>
          <a:p>
            <a:pPr marL="9525">
              <a:spcBef>
                <a:spcPts val="75"/>
              </a:spcBef>
            </a:pPr>
            <a:r>
              <a:rPr sz="1950" b="1" spc="-38" dirty="0">
                <a:latin typeface="Cambria"/>
                <a:cs typeface="Cambria"/>
              </a:rPr>
              <a:t>I</a:t>
            </a:r>
            <a:endParaRPr sz="1950" dirty="0">
              <a:latin typeface="Cambria"/>
              <a:cs typeface="Cambria"/>
            </a:endParaRPr>
          </a:p>
        </p:txBody>
      </p:sp>
      <p:sp>
        <p:nvSpPr>
          <p:cNvPr id="31" name="object 31"/>
          <p:cNvSpPr txBox="1"/>
          <p:nvPr/>
        </p:nvSpPr>
        <p:spPr>
          <a:xfrm>
            <a:off x="1290656" y="2549610"/>
            <a:ext cx="191928" cy="309700"/>
          </a:xfrm>
          <a:prstGeom prst="rect">
            <a:avLst/>
          </a:prstGeom>
        </p:spPr>
        <p:txBody>
          <a:bodyPr vert="horz" wrap="square" lIns="0" tIns="9525" rIns="0" bIns="0" rtlCol="0">
            <a:spAutoFit/>
          </a:bodyPr>
          <a:lstStyle/>
          <a:p>
            <a:pPr marL="9525">
              <a:spcBef>
                <a:spcPts val="75"/>
              </a:spcBef>
            </a:pPr>
            <a:r>
              <a:rPr sz="1950" b="1" spc="-19" dirty="0">
                <a:latin typeface="Cambria"/>
                <a:cs typeface="Cambria"/>
              </a:rPr>
              <a:t>II</a:t>
            </a:r>
            <a:endParaRPr sz="1950">
              <a:latin typeface="Cambria"/>
              <a:cs typeface="Cambria"/>
            </a:endParaRPr>
          </a:p>
        </p:txBody>
      </p:sp>
      <p:sp>
        <p:nvSpPr>
          <p:cNvPr id="32" name="object 32"/>
          <p:cNvSpPr txBox="1"/>
          <p:nvPr/>
        </p:nvSpPr>
        <p:spPr>
          <a:xfrm>
            <a:off x="1263732" y="3459912"/>
            <a:ext cx="278606" cy="309700"/>
          </a:xfrm>
          <a:prstGeom prst="rect">
            <a:avLst/>
          </a:prstGeom>
        </p:spPr>
        <p:txBody>
          <a:bodyPr vert="horz" wrap="square" lIns="0" tIns="9525" rIns="0" bIns="0" rtlCol="0">
            <a:spAutoFit/>
          </a:bodyPr>
          <a:lstStyle/>
          <a:p>
            <a:pPr marL="9525">
              <a:spcBef>
                <a:spcPts val="75"/>
              </a:spcBef>
            </a:pPr>
            <a:r>
              <a:rPr sz="1950" b="1" spc="-19" dirty="0">
                <a:latin typeface="Cambria"/>
                <a:cs typeface="Cambria"/>
              </a:rPr>
              <a:t>III</a:t>
            </a:r>
            <a:endParaRPr sz="1950">
              <a:latin typeface="Cambria"/>
              <a:cs typeface="Cambria"/>
            </a:endParaRPr>
          </a:p>
        </p:txBody>
      </p:sp>
      <p:sp>
        <p:nvSpPr>
          <p:cNvPr id="33" name="object 33"/>
          <p:cNvSpPr txBox="1">
            <a:spLocks noGrp="1"/>
          </p:cNvSpPr>
          <p:nvPr>
            <p:ph type="title"/>
          </p:nvPr>
        </p:nvSpPr>
        <p:spPr>
          <a:xfrm>
            <a:off x="202106" y="180510"/>
            <a:ext cx="5544644" cy="453329"/>
          </a:xfrm>
          <a:prstGeom prst="rect">
            <a:avLst/>
          </a:prstGeom>
        </p:spPr>
        <p:txBody>
          <a:bodyPr spcFirstLastPara="1" vert="horz" wrap="square" lIns="0" tIns="9525" rIns="0" bIns="0" rtlCol="0" anchor="t" anchorCtr="0">
            <a:spAutoFit/>
          </a:bodyPr>
          <a:lstStyle/>
          <a:p>
            <a:pPr marL="9525">
              <a:spcBef>
                <a:spcPts val="75"/>
              </a:spcBef>
            </a:pPr>
            <a:r>
              <a:rPr spc="-15" dirty="0">
                <a:solidFill>
                  <a:srgbClr val="783E04"/>
                </a:solidFill>
                <a:latin typeface="Cambria"/>
                <a:cs typeface="Cambria"/>
              </a:rPr>
              <a:t>Overview</a:t>
            </a:r>
            <a:r>
              <a:rPr spc="-68" dirty="0">
                <a:solidFill>
                  <a:srgbClr val="783E04"/>
                </a:solidFill>
                <a:latin typeface="Cambria"/>
                <a:cs typeface="Cambria"/>
              </a:rPr>
              <a:t> </a:t>
            </a:r>
            <a:r>
              <a:rPr dirty="0">
                <a:solidFill>
                  <a:srgbClr val="783E04"/>
                </a:solidFill>
                <a:latin typeface="Cambria"/>
                <a:cs typeface="Cambria"/>
              </a:rPr>
              <a:t>of</a:t>
            </a:r>
            <a:r>
              <a:rPr spc="-68" dirty="0">
                <a:solidFill>
                  <a:srgbClr val="783E04"/>
                </a:solidFill>
                <a:latin typeface="Cambria"/>
                <a:cs typeface="Cambria"/>
              </a:rPr>
              <a:t> </a:t>
            </a:r>
            <a:r>
              <a:rPr spc="-8" dirty="0">
                <a:solidFill>
                  <a:srgbClr val="783E04"/>
                </a:solidFill>
                <a:latin typeface="Cambria"/>
                <a:cs typeface="Cambria"/>
              </a:rPr>
              <a:t>Proposed</a:t>
            </a:r>
            <a:r>
              <a:rPr spc="-68" dirty="0">
                <a:solidFill>
                  <a:srgbClr val="783E04"/>
                </a:solidFill>
                <a:latin typeface="Cambria"/>
                <a:cs typeface="Cambria"/>
              </a:rPr>
              <a:t> </a:t>
            </a:r>
            <a:r>
              <a:rPr spc="-8" dirty="0">
                <a:solidFill>
                  <a:srgbClr val="783E04"/>
                </a:solidFill>
                <a:latin typeface="Cambria"/>
                <a:cs typeface="Cambria"/>
              </a:rPr>
              <a:t>System</a:t>
            </a:r>
          </a:p>
        </p:txBody>
      </p:sp>
    </p:spTree>
    <p:extLst>
      <p:ext uri="{BB962C8B-B14F-4D97-AF65-F5344CB8AC3E}">
        <p14:creationId xmlns:p14="http://schemas.microsoft.com/office/powerpoint/2010/main" val="632844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70299" y="1451326"/>
            <a:ext cx="6377216" cy="2856515"/>
          </a:xfrm>
          <a:prstGeom prst="rect">
            <a:avLst/>
          </a:prstGeom>
        </p:spPr>
      </p:pic>
      <p:sp>
        <p:nvSpPr>
          <p:cNvPr id="3" name="object 3"/>
          <p:cNvSpPr txBox="1"/>
          <p:nvPr/>
        </p:nvSpPr>
        <p:spPr>
          <a:xfrm>
            <a:off x="8393125" y="4859597"/>
            <a:ext cx="58103" cy="115416"/>
          </a:xfrm>
          <a:prstGeom prst="rect">
            <a:avLst/>
          </a:prstGeom>
        </p:spPr>
        <p:txBody>
          <a:bodyPr vert="horz" wrap="square" lIns="0" tIns="0" rIns="0" bIns="0" rtlCol="0">
            <a:spAutoFit/>
          </a:bodyPr>
          <a:lstStyle/>
          <a:p>
            <a:pPr>
              <a:lnSpc>
                <a:spcPts val="855"/>
              </a:lnSpc>
            </a:pPr>
            <a:r>
              <a:rPr sz="900" spc="-45" dirty="0">
                <a:solidFill>
                  <a:srgbClr val="888888"/>
                </a:solidFill>
                <a:latin typeface="Calibri"/>
                <a:cs typeface="Calibri"/>
              </a:rPr>
              <a:t>7</a:t>
            </a:r>
            <a:endParaRPr sz="900">
              <a:latin typeface="Calibri"/>
              <a:cs typeface="Calibri"/>
            </a:endParaRPr>
          </a:p>
        </p:txBody>
      </p:sp>
      <p:sp>
        <p:nvSpPr>
          <p:cNvPr id="4" name="object 4"/>
          <p:cNvSpPr txBox="1"/>
          <p:nvPr/>
        </p:nvSpPr>
        <p:spPr>
          <a:xfrm>
            <a:off x="1800038" y="2600906"/>
            <a:ext cx="1341596" cy="332783"/>
          </a:xfrm>
          <a:prstGeom prst="rect">
            <a:avLst/>
          </a:prstGeom>
          <a:solidFill>
            <a:srgbClr val="71E988"/>
          </a:solidFill>
        </p:spPr>
        <p:txBody>
          <a:bodyPr vert="horz" wrap="square" lIns="0" tIns="55245" rIns="0" bIns="0" rtlCol="0">
            <a:spAutoFit/>
          </a:bodyPr>
          <a:lstStyle/>
          <a:p>
            <a:pPr marL="249555">
              <a:spcBef>
                <a:spcPts val="435"/>
              </a:spcBef>
            </a:pPr>
            <a:r>
              <a:rPr sz="1800" b="1" dirty="0">
                <a:solidFill>
                  <a:srgbClr val="065381"/>
                </a:solidFill>
                <a:latin typeface="Cambria"/>
                <a:cs typeface="Cambria"/>
              </a:rPr>
              <a:t>1st</a:t>
            </a:r>
            <a:r>
              <a:rPr sz="1800" b="1" spc="-38" dirty="0">
                <a:solidFill>
                  <a:srgbClr val="065381"/>
                </a:solidFill>
                <a:latin typeface="Cambria"/>
                <a:cs typeface="Cambria"/>
              </a:rPr>
              <a:t> </a:t>
            </a:r>
            <a:r>
              <a:rPr sz="1800" b="1" spc="-15" dirty="0">
                <a:solidFill>
                  <a:srgbClr val="065381"/>
                </a:solidFill>
                <a:latin typeface="Cambria"/>
                <a:cs typeface="Cambria"/>
              </a:rPr>
              <a:t>Year</a:t>
            </a:r>
            <a:endParaRPr sz="1800">
              <a:latin typeface="Cambria"/>
              <a:cs typeface="Cambria"/>
            </a:endParaRPr>
          </a:p>
        </p:txBody>
      </p:sp>
      <p:sp>
        <p:nvSpPr>
          <p:cNvPr id="5" name="object 5"/>
          <p:cNvSpPr txBox="1"/>
          <p:nvPr/>
        </p:nvSpPr>
        <p:spPr>
          <a:xfrm>
            <a:off x="3961256" y="2600906"/>
            <a:ext cx="1341596" cy="332783"/>
          </a:xfrm>
          <a:prstGeom prst="rect">
            <a:avLst/>
          </a:prstGeom>
          <a:solidFill>
            <a:srgbClr val="FCC02E"/>
          </a:solidFill>
        </p:spPr>
        <p:txBody>
          <a:bodyPr vert="horz" wrap="square" lIns="0" tIns="55245" rIns="0" bIns="0" rtlCol="0">
            <a:spAutoFit/>
          </a:bodyPr>
          <a:lstStyle/>
          <a:p>
            <a:pPr marL="206693">
              <a:spcBef>
                <a:spcPts val="435"/>
              </a:spcBef>
            </a:pPr>
            <a:r>
              <a:rPr sz="1800" b="1" dirty="0">
                <a:solidFill>
                  <a:srgbClr val="065381"/>
                </a:solidFill>
                <a:latin typeface="Cambria"/>
                <a:cs typeface="Cambria"/>
              </a:rPr>
              <a:t>2nd</a:t>
            </a:r>
            <a:r>
              <a:rPr sz="1800" b="1" spc="-45" dirty="0">
                <a:solidFill>
                  <a:srgbClr val="065381"/>
                </a:solidFill>
                <a:latin typeface="Cambria"/>
                <a:cs typeface="Cambria"/>
              </a:rPr>
              <a:t> </a:t>
            </a:r>
            <a:r>
              <a:rPr sz="1800" b="1" spc="-15" dirty="0">
                <a:solidFill>
                  <a:srgbClr val="065381"/>
                </a:solidFill>
                <a:latin typeface="Cambria"/>
                <a:cs typeface="Cambria"/>
              </a:rPr>
              <a:t>Year</a:t>
            </a:r>
            <a:endParaRPr sz="1800">
              <a:latin typeface="Cambria"/>
              <a:cs typeface="Cambria"/>
            </a:endParaRPr>
          </a:p>
        </p:txBody>
      </p:sp>
      <p:sp>
        <p:nvSpPr>
          <p:cNvPr id="6" name="object 6"/>
          <p:cNvSpPr txBox="1"/>
          <p:nvPr/>
        </p:nvSpPr>
        <p:spPr>
          <a:xfrm>
            <a:off x="6297375" y="2600906"/>
            <a:ext cx="1341596" cy="332783"/>
          </a:xfrm>
          <a:prstGeom prst="rect">
            <a:avLst/>
          </a:prstGeom>
          <a:solidFill>
            <a:srgbClr val="ED4444"/>
          </a:solidFill>
        </p:spPr>
        <p:txBody>
          <a:bodyPr vert="horz" wrap="square" lIns="0" tIns="55245" rIns="0" bIns="0" rtlCol="0">
            <a:spAutoFit/>
          </a:bodyPr>
          <a:lstStyle/>
          <a:p>
            <a:pPr marL="224790">
              <a:spcBef>
                <a:spcPts val="435"/>
              </a:spcBef>
            </a:pPr>
            <a:r>
              <a:rPr sz="1800" b="1" dirty="0">
                <a:solidFill>
                  <a:srgbClr val="FFFFFF"/>
                </a:solidFill>
                <a:latin typeface="Cambria"/>
                <a:cs typeface="Cambria"/>
              </a:rPr>
              <a:t>3rd</a:t>
            </a:r>
            <a:r>
              <a:rPr sz="1800" b="1" spc="-64" dirty="0">
                <a:solidFill>
                  <a:srgbClr val="FFFFFF"/>
                </a:solidFill>
                <a:latin typeface="Cambria"/>
                <a:cs typeface="Cambria"/>
              </a:rPr>
              <a:t> </a:t>
            </a:r>
            <a:r>
              <a:rPr sz="1800" b="1" spc="-15" dirty="0">
                <a:solidFill>
                  <a:srgbClr val="FFFFFF"/>
                </a:solidFill>
                <a:latin typeface="Cambria"/>
                <a:cs typeface="Cambria"/>
              </a:rPr>
              <a:t>Year</a:t>
            </a:r>
            <a:endParaRPr sz="1800">
              <a:latin typeface="Cambria"/>
              <a:cs typeface="Cambria"/>
            </a:endParaRPr>
          </a:p>
        </p:txBody>
      </p:sp>
      <p:sp>
        <p:nvSpPr>
          <p:cNvPr id="7" name="object 7"/>
          <p:cNvSpPr/>
          <p:nvPr/>
        </p:nvSpPr>
        <p:spPr>
          <a:xfrm>
            <a:off x="0" y="107156"/>
            <a:ext cx="191928" cy="4835843"/>
          </a:xfrm>
          <a:custGeom>
            <a:avLst/>
            <a:gdLst/>
            <a:ahLst/>
            <a:cxnLst/>
            <a:rect l="l" t="t" r="r" b="b"/>
            <a:pathLst>
              <a:path w="255904" h="6447790">
                <a:moveTo>
                  <a:pt x="255899" y="6447299"/>
                </a:moveTo>
                <a:lnTo>
                  <a:pt x="0" y="6447299"/>
                </a:lnTo>
                <a:lnTo>
                  <a:pt x="0" y="0"/>
                </a:lnTo>
                <a:lnTo>
                  <a:pt x="255899" y="0"/>
                </a:lnTo>
                <a:lnTo>
                  <a:pt x="255899" y="6447299"/>
                </a:lnTo>
                <a:close/>
              </a:path>
            </a:pathLst>
          </a:custGeom>
          <a:solidFill>
            <a:srgbClr val="A71901"/>
          </a:solidFill>
        </p:spPr>
        <p:txBody>
          <a:bodyPr wrap="square" lIns="0" tIns="0" rIns="0" bIns="0" rtlCol="0"/>
          <a:lstStyle/>
          <a:p>
            <a:endParaRPr sz="1050"/>
          </a:p>
        </p:txBody>
      </p:sp>
      <p:sp>
        <p:nvSpPr>
          <p:cNvPr id="8" name="object 8"/>
          <p:cNvSpPr txBox="1">
            <a:spLocks noGrp="1"/>
          </p:cNvSpPr>
          <p:nvPr>
            <p:ph type="title"/>
          </p:nvPr>
        </p:nvSpPr>
        <p:spPr>
          <a:xfrm>
            <a:off x="390082" y="149732"/>
            <a:ext cx="3448526" cy="391774"/>
          </a:xfrm>
          <a:prstGeom prst="rect">
            <a:avLst/>
          </a:prstGeom>
        </p:spPr>
        <p:txBody>
          <a:bodyPr spcFirstLastPara="1" vert="horz" wrap="square" lIns="0" tIns="9525" rIns="0" bIns="0" rtlCol="0" anchor="t" anchorCtr="0">
            <a:spAutoFit/>
          </a:bodyPr>
          <a:lstStyle/>
          <a:p>
            <a:pPr marL="9525">
              <a:spcBef>
                <a:spcPts val="75"/>
              </a:spcBef>
              <a:tabLst>
                <a:tab pos="1400651" algn="l"/>
              </a:tabLst>
            </a:pPr>
            <a:r>
              <a:rPr spc="-8" dirty="0">
                <a:solidFill>
                  <a:srgbClr val="783E04"/>
                </a:solidFill>
                <a:latin typeface="Cambria"/>
                <a:cs typeface="Cambria"/>
              </a:rPr>
              <a:t>Timeline</a:t>
            </a:r>
            <a:r>
              <a:rPr dirty="0">
                <a:solidFill>
                  <a:srgbClr val="783E04"/>
                </a:solidFill>
                <a:latin typeface="Cambria"/>
                <a:cs typeface="Cambria"/>
              </a:rPr>
              <a:t>	&amp;</a:t>
            </a:r>
            <a:r>
              <a:rPr spc="-4" dirty="0">
                <a:solidFill>
                  <a:srgbClr val="783E04"/>
                </a:solidFill>
                <a:latin typeface="Cambria"/>
                <a:cs typeface="Cambria"/>
              </a:rPr>
              <a:t> </a:t>
            </a:r>
            <a:r>
              <a:rPr spc="-19" dirty="0">
                <a:solidFill>
                  <a:srgbClr val="783E04"/>
                </a:solidFill>
                <a:latin typeface="Cambria"/>
                <a:cs typeface="Cambria"/>
              </a:rPr>
              <a:t>Deliverables</a:t>
            </a:r>
          </a:p>
        </p:txBody>
      </p:sp>
      <p:grpSp>
        <p:nvGrpSpPr>
          <p:cNvPr id="9" name="object 9"/>
          <p:cNvGrpSpPr/>
          <p:nvPr/>
        </p:nvGrpSpPr>
        <p:grpSpPr>
          <a:xfrm>
            <a:off x="2506328" y="553275"/>
            <a:ext cx="6357938" cy="4533424"/>
            <a:chOff x="3341771" y="737700"/>
            <a:chExt cx="8477250" cy="6044565"/>
          </a:xfrm>
        </p:grpSpPr>
        <p:pic>
          <p:nvPicPr>
            <p:cNvPr id="10" name="object 10"/>
            <p:cNvPicPr/>
            <p:nvPr/>
          </p:nvPicPr>
          <p:blipFill>
            <a:blip r:embed="rId3" cstate="print"/>
            <a:stretch>
              <a:fillRect/>
            </a:stretch>
          </p:blipFill>
          <p:spPr>
            <a:xfrm>
              <a:off x="5900057" y="737700"/>
              <a:ext cx="2560245" cy="1679499"/>
            </a:xfrm>
            <a:prstGeom prst="rect">
              <a:avLst/>
            </a:prstGeom>
          </p:spPr>
        </p:pic>
        <p:pic>
          <p:nvPicPr>
            <p:cNvPr id="11" name="object 11"/>
            <p:cNvPicPr/>
            <p:nvPr/>
          </p:nvPicPr>
          <p:blipFill>
            <a:blip r:embed="rId4" cstate="print"/>
            <a:stretch>
              <a:fillRect/>
            </a:stretch>
          </p:blipFill>
          <p:spPr>
            <a:xfrm>
              <a:off x="9387500" y="5102300"/>
              <a:ext cx="2431274" cy="1679499"/>
            </a:xfrm>
            <a:prstGeom prst="rect">
              <a:avLst/>
            </a:prstGeom>
          </p:spPr>
        </p:pic>
        <p:pic>
          <p:nvPicPr>
            <p:cNvPr id="12" name="object 12"/>
            <p:cNvPicPr/>
            <p:nvPr/>
          </p:nvPicPr>
          <p:blipFill>
            <a:blip r:embed="rId5" cstate="print"/>
            <a:stretch>
              <a:fillRect/>
            </a:stretch>
          </p:blipFill>
          <p:spPr>
            <a:xfrm>
              <a:off x="3341771" y="5114288"/>
              <a:ext cx="2182949" cy="1503124"/>
            </a:xfrm>
            <a:prstGeom prst="rect">
              <a:avLst/>
            </a:prstGeom>
          </p:spPr>
        </p:pic>
        <p:sp>
          <p:nvSpPr>
            <p:cNvPr id="13" name="object 13"/>
            <p:cNvSpPr/>
            <p:nvPr/>
          </p:nvSpPr>
          <p:spPr>
            <a:xfrm>
              <a:off x="3514499" y="5359250"/>
              <a:ext cx="1877695" cy="739140"/>
            </a:xfrm>
            <a:custGeom>
              <a:avLst/>
              <a:gdLst/>
              <a:ahLst/>
              <a:cxnLst/>
              <a:rect l="l" t="t" r="r" b="b"/>
              <a:pathLst>
                <a:path w="1877695" h="739139">
                  <a:moveTo>
                    <a:pt x="1877699" y="738899"/>
                  </a:moveTo>
                  <a:lnTo>
                    <a:pt x="0" y="738899"/>
                  </a:lnTo>
                  <a:lnTo>
                    <a:pt x="0" y="0"/>
                  </a:lnTo>
                  <a:lnTo>
                    <a:pt x="1877699" y="0"/>
                  </a:lnTo>
                  <a:lnTo>
                    <a:pt x="1877699" y="738899"/>
                  </a:lnTo>
                  <a:close/>
                </a:path>
              </a:pathLst>
            </a:custGeom>
            <a:solidFill>
              <a:srgbClr val="F3F3F3"/>
            </a:solidFill>
          </p:spPr>
          <p:txBody>
            <a:bodyPr wrap="square" lIns="0" tIns="0" rIns="0" bIns="0" rtlCol="0"/>
            <a:lstStyle/>
            <a:p>
              <a:endParaRPr sz="1050"/>
            </a:p>
          </p:txBody>
        </p:sp>
      </p:grpSp>
      <p:sp>
        <p:nvSpPr>
          <p:cNvPr id="14" name="object 14"/>
          <p:cNvSpPr txBox="1"/>
          <p:nvPr/>
        </p:nvSpPr>
        <p:spPr>
          <a:xfrm>
            <a:off x="2645620" y="4019438"/>
            <a:ext cx="1399223" cy="473206"/>
          </a:xfrm>
          <a:prstGeom prst="rect">
            <a:avLst/>
          </a:prstGeom>
          <a:solidFill>
            <a:srgbClr val="F3F3F3"/>
          </a:solidFill>
        </p:spPr>
        <p:txBody>
          <a:bodyPr vert="horz" wrap="square" lIns="0" tIns="57150" rIns="0" bIns="0" rtlCol="0">
            <a:spAutoFit/>
          </a:bodyPr>
          <a:lstStyle/>
          <a:p>
            <a:pPr marL="369569" marR="136684" indent="-238125">
              <a:spcBef>
                <a:spcPts val="450"/>
              </a:spcBef>
            </a:pPr>
            <a:r>
              <a:rPr sz="1350" b="1" dirty="0">
                <a:solidFill>
                  <a:srgbClr val="274E13"/>
                </a:solidFill>
                <a:latin typeface="Cambria"/>
                <a:cs typeface="Cambria"/>
              </a:rPr>
              <a:t>Intelligent</a:t>
            </a:r>
            <a:r>
              <a:rPr sz="1350" b="1" spc="-75" dirty="0">
                <a:solidFill>
                  <a:srgbClr val="274E13"/>
                </a:solidFill>
                <a:latin typeface="Cambria"/>
                <a:cs typeface="Cambria"/>
              </a:rPr>
              <a:t> </a:t>
            </a:r>
            <a:r>
              <a:rPr sz="1350" b="1" spc="-19" dirty="0">
                <a:solidFill>
                  <a:srgbClr val="274E13"/>
                </a:solidFill>
                <a:latin typeface="Cambria"/>
                <a:cs typeface="Cambria"/>
              </a:rPr>
              <a:t>IoT </a:t>
            </a:r>
            <a:r>
              <a:rPr sz="1350" b="1" spc="-8" dirty="0">
                <a:solidFill>
                  <a:srgbClr val="274E13"/>
                </a:solidFill>
                <a:latin typeface="Cambria"/>
                <a:cs typeface="Cambria"/>
              </a:rPr>
              <a:t>solution</a:t>
            </a:r>
            <a:endParaRPr sz="1350">
              <a:latin typeface="Cambria"/>
              <a:cs typeface="Cambria"/>
            </a:endParaRPr>
          </a:p>
        </p:txBody>
      </p:sp>
      <p:sp>
        <p:nvSpPr>
          <p:cNvPr id="15" name="object 15"/>
          <p:cNvSpPr/>
          <p:nvPr/>
        </p:nvSpPr>
        <p:spPr>
          <a:xfrm>
            <a:off x="2645620" y="4516462"/>
            <a:ext cx="1399223" cy="508159"/>
          </a:xfrm>
          <a:custGeom>
            <a:avLst/>
            <a:gdLst/>
            <a:ahLst/>
            <a:cxnLst/>
            <a:rect l="l" t="t" r="r" b="b"/>
            <a:pathLst>
              <a:path w="1865629" h="677545">
                <a:moveTo>
                  <a:pt x="1865574" y="677077"/>
                </a:moveTo>
                <a:lnTo>
                  <a:pt x="0" y="677077"/>
                </a:lnTo>
                <a:lnTo>
                  <a:pt x="0" y="0"/>
                </a:lnTo>
                <a:lnTo>
                  <a:pt x="1865574" y="0"/>
                </a:lnTo>
                <a:lnTo>
                  <a:pt x="1865574" y="677077"/>
                </a:lnTo>
                <a:close/>
              </a:path>
            </a:pathLst>
          </a:custGeom>
          <a:solidFill>
            <a:srgbClr val="71E988"/>
          </a:solidFill>
        </p:spPr>
        <p:txBody>
          <a:bodyPr wrap="square" lIns="0" tIns="0" rIns="0" bIns="0" rtlCol="0"/>
          <a:lstStyle/>
          <a:p>
            <a:endParaRPr sz="1050"/>
          </a:p>
        </p:txBody>
      </p:sp>
      <p:sp>
        <p:nvSpPr>
          <p:cNvPr id="16" name="object 16"/>
          <p:cNvSpPr txBox="1"/>
          <p:nvPr/>
        </p:nvSpPr>
        <p:spPr>
          <a:xfrm>
            <a:off x="2645620" y="4573612"/>
            <a:ext cx="1399223" cy="370294"/>
          </a:xfrm>
          <a:prstGeom prst="rect">
            <a:avLst/>
          </a:prstGeom>
          <a:solidFill>
            <a:srgbClr val="71E988"/>
          </a:solidFill>
        </p:spPr>
        <p:txBody>
          <a:bodyPr vert="horz" wrap="square" lIns="0" tIns="953" rIns="0" bIns="0" rtlCol="0">
            <a:spAutoFit/>
          </a:bodyPr>
          <a:lstStyle/>
          <a:p>
            <a:pPr marL="306705" marR="107633" indent="-193834">
              <a:spcBef>
                <a:spcPts val="8"/>
              </a:spcBef>
            </a:pPr>
            <a:r>
              <a:rPr sz="1200" b="1" dirty="0">
                <a:solidFill>
                  <a:srgbClr val="274E13"/>
                </a:solidFill>
                <a:latin typeface="Cambria"/>
                <a:cs typeface="Cambria"/>
              </a:rPr>
              <a:t>(A)</a:t>
            </a:r>
            <a:r>
              <a:rPr sz="1200" b="1" spc="-11" dirty="0">
                <a:solidFill>
                  <a:srgbClr val="274E13"/>
                </a:solidFill>
                <a:latin typeface="Cambria"/>
                <a:cs typeface="Cambria"/>
              </a:rPr>
              <a:t> </a:t>
            </a:r>
            <a:r>
              <a:rPr sz="1200" b="1" spc="-8" dirty="0">
                <a:solidFill>
                  <a:srgbClr val="274E13"/>
                </a:solidFill>
                <a:latin typeface="Cambria"/>
                <a:cs typeface="Cambria"/>
              </a:rPr>
              <a:t>Environment Monitoring</a:t>
            </a:r>
            <a:endParaRPr sz="1200">
              <a:latin typeface="Cambria"/>
              <a:cs typeface="Cambria"/>
            </a:endParaRPr>
          </a:p>
        </p:txBody>
      </p:sp>
      <p:sp>
        <p:nvSpPr>
          <p:cNvPr id="17" name="object 17"/>
          <p:cNvSpPr txBox="1"/>
          <p:nvPr/>
        </p:nvSpPr>
        <p:spPr>
          <a:xfrm>
            <a:off x="390918" y="3594624"/>
            <a:ext cx="1903095" cy="1048364"/>
          </a:xfrm>
          <a:prstGeom prst="rect">
            <a:avLst/>
          </a:prstGeom>
        </p:spPr>
        <p:txBody>
          <a:bodyPr vert="horz" wrap="square" lIns="0" tIns="9525" rIns="0" bIns="0" rtlCol="0">
            <a:spAutoFit/>
          </a:bodyPr>
          <a:lstStyle/>
          <a:p>
            <a:pPr marL="284321" marR="3810" indent="-275273">
              <a:spcBef>
                <a:spcPts val="75"/>
              </a:spcBef>
              <a:buFont typeface="Arial MT"/>
              <a:buChar char="●"/>
              <a:tabLst>
                <a:tab pos="284321" algn="l"/>
              </a:tabLst>
            </a:pPr>
            <a:r>
              <a:rPr sz="1350" spc="-8" dirty="0">
                <a:solidFill>
                  <a:srgbClr val="274E13"/>
                </a:solidFill>
                <a:latin typeface="Cambria"/>
                <a:cs typeface="Cambria"/>
              </a:rPr>
              <a:t>Developing </a:t>
            </a:r>
            <a:r>
              <a:rPr sz="1350" dirty="0">
                <a:solidFill>
                  <a:srgbClr val="274E13"/>
                </a:solidFill>
                <a:latin typeface="Cambria"/>
                <a:cs typeface="Cambria"/>
              </a:rPr>
              <a:t>a</a:t>
            </a:r>
            <a:r>
              <a:rPr sz="1350" spc="-4" dirty="0">
                <a:solidFill>
                  <a:srgbClr val="274E13"/>
                </a:solidFill>
                <a:latin typeface="Cambria"/>
                <a:cs typeface="Cambria"/>
              </a:rPr>
              <a:t> </a:t>
            </a:r>
            <a:r>
              <a:rPr sz="1350" spc="-8" dirty="0">
                <a:solidFill>
                  <a:srgbClr val="274E13"/>
                </a:solidFill>
                <a:latin typeface="Cambria"/>
                <a:cs typeface="Cambria"/>
              </a:rPr>
              <a:t>design </a:t>
            </a:r>
            <a:r>
              <a:rPr sz="1350" dirty="0">
                <a:solidFill>
                  <a:srgbClr val="274E13"/>
                </a:solidFill>
                <a:latin typeface="Cambria"/>
                <a:cs typeface="Cambria"/>
              </a:rPr>
              <a:t>plan,</a:t>
            </a:r>
            <a:r>
              <a:rPr sz="1350" spc="-19" dirty="0">
                <a:solidFill>
                  <a:srgbClr val="274E13"/>
                </a:solidFill>
                <a:latin typeface="Cambria"/>
                <a:cs typeface="Cambria"/>
              </a:rPr>
              <a:t> </a:t>
            </a:r>
            <a:r>
              <a:rPr sz="1350" spc="-8" dirty="0">
                <a:solidFill>
                  <a:srgbClr val="274E13"/>
                </a:solidFill>
                <a:latin typeface="Cambria"/>
                <a:cs typeface="Cambria"/>
              </a:rPr>
              <a:t>Database building,</a:t>
            </a:r>
            <a:r>
              <a:rPr sz="1350" spc="-30" dirty="0">
                <a:solidFill>
                  <a:srgbClr val="274E13"/>
                </a:solidFill>
                <a:latin typeface="Cambria"/>
                <a:cs typeface="Cambria"/>
              </a:rPr>
              <a:t> </a:t>
            </a:r>
            <a:r>
              <a:rPr sz="1350" spc="-8" dirty="0">
                <a:solidFill>
                  <a:srgbClr val="274E13"/>
                </a:solidFill>
                <a:latin typeface="Cambria"/>
                <a:cs typeface="Cambria"/>
              </a:rPr>
              <a:t>Training</a:t>
            </a:r>
            <a:r>
              <a:rPr sz="1350" spc="-30" dirty="0">
                <a:solidFill>
                  <a:srgbClr val="274E13"/>
                </a:solidFill>
                <a:latin typeface="Cambria"/>
                <a:cs typeface="Cambria"/>
              </a:rPr>
              <a:t> </a:t>
            </a:r>
            <a:r>
              <a:rPr sz="1350" spc="-19" dirty="0">
                <a:solidFill>
                  <a:srgbClr val="274E13"/>
                </a:solidFill>
                <a:latin typeface="Cambria"/>
                <a:cs typeface="Cambria"/>
              </a:rPr>
              <a:t>and </a:t>
            </a:r>
            <a:r>
              <a:rPr sz="1350" spc="-8" dirty="0">
                <a:solidFill>
                  <a:srgbClr val="274E13"/>
                </a:solidFill>
                <a:latin typeface="Cambria"/>
                <a:cs typeface="Cambria"/>
              </a:rPr>
              <a:t>Equipment</a:t>
            </a:r>
            <a:r>
              <a:rPr sz="1350" spc="-38" dirty="0">
                <a:solidFill>
                  <a:srgbClr val="274E13"/>
                </a:solidFill>
                <a:latin typeface="Cambria"/>
                <a:cs typeface="Cambria"/>
              </a:rPr>
              <a:t> </a:t>
            </a:r>
            <a:r>
              <a:rPr sz="1350" spc="-8" dirty="0">
                <a:solidFill>
                  <a:srgbClr val="274E13"/>
                </a:solidFill>
                <a:latin typeface="Cambria"/>
                <a:cs typeface="Cambria"/>
              </a:rPr>
              <a:t>procuring.</a:t>
            </a:r>
            <a:endParaRPr sz="1350">
              <a:latin typeface="Cambria"/>
              <a:cs typeface="Cambria"/>
            </a:endParaRPr>
          </a:p>
          <a:p>
            <a:pPr marL="284321" indent="-274796">
              <a:buFont typeface="Arial MT"/>
              <a:buChar char="●"/>
              <a:tabLst>
                <a:tab pos="284321" algn="l"/>
              </a:tabLst>
            </a:pPr>
            <a:r>
              <a:rPr sz="1350" dirty="0">
                <a:solidFill>
                  <a:srgbClr val="274E13"/>
                </a:solidFill>
                <a:latin typeface="Cambria"/>
                <a:cs typeface="Cambria"/>
              </a:rPr>
              <a:t>Building</a:t>
            </a:r>
            <a:r>
              <a:rPr sz="1350" spc="-23" dirty="0">
                <a:solidFill>
                  <a:srgbClr val="274E13"/>
                </a:solidFill>
                <a:latin typeface="Cambria"/>
                <a:cs typeface="Cambria"/>
              </a:rPr>
              <a:t> </a:t>
            </a:r>
            <a:r>
              <a:rPr sz="1350" dirty="0">
                <a:solidFill>
                  <a:srgbClr val="274E13"/>
                </a:solidFill>
                <a:latin typeface="Cambria"/>
                <a:cs typeface="Cambria"/>
              </a:rPr>
              <a:t>the</a:t>
            </a:r>
            <a:r>
              <a:rPr sz="1350" spc="-19" dirty="0">
                <a:solidFill>
                  <a:srgbClr val="274E13"/>
                </a:solidFill>
                <a:latin typeface="Cambria"/>
                <a:cs typeface="Cambria"/>
              </a:rPr>
              <a:t> </a:t>
            </a:r>
            <a:r>
              <a:rPr sz="1350" spc="-8" dirty="0">
                <a:solidFill>
                  <a:srgbClr val="274E13"/>
                </a:solidFill>
                <a:latin typeface="Cambria"/>
                <a:cs typeface="Cambria"/>
              </a:rPr>
              <a:t>project</a:t>
            </a:r>
            <a:endParaRPr sz="1350">
              <a:latin typeface="Cambria"/>
              <a:cs typeface="Cambria"/>
            </a:endParaRPr>
          </a:p>
        </p:txBody>
      </p:sp>
      <p:sp>
        <p:nvSpPr>
          <p:cNvPr id="18" name="object 18"/>
          <p:cNvSpPr txBox="1"/>
          <p:nvPr/>
        </p:nvSpPr>
        <p:spPr>
          <a:xfrm>
            <a:off x="4685044" y="1196503"/>
            <a:ext cx="1408271" cy="400110"/>
          </a:xfrm>
          <a:prstGeom prst="rect">
            <a:avLst/>
          </a:prstGeom>
          <a:solidFill>
            <a:srgbClr val="F3F3F3"/>
          </a:solidFill>
        </p:spPr>
        <p:txBody>
          <a:bodyPr vert="horz" wrap="square" lIns="0" tIns="0" rIns="0" bIns="0" rtlCol="0">
            <a:spAutoFit/>
          </a:bodyPr>
          <a:lstStyle/>
          <a:p>
            <a:pPr algn="ctr">
              <a:lnSpc>
                <a:spcPts val="1508"/>
              </a:lnSpc>
            </a:pPr>
            <a:r>
              <a:rPr sz="1350" b="1" dirty="0">
                <a:solidFill>
                  <a:srgbClr val="274E13"/>
                </a:solidFill>
                <a:latin typeface="Cambria"/>
                <a:cs typeface="Cambria"/>
              </a:rPr>
              <a:t>Intelligent</a:t>
            </a:r>
            <a:r>
              <a:rPr sz="1350" b="1" spc="-75" dirty="0">
                <a:solidFill>
                  <a:srgbClr val="274E13"/>
                </a:solidFill>
                <a:latin typeface="Cambria"/>
                <a:cs typeface="Cambria"/>
              </a:rPr>
              <a:t> </a:t>
            </a:r>
            <a:r>
              <a:rPr sz="1350" b="1" spc="-19" dirty="0">
                <a:solidFill>
                  <a:srgbClr val="274E13"/>
                </a:solidFill>
                <a:latin typeface="Cambria"/>
                <a:cs typeface="Cambria"/>
              </a:rPr>
              <a:t>IoT</a:t>
            </a:r>
            <a:endParaRPr sz="1350">
              <a:latin typeface="Cambria"/>
              <a:cs typeface="Cambria"/>
            </a:endParaRPr>
          </a:p>
          <a:p>
            <a:pPr algn="ctr">
              <a:lnSpc>
                <a:spcPct val="100000"/>
              </a:lnSpc>
            </a:pPr>
            <a:r>
              <a:rPr sz="1350" b="1" spc="-8" dirty="0">
                <a:solidFill>
                  <a:srgbClr val="274E13"/>
                </a:solidFill>
                <a:latin typeface="Cambria"/>
                <a:cs typeface="Cambria"/>
              </a:rPr>
              <a:t>solution</a:t>
            </a:r>
            <a:endParaRPr sz="1350">
              <a:latin typeface="Cambria"/>
              <a:cs typeface="Cambria"/>
            </a:endParaRPr>
          </a:p>
        </p:txBody>
      </p:sp>
      <p:sp>
        <p:nvSpPr>
          <p:cNvPr id="19" name="object 19"/>
          <p:cNvSpPr txBox="1"/>
          <p:nvPr/>
        </p:nvSpPr>
        <p:spPr>
          <a:xfrm>
            <a:off x="4618479" y="503953"/>
            <a:ext cx="1560671" cy="707886"/>
          </a:xfrm>
          <a:prstGeom prst="rect">
            <a:avLst/>
          </a:prstGeom>
          <a:solidFill>
            <a:srgbClr val="FCC02E"/>
          </a:solidFill>
        </p:spPr>
        <p:txBody>
          <a:bodyPr vert="horz" wrap="square" lIns="0" tIns="0" rIns="0" bIns="0" rtlCol="0">
            <a:spAutoFit/>
          </a:bodyPr>
          <a:lstStyle/>
          <a:p>
            <a:pPr marL="269081">
              <a:lnSpc>
                <a:spcPts val="1238"/>
              </a:lnSpc>
            </a:pPr>
            <a:r>
              <a:rPr sz="1200" b="1" dirty="0">
                <a:solidFill>
                  <a:srgbClr val="274E13"/>
                </a:solidFill>
                <a:latin typeface="Cambria"/>
                <a:cs typeface="Cambria"/>
              </a:rPr>
              <a:t>(B)</a:t>
            </a:r>
            <a:r>
              <a:rPr sz="1200" b="1" spc="-15" dirty="0">
                <a:solidFill>
                  <a:srgbClr val="274E13"/>
                </a:solidFill>
                <a:latin typeface="Cambria"/>
                <a:cs typeface="Cambria"/>
              </a:rPr>
              <a:t> </a:t>
            </a:r>
            <a:r>
              <a:rPr sz="1200" b="1" dirty="0">
                <a:solidFill>
                  <a:srgbClr val="274E13"/>
                </a:solidFill>
                <a:latin typeface="Cambria"/>
                <a:cs typeface="Cambria"/>
              </a:rPr>
              <a:t>Flood</a:t>
            </a:r>
            <a:r>
              <a:rPr sz="1200" b="1" spc="-15" dirty="0">
                <a:solidFill>
                  <a:srgbClr val="274E13"/>
                </a:solidFill>
                <a:latin typeface="Cambria"/>
                <a:cs typeface="Cambria"/>
              </a:rPr>
              <a:t> </a:t>
            </a:r>
            <a:r>
              <a:rPr sz="1200" b="1" spc="-8" dirty="0">
                <a:solidFill>
                  <a:srgbClr val="274E13"/>
                </a:solidFill>
                <a:latin typeface="Cambria"/>
                <a:cs typeface="Cambria"/>
              </a:rPr>
              <a:t>alert</a:t>
            </a:r>
            <a:endParaRPr sz="1200">
              <a:latin typeface="Cambria"/>
              <a:cs typeface="Cambria"/>
            </a:endParaRPr>
          </a:p>
          <a:p>
            <a:pPr marL="518636"/>
            <a:r>
              <a:rPr sz="1200" b="1" spc="-8" dirty="0">
                <a:solidFill>
                  <a:srgbClr val="274E13"/>
                </a:solidFill>
                <a:latin typeface="Cambria"/>
                <a:cs typeface="Cambria"/>
              </a:rPr>
              <a:t>system,</a:t>
            </a:r>
            <a:endParaRPr sz="1200">
              <a:latin typeface="Cambria"/>
              <a:cs typeface="Cambria"/>
            </a:endParaRPr>
          </a:p>
          <a:p>
            <a:pPr marL="286226" marR="220028" indent="-60960"/>
            <a:r>
              <a:rPr sz="1200" b="1" dirty="0">
                <a:solidFill>
                  <a:srgbClr val="274E13"/>
                </a:solidFill>
                <a:latin typeface="Cambria"/>
                <a:cs typeface="Cambria"/>
              </a:rPr>
              <a:t>(c)</a:t>
            </a:r>
            <a:r>
              <a:rPr sz="1200" b="1" spc="-34" dirty="0">
                <a:solidFill>
                  <a:srgbClr val="274E13"/>
                </a:solidFill>
                <a:latin typeface="Cambria"/>
                <a:cs typeface="Cambria"/>
              </a:rPr>
              <a:t> </a:t>
            </a:r>
            <a:r>
              <a:rPr sz="1200" b="1" dirty="0">
                <a:solidFill>
                  <a:srgbClr val="274E13"/>
                </a:solidFill>
                <a:latin typeface="Cambria"/>
                <a:cs typeface="Cambria"/>
              </a:rPr>
              <a:t>Smart</a:t>
            </a:r>
            <a:r>
              <a:rPr sz="1200" b="1" spc="-30" dirty="0">
                <a:solidFill>
                  <a:srgbClr val="274E13"/>
                </a:solidFill>
                <a:latin typeface="Cambria"/>
                <a:cs typeface="Cambria"/>
              </a:rPr>
              <a:t> </a:t>
            </a:r>
            <a:r>
              <a:rPr sz="1200" b="1" spc="-15" dirty="0">
                <a:solidFill>
                  <a:srgbClr val="274E13"/>
                </a:solidFill>
                <a:latin typeface="Cambria"/>
                <a:cs typeface="Cambria"/>
              </a:rPr>
              <a:t>Water </a:t>
            </a:r>
            <a:r>
              <a:rPr sz="1200" b="1" dirty="0">
                <a:solidFill>
                  <a:srgbClr val="274E13"/>
                </a:solidFill>
                <a:latin typeface="Cambria"/>
                <a:cs typeface="Cambria"/>
              </a:rPr>
              <a:t>supply</a:t>
            </a:r>
            <a:r>
              <a:rPr sz="1200" b="1" spc="-60" dirty="0">
                <a:solidFill>
                  <a:srgbClr val="274E13"/>
                </a:solidFill>
                <a:latin typeface="Cambria"/>
                <a:cs typeface="Cambria"/>
              </a:rPr>
              <a:t> </a:t>
            </a:r>
            <a:r>
              <a:rPr sz="1200" b="1" spc="-8" dirty="0">
                <a:solidFill>
                  <a:srgbClr val="274E13"/>
                </a:solidFill>
                <a:latin typeface="Cambria"/>
                <a:cs typeface="Cambria"/>
              </a:rPr>
              <a:t>system</a:t>
            </a:r>
            <a:endParaRPr sz="1200">
              <a:latin typeface="Cambria"/>
              <a:cs typeface="Cambria"/>
            </a:endParaRPr>
          </a:p>
        </p:txBody>
      </p:sp>
      <p:sp>
        <p:nvSpPr>
          <p:cNvPr id="20" name="object 20"/>
          <p:cNvSpPr txBox="1"/>
          <p:nvPr/>
        </p:nvSpPr>
        <p:spPr>
          <a:xfrm>
            <a:off x="2628993" y="756961"/>
            <a:ext cx="1809750" cy="1256113"/>
          </a:xfrm>
          <a:prstGeom prst="rect">
            <a:avLst/>
          </a:prstGeom>
        </p:spPr>
        <p:txBody>
          <a:bodyPr vert="horz" wrap="square" lIns="0" tIns="9525" rIns="0" bIns="0" rtlCol="0">
            <a:spAutoFit/>
          </a:bodyPr>
          <a:lstStyle/>
          <a:p>
            <a:pPr marL="284321" marR="87629" indent="-275273">
              <a:spcBef>
                <a:spcPts val="75"/>
              </a:spcBef>
              <a:buFont typeface="Arial MT"/>
              <a:buChar char="●"/>
              <a:tabLst>
                <a:tab pos="284321" algn="l"/>
              </a:tabLst>
            </a:pPr>
            <a:r>
              <a:rPr sz="1350" dirty="0">
                <a:solidFill>
                  <a:srgbClr val="274E13"/>
                </a:solidFill>
                <a:latin typeface="Cambria"/>
                <a:cs typeface="Cambria"/>
              </a:rPr>
              <a:t>Design</a:t>
            </a:r>
            <a:r>
              <a:rPr sz="1350" spc="-23" dirty="0">
                <a:solidFill>
                  <a:srgbClr val="274E13"/>
                </a:solidFill>
                <a:latin typeface="Cambria"/>
                <a:cs typeface="Cambria"/>
              </a:rPr>
              <a:t> </a:t>
            </a:r>
            <a:r>
              <a:rPr sz="1350" spc="-19" dirty="0">
                <a:solidFill>
                  <a:srgbClr val="274E13"/>
                </a:solidFill>
                <a:latin typeface="Cambria"/>
                <a:cs typeface="Cambria"/>
              </a:rPr>
              <a:t>and </a:t>
            </a:r>
            <a:r>
              <a:rPr sz="1350" spc="-8" dirty="0">
                <a:solidFill>
                  <a:srgbClr val="274E13"/>
                </a:solidFill>
                <a:latin typeface="Cambria"/>
                <a:cs typeface="Cambria"/>
              </a:rPr>
              <a:t>deployment</a:t>
            </a:r>
            <a:r>
              <a:rPr sz="1350" spc="-15" dirty="0">
                <a:solidFill>
                  <a:srgbClr val="274E13"/>
                </a:solidFill>
                <a:latin typeface="Cambria"/>
                <a:cs typeface="Cambria"/>
              </a:rPr>
              <a:t> </a:t>
            </a:r>
            <a:r>
              <a:rPr sz="1350" dirty="0">
                <a:solidFill>
                  <a:srgbClr val="274E13"/>
                </a:solidFill>
                <a:latin typeface="Cambria"/>
                <a:cs typeface="Cambria"/>
              </a:rPr>
              <a:t>of</a:t>
            </a:r>
            <a:r>
              <a:rPr sz="1350" spc="-11" dirty="0">
                <a:solidFill>
                  <a:srgbClr val="274E13"/>
                </a:solidFill>
                <a:latin typeface="Cambria"/>
                <a:cs typeface="Cambria"/>
              </a:rPr>
              <a:t> </a:t>
            </a:r>
            <a:r>
              <a:rPr sz="1350" spc="-15" dirty="0">
                <a:solidFill>
                  <a:srgbClr val="274E13"/>
                </a:solidFill>
                <a:latin typeface="Cambria"/>
                <a:cs typeface="Cambria"/>
              </a:rPr>
              <a:t>User </a:t>
            </a:r>
            <a:r>
              <a:rPr sz="1350" spc="-8" dirty="0">
                <a:solidFill>
                  <a:srgbClr val="274E13"/>
                </a:solidFill>
                <a:latin typeface="Cambria"/>
                <a:cs typeface="Cambria"/>
              </a:rPr>
              <a:t>Interface.</a:t>
            </a:r>
            <a:endParaRPr sz="1350">
              <a:latin typeface="Cambria"/>
              <a:cs typeface="Cambria"/>
            </a:endParaRPr>
          </a:p>
          <a:p>
            <a:pPr marL="284321" marR="3810" indent="-275273">
              <a:buFont typeface="Arial MT"/>
              <a:buChar char="●"/>
              <a:tabLst>
                <a:tab pos="284321" algn="l"/>
              </a:tabLst>
            </a:pPr>
            <a:r>
              <a:rPr sz="1350" spc="-8" dirty="0">
                <a:solidFill>
                  <a:srgbClr val="274E13"/>
                </a:solidFill>
                <a:latin typeface="Cambria"/>
                <a:cs typeface="Cambria"/>
              </a:rPr>
              <a:t>Deploying </a:t>
            </a:r>
            <a:r>
              <a:rPr sz="1350" dirty="0">
                <a:solidFill>
                  <a:srgbClr val="274E13"/>
                </a:solidFill>
                <a:latin typeface="Cambria"/>
                <a:cs typeface="Cambria"/>
              </a:rPr>
              <a:t>Explainable</a:t>
            </a:r>
            <a:r>
              <a:rPr sz="1350" spc="-30" dirty="0">
                <a:solidFill>
                  <a:srgbClr val="274E13"/>
                </a:solidFill>
                <a:latin typeface="Cambria"/>
                <a:cs typeface="Cambria"/>
              </a:rPr>
              <a:t> </a:t>
            </a:r>
            <a:r>
              <a:rPr sz="1350" dirty="0">
                <a:solidFill>
                  <a:srgbClr val="274E13"/>
                </a:solidFill>
                <a:latin typeface="Cambria"/>
                <a:cs typeface="Cambria"/>
              </a:rPr>
              <a:t>AI</a:t>
            </a:r>
            <a:r>
              <a:rPr sz="1350" spc="-30" dirty="0">
                <a:solidFill>
                  <a:srgbClr val="274E13"/>
                </a:solidFill>
                <a:latin typeface="Cambria"/>
                <a:cs typeface="Cambria"/>
              </a:rPr>
              <a:t> </a:t>
            </a:r>
            <a:r>
              <a:rPr sz="1350" dirty="0">
                <a:solidFill>
                  <a:srgbClr val="274E13"/>
                </a:solidFill>
                <a:latin typeface="Cambria"/>
                <a:cs typeface="Cambria"/>
              </a:rPr>
              <a:t>to</a:t>
            </a:r>
            <a:r>
              <a:rPr sz="1350" spc="-26" dirty="0">
                <a:solidFill>
                  <a:srgbClr val="274E13"/>
                </a:solidFill>
                <a:latin typeface="Cambria"/>
                <a:cs typeface="Cambria"/>
              </a:rPr>
              <a:t> </a:t>
            </a:r>
            <a:r>
              <a:rPr sz="1350" spc="-19" dirty="0">
                <a:solidFill>
                  <a:srgbClr val="274E13"/>
                </a:solidFill>
                <a:latin typeface="Cambria"/>
                <a:cs typeface="Cambria"/>
              </a:rPr>
              <a:t>the </a:t>
            </a:r>
            <a:r>
              <a:rPr sz="1350" dirty="0">
                <a:solidFill>
                  <a:srgbClr val="274E13"/>
                </a:solidFill>
                <a:latin typeface="Cambria"/>
                <a:cs typeface="Cambria"/>
              </a:rPr>
              <a:t>model</a:t>
            </a:r>
            <a:r>
              <a:rPr sz="1350" spc="-15" dirty="0">
                <a:solidFill>
                  <a:srgbClr val="274E13"/>
                </a:solidFill>
                <a:latin typeface="Cambria"/>
                <a:cs typeface="Cambria"/>
              </a:rPr>
              <a:t> </a:t>
            </a:r>
            <a:r>
              <a:rPr sz="1350" dirty="0">
                <a:solidFill>
                  <a:srgbClr val="274E13"/>
                </a:solidFill>
                <a:latin typeface="Cambria"/>
                <a:cs typeface="Cambria"/>
              </a:rPr>
              <a:t>and</a:t>
            </a:r>
            <a:r>
              <a:rPr sz="1350" spc="-15" dirty="0">
                <a:solidFill>
                  <a:srgbClr val="274E13"/>
                </a:solidFill>
                <a:latin typeface="Cambria"/>
                <a:cs typeface="Cambria"/>
              </a:rPr>
              <a:t> </a:t>
            </a:r>
            <a:r>
              <a:rPr sz="1350" spc="-8" dirty="0">
                <a:solidFill>
                  <a:srgbClr val="274E13"/>
                </a:solidFill>
                <a:latin typeface="Cambria"/>
                <a:cs typeface="Cambria"/>
              </a:rPr>
              <a:t>Testing</a:t>
            </a:r>
            <a:endParaRPr sz="1350">
              <a:latin typeface="Cambria"/>
              <a:cs typeface="Cambria"/>
            </a:endParaRPr>
          </a:p>
        </p:txBody>
      </p:sp>
      <p:sp>
        <p:nvSpPr>
          <p:cNvPr id="21" name="object 21"/>
          <p:cNvSpPr txBox="1"/>
          <p:nvPr/>
        </p:nvSpPr>
        <p:spPr>
          <a:xfrm>
            <a:off x="7253362" y="3962288"/>
            <a:ext cx="1393984" cy="473206"/>
          </a:xfrm>
          <a:prstGeom prst="rect">
            <a:avLst/>
          </a:prstGeom>
          <a:solidFill>
            <a:srgbClr val="F3F3F3"/>
          </a:solidFill>
        </p:spPr>
        <p:txBody>
          <a:bodyPr vert="horz" wrap="square" lIns="0" tIns="57150" rIns="0" bIns="0" rtlCol="0">
            <a:spAutoFit/>
          </a:bodyPr>
          <a:lstStyle/>
          <a:p>
            <a:pPr marL="374809">
              <a:spcBef>
                <a:spcPts val="450"/>
              </a:spcBef>
            </a:pPr>
            <a:r>
              <a:rPr sz="1350" b="1" dirty="0">
                <a:solidFill>
                  <a:srgbClr val="274E13"/>
                </a:solidFill>
                <a:latin typeface="Cambria"/>
                <a:cs typeface="Cambria"/>
              </a:rPr>
              <a:t>IPR,</a:t>
            </a:r>
            <a:r>
              <a:rPr sz="1350" b="1" spc="-15" dirty="0">
                <a:solidFill>
                  <a:srgbClr val="274E13"/>
                </a:solidFill>
                <a:latin typeface="Cambria"/>
                <a:cs typeface="Cambria"/>
              </a:rPr>
              <a:t> </a:t>
            </a:r>
            <a:r>
              <a:rPr sz="1350" b="1" spc="-19" dirty="0">
                <a:solidFill>
                  <a:srgbClr val="274E13"/>
                </a:solidFill>
                <a:latin typeface="Cambria"/>
                <a:cs typeface="Cambria"/>
              </a:rPr>
              <a:t>ToT</a:t>
            </a:r>
            <a:endParaRPr sz="1350">
              <a:latin typeface="Cambria"/>
              <a:cs typeface="Cambria"/>
            </a:endParaRPr>
          </a:p>
          <a:p>
            <a:pPr marL="334328"/>
            <a:r>
              <a:rPr sz="1350" b="1" spc="-15" dirty="0">
                <a:solidFill>
                  <a:srgbClr val="274E13"/>
                </a:solidFill>
                <a:latin typeface="Cambria"/>
                <a:cs typeface="Cambria"/>
              </a:rPr>
              <a:t>Start-</a:t>
            </a:r>
            <a:r>
              <a:rPr sz="1350" b="1" spc="-19" dirty="0">
                <a:solidFill>
                  <a:srgbClr val="274E13"/>
                </a:solidFill>
                <a:latin typeface="Cambria"/>
                <a:cs typeface="Cambria"/>
              </a:rPr>
              <a:t>Ups</a:t>
            </a:r>
            <a:endParaRPr sz="1350">
              <a:latin typeface="Cambria"/>
              <a:cs typeface="Cambria"/>
            </a:endParaRPr>
          </a:p>
        </p:txBody>
      </p:sp>
      <p:sp>
        <p:nvSpPr>
          <p:cNvPr id="22" name="object 22"/>
          <p:cNvSpPr txBox="1"/>
          <p:nvPr/>
        </p:nvSpPr>
        <p:spPr>
          <a:xfrm>
            <a:off x="7372079" y="4516462"/>
            <a:ext cx="1274921" cy="428002"/>
          </a:xfrm>
          <a:prstGeom prst="rect">
            <a:avLst/>
          </a:prstGeom>
          <a:solidFill>
            <a:srgbClr val="ED4444"/>
          </a:solidFill>
        </p:spPr>
        <p:txBody>
          <a:bodyPr vert="horz" wrap="square" lIns="0" tIns="58103" rIns="0" bIns="0" rtlCol="0">
            <a:spAutoFit/>
          </a:bodyPr>
          <a:lstStyle/>
          <a:p>
            <a:pPr marL="271463" marR="64294" indent="-201930">
              <a:spcBef>
                <a:spcPts val="458"/>
              </a:spcBef>
            </a:pPr>
            <a:r>
              <a:rPr sz="1200" b="1" spc="-8" dirty="0">
                <a:solidFill>
                  <a:srgbClr val="FFFFFF"/>
                </a:solidFill>
                <a:latin typeface="Cambria"/>
                <a:cs typeface="Cambria"/>
              </a:rPr>
              <a:t>Entrepreneurial Ecosystem</a:t>
            </a:r>
            <a:endParaRPr sz="1200">
              <a:latin typeface="Cambria"/>
              <a:cs typeface="Cambria"/>
            </a:endParaRPr>
          </a:p>
        </p:txBody>
      </p:sp>
      <p:sp>
        <p:nvSpPr>
          <p:cNvPr id="23" name="object 23"/>
          <p:cNvSpPr txBox="1"/>
          <p:nvPr/>
        </p:nvSpPr>
        <p:spPr>
          <a:xfrm>
            <a:off x="5111854" y="3442303"/>
            <a:ext cx="1806416" cy="1186863"/>
          </a:xfrm>
          <a:prstGeom prst="rect">
            <a:avLst/>
          </a:prstGeom>
        </p:spPr>
        <p:txBody>
          <a:bodyPr vert="horz" wrap="square" lIns="0" tIns="9525" rIns="0" bIns="0" rtlCol="0">
            <a:spAutoFit/>
          </a:bodyPr>
          <a:lstStyle/>
          <a:p>
            <a:pPr marL="278606" marR="3810" indent="-269558">
              <a:spcBef>
                <a:spcPts val="75"/>
              </a:spcBef>
              <a:buFont typeface="Arial MT"/>
              <a:buChar char="●"/>
              <a:tabLst>
                <a:tab pos="278606" algn="l"/>
              </a:tabLst>
            </a:pPr>
            <a:r>
              <a:rPr sz="1275" spc="-8" dirty="0">
                <a:solidFill>
                  <a:srgbClr val="274E13"/>
                </a:solidFill>
                <a:latin typeface="Cambria"/>
                <a:cs typeface="Cambria"/>
              </a:rPr>
              <a:t>Deploying</a:t>
            </a:r>
            <a:r>
              <a:rPr sz="1275" spc="-11" dirty="0">
                <a:solidFill>
                  <a:srgbClr val="274E13"/>
                </a:solidFill>
                <a:latin typeface="Cambria"/>
                <a:cs typeface="Cambria"/>
              </a:rPr>
              <a:t> </a:t>
            </a:r>
            <a:r>
              <a:rPr sz="1275" dirty="0">
                <a:solidFill>
                  <a:srgbClr val="274E13"/>
                </a:solidFill>
                <a:latin typeface="Cambria"/>
                <a:cs typeface="Cambria"/>
              </a:rPr>
              <a:t>the</a:t>
            </a:r>
            <a:r>
              <a:rPr sz="1275" spc="-11" dirty="0">
                <a:solidFill>
                  <a:srgbClr val="274E13"/>
                </a:solidFill>
                <a:latin typeface="Cambria"/>
                <a:cs typeface="Cambria"/>
              </a:rPr>
              <a:t> </a:t>
            </a:r>
            <a:r>
              <a:rPr sz="1275" spc="-8" dirty="0">
                <a:solidFill>
                  <a:srgbClr val="274E13"/>
                </a:solidFill>
                <a:latin typeface="Cambria"/>
                <a:cs typeface="Cambria"/>
              </a:rPr>
              <a:t>project, Monitoring</a:t>
            </a:r>
            <a:r>
              <a:rPr sz="1275" spc="-4" dirty="0">
                <a:solidFill>
                  <a:srgbClr val="274E13"/>
                </a:solidFill>
                <a:latin typeface="Cambria"/>
                <a:cs typeface="Cambria"/>
              </a:rPr>
              <a:t> </a:t>
            </a:r>
            <a:r>
              <a:rPr sz="1275" spc="-19" dirty="0">
                <a:solidFill>
                  <a:srgbClr val="274E13"/>
                </a:solidFill>
                <a:latin typeface="Cambria"/>
                <a:cs typeface="Cambria"/>
              </a:rPr>
              <a:t>and </a:t>
            </a:r>
            <a:r>
              <a:rPr sz="1275" spc="-8" dirty="0">
                <a:solidFill>
                  <a:srgbClr val="274E13"/>
                </a:solidFill>
                <a:latin typeface="Cambria"/>
                <a:cs typeface="Cambria"/>
              </a:rPr>
              <a:t>Evaluation</a:t>
            </a:r>
            <a:endParaRPr sz="1275">
              <a:latin typeface="Cambria"/>
              <a:cs typeface="Cambria"/>
            </a:endParaRPr>
          </a:p>
          <a:p>
            <a:pPr marL="278606" marR="183356" indent="-269558">
              <a:buFont typeface="Arial MT"/>
              <a:buChar char="●"/>
              <a:tabLst>
                <a:tab pos="278606" algn="l"/>
              </a:tabLst>
            </a:pPr>
            <a:r>
              <a:rPr sz="1275" spc="-8" dirty="0">
                <a:solidFill>
                  <a:srgbClr val="274E13"/>
                </a:solidFill>
                <a:latin typeface="Cambria"/>
                <a:cs typeface="Cambria"/>
              </a:rPr>
              <a:t>Entrepreneurial </a:t>
            </a:r>
            <a:r>
              <a:rPr sz="1275" dirty="0">
                <a:solidFill>
                  <a:srgbClr val="274E13"/>
                </a:solidFill>
                <a:latin typeface="Cambria"/>
                <a:cs typeface="Cambria"/>
              </a:rPr>
              <a:t>ecosystem</a:t>
            </a:r>
            <a:r>
              <a:rPr sz="1275" spc="-41" dirty="0">
                <a:solidFill>
                  <a:srgbClr val="274E13"/>
                </a:solidFill>
                <a:latin typeface="Cambria"/>
                <a:cs typeface="Cambria"/>
              </a:rPr>
              <a:t> </a:t>
            </a:r>
            <a:r>
              <a:rPr sz="1275" dirty="0">
                <a:solidFill>
                  <a:srgbClr val="274E13"/>
                </a:solidFill>
                <a:latin typeface="Cambria"/>
                <a:cs typeface="Cambria"/>
              </a:rPr>
              <a:t>and</a:t>
            </a:r>
            <a:r>
              <a:rPr sz="1275" spc="-38" dirty="0">
                <a:solidFill>
                  <a:srgbClr val="274E13"/>
                </a:solidFill>
                <a:latin typeface="Cambria"/>
                <a:cs typeface="Cambria"/>
              </a:rPr>
              <a:t> </a:t>
            </a:r>
            <a:r>
              <a:rPr sz="1275" spc="-8" dirty="0">
                <a:solidFill>
                  <a:srgbClr val="274E13"/>
                </a:solidFill>
                <a:latin typeface="Cambria"/>
                <a:cs typeface="Cambria"/>
              </a:rPr>
              <a:t>skill development</a:t>
            </a:r>
            <a:endParaRPr sz="1275">
              <a:latin typeface="Cambria"/>
              <a:cs typeface="Cambria"/>
            </a:endParaRPr>
          </a:p>
        </p:txBody>
      </p:sp>
    </p:spTree>
    <p:extLst>
      <p:ext uri="{BB962C8B-B14F-4D97-AF65-F5344CB8AC3E}">
        <p14:creationId xmlns:p14="http://schemas.microsoft.com/office/powerpoint/2010/main" val="1012563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4182" y="1230076"/>
            <a:ext cx="8567261" cy="2699861"/>
          </a:xfrm>
          <a:custGeom>
            <a:avLst/>
            <a:gdLst/>
            <a:ahLst/>
            <a:cxnLst/>
            <a:rect l="l" t="t" r="r" b="b"/>
            <a:pathLst>
              <a:path w="11423015" h="3599815">
                <a:moveTo>
                  <a:pt x="11422742" y="3599555"/>
                </a:moveTo>
                <a:lnTo>
                  <a:pt x="0" y="3599555"/>
                </a:lnTo>
                <a:lnTo>
                  <a:pt x="0" y="0"/>
                </a:lnTo>
                <a:lnTo>
                  <a:pt x="11422742" y="0"/>
                </a:lnTo>
                <a:lnTo>
                  <a:pt x="11422742" y="3599555"/>
                </a:lnTo>
                <a:close/>
              </a:path>
            </a:pathLst>
          </a:custGeom>
          <a:solidFill>
            <a:srgbClr val="E7E6E6"/>
          </a:solidFill>
        </p:spPr>
        <p:txBody>
          <a:bodyPr wrap="square" lIns="0" tIns="0" rIns="0" bIns="0" rtlCol="0"/>
          <a:lstStyle/>
          <a:p>
            <a:endParaRPr sz="1050"/>
          </a:p>
        </p:txBody>
      </p:sp>
      <p:sp>
        <p:nvSpPr>
          <p:cNvPr id="3" name="object 3"/>
          <p:cNvSpPr txBox="1"/>
          <p:nvPr/>
        </p:nvSpPr>
        <p:spPr>
          <a:xfrm>
            <a:off x="404873" y="1305464"/>
            <a:ext cx="8336280" cy="1015021"/>
          </a:xfrm>
          <a:prstGeom prst="rect">
            <a:avLst/>
          </a:prstGeom>
        </p:spPr>
        <p:txBody>
          <a:bodyPr vert="horz" wrap="square" lIns="0" tIns="123825" rIns="0" bIns="0" rtlCol="0">
            <a:spAutoFit/>
          </a:bodyPr>
          <a:lstStyle/>
          <a:p>
            <a:pPr marL="366236" indent="-328136">
              <a:spcBef>
                <a:spcPts val="975"/>
              </a:spcBef>
              <a:buAutoNum type="arabicPeriod"/>
              <a:tabLst>
                <a:tab pos="366236" algn="l"/>
              </a:tabLst>
            </a:pPr>
            <a:r>
              <a:rPr lang="en-IN" dirty="0">
                <a:latin typeface="Cambria" panose="02040503050406030204" pitchFamily="18" charset="0"/>
                <a:ea typeface="Cambria" panose="02040503050406030204" pitchFamily="18" charset="0"/>
              </a:rPr>
              <a:t>LSTM-based flood forecasting model for river level </a:t>
            </a:r>
            <a:r>
              <a:rPr lang="en-IN" dirty="0" smtClean="0">
                <a:latin typeface="Cambria" panose="02040503050406030204" pitchFamily="18" charset="0"/>
                <a:ea typeface="Cambria" panose="02040503050406030204" pitchFamily="18" charset="0"/>
              </a:rPr>
              <a:t>prediction</a:t>
            </a:r>
          </a:p>
          <a:p>
            <a:pPr marL="366236" indent="-328136">
              <a:spcBef>
                <a:spcPts val="975"/>
              </a:spcBef>
              <a:buAutoNum type="arabicPeriod"/>
              <a:tabLst>
                <a:tab pos="366236" algn="l"/>
              </a:tabLst>
            </a:pPr>
            <a:endParaRPr dirty="0">
              <a:latin typeface="Cambria" panose="02040503050406030204" pitchFamily="18" charset="0"/>
              <a:ea typeface="Cambria" panose="02040503050406030204" pitchFamily="18" charset="0"/>
              <a:cs typeface="Cambria"/>
            </a:endParaRPr>
          </a:p>
          <a:p>
            <a:pPr marL="408146" indent="-357663">
              <a:spcBef>
                <a:spcPts val="900"/>
              </a:spcBef>
              <a:buAutoNum type="arabicPeriod"/>
              <a:tabLst>
                <a:tab pos="408146" algn="l"/>
              </a:tabLst>
            </a:pPr>
            <a:r>
              <a:rPr spc="-8" dirty="0" smtClean="0">
                <a:latin typeface="Cambria" panose="02040503050406030204" pitchFamily="18" charset="0"/>
                <a:ea typeface="Cambria" panose="02040503050406030204" pitchFamily="18" charset="0"/>
                <a:cs typeface="Cambria"/>
              </a:rPr>
              <a:t>Integrated</a:t>
            </a:r>
            <a:r>
              <a:rPr spc="-38" dirty="0" smtClean="0">
                <a:latin typeface="Cambria" panose="02040503050406030204" pitchFamily="18" charset="0"/>
                <a:ea typeface="Cambria" panose="02040503050406030204" pitchFamily="18" charset="0"/>
                <a:cs typeface="Cambria"/>
              </a:rPr>
              <a:t> </a:t>
            </a:r>
            <a:r>
              <a:rPr dirty="0">
                <a:latin typeface="Cambria" panose="02040503050406030204" pitchFamily="18" charset="0"/>
                <a:ea typeface="Cambria" panose="02040503050406030204" pitchFamily="18" charset="0"/>
                <a:cs typeface="Cambria"/>
              </a:rPr>
              <a:t>machine</a:t>
            </a:r>
            <a:r>
              <a:rPr spc="-34" dirty="0">
                <a:latin typeface="Cambria" panose="02040503050406030204" pitchFamily="18" charset="0"/>
                <a:ea typeface="Cambria" panose="02040503050406030204" pitchFamily="18" charset="0"/>
                <a:cs typeface="Cambria"/>
              </a:rPr>
              <a:t> </a:t>
            </a:r>
            <a:r>
              <a:rPr dirty="0">
                <a:latin typeface="Cambria" panose="02040503050406030204" pitchFamily="18" charset="0"/>
                <a:ea typeface="Cambria" panose="02040503050406030204" pitchFamily="18" charset="0"/>
                <a:cs typeface="Cambria"/>
              </a:rPr>
              <a:t>learning</a:t>
            </a:r>
            <a:r>
              <a:rPr spc="-34" dirty="0">
                <a:latin typeface="Cambria" panose="02040503050406030204" pitchFamily="18" charset="0"/>
                <a:ea typeface="Cambria" panose="02040503050406030204" pitchFamily="18" charset="0"/>
                <a:cs typeface="Cambria"/>
              </a:rPr>
              <a:t> </a:t>
            </a:r>
            <a:r>
              <a:rPr dirty="0">
                <a:latin typeface="Cambria" panose="02040503050406030204" pitchFamily="18" charset="0"/>
                <a:ea typeface="Cambria" panose="02040503050406030204" pitchFamily="18" charset="0"/>
                <a:cs typeface="Cambria"/>
              </a:rPr>
              <a:t>techniques</a:t>
            </a:r>
            <a:r>
              <a:rPr spc="-34" dirty="0">
                <a:latin typeface="Cambria" panose="02040503050406030204" pitchFamily="18" charset="0"/>
                <a:ea typeface="Cambria" panose="02040503050406030204" pitchFamily="18" charset="0"/>
                <a:cs typeface="Cambria"/>
              </a:rPr>
              <a:t> </a:t>
            </a:r>
            <a:r>
              <a:rPr dirty="0">
                <a:latin typeface="Cambria" panose="02040503050406030204" pitchFamily="18" charset="0"/>
                <a:ea typeface="Cambria" panose="02040503050406030204" pitchFamily="18" charset="0"/>
                <a:cs typeface="Cambria"/>
              </a:rPr>
              <a:t>to</a:t>
            </a:r>
            <a:r>
              <a:rPr spc="-23"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forecast</a:t>
            </a:r>
            <a:r>
              <a:rPr b="1" spc="-34" dirty="0">
                <a:latin typeface="Cambria" panose="02040503050406030204" pitchFamily="18" charset="0"/>
                <a:ea typeface="Cambria" panose="02040503050406030204" pitchFamily="18" charset="0"/>
                <a:cs typeface="Cambria"/>
              </a:rPr>
              <a:t> </a:t>
            </a:r>
            <a:r>
              <a:rPr b="1" spc="-15" dirty="0">
                <a:latin typeface="Cambria" panose="02040503050406030204" pitchFamily="18" charset="0"/>
                <a:ea typeface="Cambria" panose="02040503050406030204" pitchFamily="18" charset="0"/>
                <a:cs typeface="Cambria"/>
              </a:rPr>
              <a:t>AQI</a:t>
            </a:r>
            <a:r>
              <a:rPr b="1" spc="-15" dirty="0" smtClean="0">
                <a:latin typeface="Cambria" panose="02040503050406030204" pitchFamily="18" charset="0"/>
                <a:ea typeface="Cambria" panose="02040503050406030204" pitchFamily="18" charset="0"/>
                <a:cs typeface="Cambria"/>
              </a:rPr>
              <a:t>.</a:t>
            </a:r>
            <a:endParaRPr dirty="0">
              <a:latin typeface="Cambria" panose="02040503050406030204" pitchFamily="18" charset="0"/>
              <a:ea typeface="Cambria" panose="02040503050406030204" pitchFamily="18" charset="0"/>
              <a:cs typeface="Cambria"/>
            </a:endParaRPr>
          </a:p>
        </p:txBody>
      </p:sp>
      <p:sp>
        <p:nvSpPr>
          <p:cNvPr id="4" name="object 4"/>
          <p:cNvSpPr txBox="1"/>
          <p:nvPr/>
        </p:nvSpPr>
        <p:spPr>
          <a:xfrm>
            <a:off x="8221675" y="4859597"/>
            <a:ext cx="58103" cy="115416"/>
          </a:xfrm>
          <a:prstGeom prst="rect">
            <a:avLst/>
          </a:prstGeom>
        </p:spPr>
        <p:txBody>
          <a:bodyPr vert="horz" wrap="square" lIns="0" tIns="0" rIns="0" bIns="0" rtlCol="0">
            <a:spAutoFit/>
          </a:bodyPr>
          <a:lstStyle/>
          <a:p>
            <a:pPr>
              <a:lnSpc>
                <a:spcPts val="855"/>
              </a:lnSpc>
            </a:pPr>
            <a:r>
              <a:rPr sz="900" spc="-45" dirty="0">
                <a:solidFill>
                  <a:srgbClr val="888888"/>
                </a:solidFill>
                <a:latin typeface="Calibri"/>
                <a:cs typeface="Calibri"/>
              </a:rPr>
              <a:t>9</a:t>
            </a:r>
            <a:endParaRPr sz="900">
              <a:latin typeface="Calibri"/>
              <a:cs typeface="Calibri"/>
            </a:endParaRPr>
          </a:p>
        </p:txBody>
      </p:sp>
      <p:sp>
        <p:nvSpPr>
          <p:cNvPr id="5" name="object 5"/>
          <p:cNvSpPr/>
          <p:nvPr/>
        </p:nvSpPr>
        <p:spPr>
          <a:xfrm>
            <a:off x="364179" y="704012"/>
            <a:ext cx="2422684" cy="735330"/>
          </a:xfrm>
          <a:custGeom>
            <a:avLst/>
            <a:gdLst/>
            <a:ahLst/>
            <a:cxnLst/>
            <a:rect l="l" t="t" r="r" b="b"/>
            <a:pathLst>
              <a:path w="3230245" h="980439">
                <a:moveTo>
                  <a:pt x="3230080" y="0"/>
                </a:moveTo>
                <a:lnTo>
                  <a:pt x="1109687" y="0"/>
                </a:lnTo>
                <a:lnTo>
                  <a:pt x="0" y="0"/>
                </a:lnTo>
                <a:lnTo>
                  <a:pt x="0" y="679373"/>
                </a:lnTo>
                <a:lnTo>
                  <a:pt x="642607" y="679373"/>
                </a:lnTo>
                <a:lnTo>
                  <a:pt x="657440" y="711225"/>
                </a:lnTo>
                <a:lnTo>
                  <a:pt x="680123" y="750023"/>
                </a:lnTo>
                <a:lnTo>
                  <a:pt x="706247" y="786511"/>
                </a:lnTo>
                <a:lnTo>
                  <a:pt x="735584" y="820508"/>
                </a:lnTo>
                <a:lnTo>
                  <a:pt x="767943" y="851801"/>
                </a:lnTo>
                <a:lnTo>
                  <a:pt x="803097" y="880173"/>
                </a:lnTo>
                <a:lnTo>
                  <a:pt x="840828" y="905433"/>
                </a:lnTo>
                <a:lnTo>
                  <a:pt x="880948" y="927366"/>
                </a:lnTo>
                <a:lnTo>
                  <a:pt x="923226" y="945781"/>
                </a:lnTo>
                <a:lnTo>
                  <a:pt x="967447" y="960450"/>
                </a:lnTo>
                <a:lnTo>
                  <a:pt x="1013409" y="971194"/>
                </a:lnTo>
                <a:lnTo>
                  <a:pt x="1060894" y="977785"/>
                </a:lnTo>
                <a:lnTo>
                  <a:pt x="1109687" y="980020"/>
                </a:lnTo>
                <a:lnTo>
                  <a:pt x="1158494" y="977785"/>
                </a:lnTo>
                <a:lnTo>
                  <a:pt x="1205979" y="971194"/>
                </a:lnTo>
                <a:lnTo>
                  <a:pt x="1251940" y="960450"/>
                </a:lnTo>
                <a:lnTo>
                  <a:pt x="1296162" y="945781"/>
                </a:lnTo>
                <a:lnTo>
                  <a:pt x="1338440" y="927366"/>
                </a:lnTo>
                <a:lnTo>
                  <a:pt x="1378546" y="905433"/>
                </a:lnTo>
                <a:lnTo>
                  <a:pt x="1416291" y="880173"/>
                </a:lnTo>
                <a:lnTo>
                  <a:pt x="1451444" y="851801"/>
                </a:lnTo>
                <a:lnTo>
                  <a:pt x="1483791" y="820508"/>
                </a:lnTo>
                <a:lnTo>
                  <a:pt x="1513141" y="786511"/>
                </a:lnTo>
                <a:lnTo>
                  <a:pt x="1539252" y="750023"/>
                </a:lnTo>
                <a:lnTo>
                  <a:pt x="1561934" y="711225"/>
                </a:lnTo>
                <a:lnTo>
                  <a:pt x="1576755" y="679373"/>
                </a:lnTo>
                <a:lnTo>
                  <a:pt x="3230080" y="679373"/>
                </a:lnTo>
                <a:lnTo>
                  <a:pt x="3230080" y="0"/>
                </a:lnTo>
                <a:close/>
              </a:path>
            </a:pathLst>
          </a:custGeom>
          <a:solidFill>
            <a:srgbClr val="42C1C9"/>
          </a:solidFill>
        </p:spPr>
        <p:txBody>
          <a:bodyPr wrap="square" lIns="0" tIns="0" rIns="0" bIns="0" rtlCol="0"/>
          <a:lstStyle/>
          <a:p>
            <a:endParaRPr sz="1050"/>
          </a:p>
        </p:txBody>
      </p:sp>
      <p:sp>
        <p:nvSpPr>
          <p:cNvPr id="6" name="object 6"/>
          <p:cNvSpPr txBox="1">
            <a:spLocks noGrp="1"/>
          </p:cNvSpPr>
          <p:nvPr>
            <p:ph type="title"/>
          </p:nvPr>
        </p:nvSpPr>
        <p:spPr>
          <a:xfrm>
            <a:off x="307388" y="209126"/>
            <a:ext cx="2487930" cy="368691"/>
          </a:xfrm>
          <a:prstGeom prst="rect">
            <a:avLst/>
          </a:prstGeom>
        </p:spPr>
        <p:txBody>
          <a:bodyPr spcFirstLastPara="1" vert="horz" wrap="square" lIns="0" tIns="9525" rIns="0" bIns="0" rtlCol="0" anchor="t" anchorCtr="0">
            <a:spAutoFit/>
          </a:bodyPr>
          <a:lstStyle/>
          <a:p>
            <a:pPr marL="9525">
              <a:spcBef>
                <a:spcPts val="75"/>
              </a:spcBef>
            </a:pPr>
            <a:r>
              <a:rPr sz="2250" spc="-26" dirty="0">
                <a:solidFill>
                  <a:srgbClr val="A71901"/>
                </a:solidFill>
                <a:latin typeface="Cambria"/>
                <a:cs typeface="Cambria"/>
              </a:rPr>
              <a:t>Technical</a:t>
            </a:r>
            <a:r>
              <a:rPr sz="2250" spc="-68" dirty="0">
                <a:solidFill>
                  <a:srgbClr val="A71901"/>
                </a:solidFill>
                <a:latin typeface="Cambria"/>
                <a:cs typeface="Cambria"/>
              </a:rPr>
              <a:t> </a:t>
            </a:r>
            <a:r>
              <a:rPr sz="2250" spc="-8" dirty="0">
                <a:solidFill>
                  <a:srgbClr val="A71901"/>
                </a:solidFill>
                <a:latin typeface="Cambria"/>
                <a:cs typeface="Cambria"/>
              </a:rPr>
              <a:t>Progress</a:t>
            </a:r>
            <a:endParaRPr sz="2250">
              <a:latin typeface="Cambria"/>
              <a:cs typeface="Cambria"/>
            </a:endParaRPr>
          </a:p>
        </p:txBody>
      </p:sp>
      <p:sp>
        <p:nvSpPr>
          <p:cNvPr id="7" name="object 7"/>
          <p:cNvSpPr/>
          <p:nvPr/>
        </p:nvSpPr>
        <p:spPr>
          <a:xfrm>
            <a:off x="0" y="107156"/>
            <a:ext cx="191928" cy="4835843"/>
          </a:xfrm>
          <a:custGeom>
            <a:avLst/>
            <a:gdLst/>
            <a:ahLst/>
            <a:cxnLst/>
            <a:rect l="l" t="t" r="r" b="b"/>
            <a:pathLst>
              <a:path w="255904" h="6447790">
                <a:moveTo>
                  <a:pt x="255899" y="6447299"/>
                </a:moveTo>
                <a:lnTo>
                  <a:pt x="0" y="6447299"/>
                </a:lnTo>
                <a:lnTo>
                  <a:pt x="0" y="0"/>
                </a:lnTo>
                <a:lnTo>
                  <a:pt x="255899" y="0"/>
                </a:lnTo>
                <a:lnTo>
                  <a:pt x="255899" y="6447299"/>
                </a:lnTo>
                <a:close/>
              </a:path>
            </a:pathLst>
          </a:custGeom>
          <a:solidFill>
            <a:srgbClr val="A71901"/>
          </a:solidFill>
        </p:spPr>
        <p:txBody>
          <a:bodyPr wrap="square" lIns="0" tIns="0" rIns="0" bIns="0" rtlCol="0"/>
          <a:lstStyle/>
          <a:p>
            <a:endParaRPr sz="1050"/>
          </a:p>
        </p:txBody>
      </p:sp>
      <p:sp>
        <p:nvSpPr>
          <p:cNvPr id="8" name="object 8"/>
          <p:cNvSpPr txBox="1"/>
          <p:nvPr/>
        </p:nvSpPr>
        <p:spPr>
          <a:xfrm>
            <a:off x="675254" y="710159"/>
            <a:ext cx="1355408" cy="367408"/>
          </a:xfrm>
          <a:prstGeom prst="rect">
            <a:avLst/>
          </a:prstGeom>
        </p:spPr>
        <p:txBody>
          <a:bodyPr vert="horz" wrap="square" lIns="0" tIns="9525" rIns="0" bIns="0" rtlCol="0">
            <a:spAutoFit/>
          </a:bodyPr>
          <a:lstStyle/>
          <a:p>
            <a:pPr marL="9525">
              <a:spcBef>
                <a:spcPts val="75"/>
              </a:spcBef>
            </a:pPr>
            <a:r>
              <a:rPr sz="2325" b="1" spc="-8" dirty="0">
                <a:solidFill>
                  <a:srgbClr val="FFFFFF"/>
                </a:solidFill>
                <a:latin typeface="Cambria"/>
                <a:cs typeface="Cambria"/>
              </a:rPr>
              <a:t>Processes</a:t>
            </a:r>
            <a:endParaRPr sz="2325">
              <a:latin typeface="Cambria"/>
              <a:cs typeface="Cambria"/>
            </a:endParaRPr>
          </a:p>
        </p:txBody>
      </p:sp>
    </p:spTree>
    <p:extLst>
      <p:ext uri="{BB962C8B-B14F-4D97-AF65-F5344CB8AC3E}">
        <p14:creationId xmlns:p14="http://schemas.microsoft.com/office/powerpoint/2010/main" val="3164780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4182" y="963588"/>
            <a:ext cx="8567261" cy="2938939"/>
          </a:xfrm>
          <a:custGeom>
            <a:avLst/>
            <a:gdLst/>
            <a:ahLst/>
            <a:cxnLst/>
            <a:rect l="l" t="t" r="r" b="b"/>
            <a:pathLst>
              <a:path w="11423015" h="3918585">
                <a:moveTo>
                  <a:pt x="11422742" y="3918590"/>
                </a:moveTo>
                <a:lnTo>
                  <a:pt x="0" y="3918590"/>
                </a:lnTo>
                <a:lnTo>
                  <a:pt x="0" y="0"/>
                </a:lnTo>
                <a:lnTo>
                  <a:pt x="11422742" y="0"/>
                </a:lnTo>
                <a:lnTo>
                  <a:pt x="11422742" y="3918590"/>
                </a:lnTo>
                <a:close/>
              </a:path>
            </a:pathLst>
          </a:custGeom>
          <a:solidFill>
            <a:srgbClr val="E7E6E6"/>
          </a:solidFill>
        </p:spPr>
        <p:txBody>
          <a:bodyPr wrap="square" lIns="0" tIns="0" rIns="0" bIns="0" rtlCol="0"/>
          <a:lstStyle/>
          <a:p>
            <a:endParaRPr sz="1050"/>
          </a:p>
        </p:txBody>
      </p:sp>
      <p:sp>
        <p:nvSpPr>
          <p:cNvPr id="3" name="object 3"/>
          <p:cNvSpPr txBox="1"/>
          <p:nvPr/>
        </p:nvSpPr>
        <p:spPr>
          <a:xfrm>
            <a:off x="458786" y="1463377"/>
            <a:ext cx="8279130" cy="1878848"/>
          </a:xfrm>
          <a:prstGeom prst="rect">
            <a:avLst/>
          </a:prstGeom>
        </p:spPr>
        <p:txBody>
          <a:bodyPr vert="horz" wrap="square" lIns="0" tIns="9525" rIns="0" bIns="0" rtlCol="0">
            <a:spAutoFit/>
          </a:bodyPr>
          <a:lstStyle/>
          <a:p>
            <a:pPr marL="325279" marR="3810" indent="-316230">
              <a:lnSpc>
                <a:spcPct val="114999"/>
              </a:lnSpc>
              <a:spcBef>
                <a:spcPts val="75"/>
              </a:spcBef>
              <a:buAutoNum type="arabicPeriod"/>
              <a:tabLst>
                <a:tab pos="325279" algn="l"/>
              </a:tabLst>
            </a:pPr>
            <a:r>
              <a:rPr dirty="0">
                <a:latin typeface="Cambria" panose="02040503050406030204" pitchFamily="18" charset="0"/>
                <a:ea typeface="Cambria" panose="02040503050406030204" pitchFamily="18" charset="0"/>
                <a:cs typeface="Cambria"/>
              </a:rPr>
              <a:t>Deployed</a:t>
            </a:r>
            <a:r>
              <a:rPr spc="19"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2</a:t>
            </a:r>
            <a:r>
              <a:rPr b="1" spc="15"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AQM</a:t>
            </a:r>
            <a:r>
              <a:rPr b="1" spc="15"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stations</a:t>
            </a:r>
            <a:r>
              <a:rPr b="1" spc="11" dirty="0">
                <a:latin typeface="Cambria" panose="02040503050406030204" pitchFamily="18" charset="0"/>
                <a:ea typeface="Cambria" panose="02040503050406030204" pitchFamily="18" charset="0"/>
                <a:cs typeface="Cambria"/>
              </a:rPr>
              <a:t> </a:t>
            </a:r>
            <a:r>
              <a:rPr lang="en-IN" b="1" spc="11" dirty="0" smtClean="0">
                <a:latin typeface="Cambria" panose="02040503050406030204" pitchFamily="18" charset="0"/>
                <a:ea typeface="Cambria" panose="02040503050406030204" pitchFamily="18" charset="0"/>
                <a:cs typeface="Cambria"/>
              </a:rPr>
              <a:t>(v2&amp;v3)</a:t>
            </a:r>
            <a:r>
              <a:rPr b="1" dirty="0" smtClean="0">
                <a:latin typeface="Cambria" panose="02040503050406030204" pitchFamily="18" charset="0"/>
                <a:ea typeface="Cambria" panose="02040503050406030204" pitchFamily="18" charset="0"/>
                <a:cs typeface="Cambria"/>
              </a:rPr>
              <a:t>,</a:t>
            </a:r>
            <a:r>
              <a:rPr b="1" spc="15" dirty="0" smtClean="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capable</a:t>
            </a:r>
            <a:r>
              <a:rPr b="1" spc="11"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of</a:t>
            </a:r>
            <a:r>
              <a:rPr b="1" spc="15"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sensing</a:t>
            </a:r>
            <a:r>
              <a:rPr b="1" spc="19"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PM2.5,</a:t>
            </a:r>
            <a:r>
              <a:rPr b="1" spc="11"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PM10,</a:t>
            </a:r>
            <a:r>
              <a:rPr b="1" spc="11"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SO2,</a:t>
            </a:r>
            <a:r>
              <a:rPr b="1" spc="11"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NH3,</a:t>
            </a:r>
            <a:r>
              <a:rPr b="1" spc="15"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CO,</a:t>
            </a:r>
            <a:r>
              <a:rPr b="1" spc="11"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O3,</a:t>
            </a:r>
            <a:r>
              <a:rPr b="1" spc="11" dirty="0">
                <a:latin typeface="Cambria" panose="02040503050406030204" pitchFamily="18" charset="0"/>
                <a:ea typeface="Cambria" panose="02040503050406030204" pitchFamily="18" charset="0"/>
                <a:cs typeface="Cambria"/>
              </a:rPr>
              <a:t> </a:t>
            </a:r>
            <a:r>
              <a:rPr b="1" dirty="0">
                <a:latin typeface="Cambria" panose="02040503050406030204" pitchFamily="18" charset="0"/>
                <a:ea typeface="Cambria" panose="02040503050406030204" pitchFamily="18" charset="0"/>
                <a:cs typeface="Cambria"/>
              </a:rPr>
              <a:t>NO2</a:t>
            </a:r>
            <a:r>
              <a:rPr dirty="0">
                <a:latin typeface="Cambria" panose="02040503050406030204" pitchFamily="18" charset="0"/>
                <a:ea typeface="Cambria" panose="02040503050406030204" pitchFamily="18" charset="0"/>
                <a:cs typeface="Cambria"/>
              </a:rPr>
              <a:t>,</a:t>
            </a:r>
            <a:r>
              <a:rPr spc="19" dirty="0">
                <a:latin typeface="Cambria" panose="02040503050406030204" pitchFamily="18" charset="0"/>
                <a:ea typeface="Cambria" panose="02040503050406030204" pitchFamily="18" charset="0"/>
                <a:cs typeface="Cambria"/>
              </a:rPr>
              <a:t> </a:t>
            </a:r>
            <a:r>
              <a:rPr spc="-8" dirty="0">
                <a:latin typeface="Cambria" panose="02040503050406030204" pitchFamily="18" charset="0"/>
                <a:ea typeface="Cambria" panose="02040503050406030204" pitchFamily="18" charset="0"/>
                <a:cs typeface="Cambria"/>
              </a:rPr>
              <a:t>Pressure, </a:t>
            </a:r>
            <a:r>
              <a:rPr spc="-19" dirty="0">
                <a:latin typeface="Cambria" panose="02040503050406030204" pitchFamily="18" charset="0"/>
                <a:ea typeface="Cambria" panose="02040503050406030204" pitchFamily="18" charset="0"/>
                <a:cs typeface="Cambria"/>
              </a:rPr>
              <a:t>Temperature</a:t>
            </a:r>
            <a:r>
              <a:rPr spc="-11" dirty="0">
                <a:latin typeface="Cambria" panose="02040503050406030204" pitchFamily="18" charset="0"/>
                <a:ea typeface="Cambria" panose="02040503050406030204" pitchFamily="18" charset="0"/>
                <a:cs typeface="Cambria"/>
              </a:rPr>
              <a:t> </a:t>
            </a:r>
            <a:r>
              <a:rPr dirty="0">
                <a:latin typeface="Cambria" panose="02040503050406030204" pitchFamily="18" charset="0"/>
                <a:ea typeface="Cambria" panose="02040503050406030204" pitchFamily="18" charset="0"/>
                <a:cs typeface="Cambria"/>
              </a:rPr>
              <a:t>and</a:t>
            </a:r>
            <a:r>
              <a:rPr spc="-11" dirty="0">
                <a:latin typeface="Cambria" panose="02040503050406030204" pitchFamily="18" charset="0"/>
                <a:ea typeface="Cambria" panose="02040503050406030204" pitchFamily="18" charset="0"/>
                <a:cs typeface="Cambria"/>
              </a:rPr>
              <a:t> </a:t>
            </a:r>
            <a:r>
              <a:rPr spc="-8" dirty="0">
                <a:latin typeface="Cambria" panose="02040503050406030204" pitchFamily="18" charset="0"/>
                <a:ea typeface="Cambria" panose="02040503050406030204" pitchFamily="18" charset="0"/>
                <a:cs typeface="Cambria"/>
              </a:rPr>
              <a:t>Humidity</a:t>
            </a:r>
            <a:r>
              <a:rPr spc="-8" dirty="0" smtClean="0">
                <a:latin typeface="Cambria" panose="02040503050406030204" pitchFamily="18" charset="0"/>
                <a:ea typeface="Cambria" panose="02040503050406030204" pitchFamily="18" charset="0"/>
                <a:cs typeface="Cambria"/>
              </a:rPr>
              <a:t>.</a:t>
            </a:r>
            <a:endParaRPr lang="en-IN" spc="-8" dirty="0" smtClean="0">
              <a:latin typeface="Cambria" panose="02040503050406030204" pitchFamily="18" charset="0"/>
              <a:ea typeface="Cambria" panose="02040503050406030204" pitchFamily="18" charset="0"/>
              <a:cs typeface="Cambria"/>
            </a:endParaRPr>
          </a:p>
          <a:p>
            <a:pPr marL="325279" marR="3810" indent="-316230">
              <a:lnSpc>
                <a:spcPct val="114999"/>
              </a:lnSpc>
              <a:spcBef>
                <a:spcPts val="75"/>
              </a:spcBef>
              <a:buAutoNum type="arabicPeriod"/>
              <a:tabLst>
                <a:tab pos="325279" algn="l"/>
              </a:tabLst>
            </a:pPr>
            <a:r>
              <a:rPr lang="en-IN" dirty="0">
                <a:latin typeface="Cambria" panose="02040503050406030204" pitchFamily="18" charset="0"/>
                <a:ea typeface="Cambria" panose="02040503050406030204" pitchFamily="18" charset="0"/>
              </a:rPr>
              <a:t>Web-based application for real-time AQI monitoring and health risk </a:t>
            </a:r>
            <a:r>
              <a:rPr lang="en-IN" dirty="0" smtClean="0">
                <a:latin typeface="Cambria" panose="02040503050406030204" pitchFamily="18" charset="0"/>
                <a:ea typeface="Cambria" panose="02040503050406030204" pitchFamily="18" charset="0"/>
              </a:rPr>
              <a:t>assessment</a:t>
            </a:r>
          </a:p>
          <a:p>
            <a:pPr marL="325279" marR="3810" indent="-316230">
              <a:lnSpc>
                <a:spcPct val="114999"/>
              </a:lnSpc>
              <a:buAutoNum type="arabicPeriod"/>
              <a:tabLst>
                <a:tab pos="325279" algn="l"/>
              </a:tabLst>
            </a:pPr>
            <a:r>
              <a:rPr lang="en-US" dirty="0">
                <a:latin typeface="Cambria" panose="02040503050406030204" pitchFamily="18" charset="0"/>
                <a:ea typeface="Cambria" panose="02040503050406030204" pitchFamily="18" charset="0"/>
              </a:rPr>
              <a:t>Developed Weather Station v1 and a draft web page to showcase key weather </a:t>
            </a:r>
            <a:r>
              <a:rPr lang="en-US" dirty="0" smtClean="0">
                <a:latin typeface="Cambria" panose="02040503050406030204" pitchFamily="18" charset="0"/>
                <a:ea typeface="Cambria" panose="02040503050406030204" pitchFamily="18" charset="0"/>
              </a:rPr>
              <a:t>parameters</a:t>
            </a:r>
          </a:p>
          <a:p>
            <a:pPr marL="9049" marR="3810">
              <a:lnSpc>
                <a:spcPct val="114999"/>
              </a:lnSpc>
              <a:tabLst>
                <a:tab pos="325279" algn="l"/>
              </a:tabLst>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including </a:t>
            </a:r>
            <a:r>
              <a:rPr lang="en-US" dirty="0">
                <a:latin typeface="Cambria" panose="02040503050406030204" pitchFamily="18" charset="0"/>
                <a:ea typeface="Cambria" panose="02040503050406030204" pitchFamily="18" charset="0"/>
              </a:rPr>
              <a:t>rainfall, wind speed, wind direction, temperature, humidity, and pressure</a:t>
            </a:r>
            <a:r>
              <a:rPr lang="en-US" sz="1800" dirty="0">
                <a:latin typeface="Cambria" panose="02040503050406030204" pitchFamily="18" charset="0"/>
                <a:ea typeface="Cambria" panose="02040503050406030204" pitchFamily="18" charset="0"/>
              </a:rPr>
              <a:t>.</a:t>
            </a:r>
          </a:p>
          <a:p>
            <a:pPr marL="9049" marR="3810">
              <a:lnSpc>
                <a:spcPct val="114999"/>
              </a:lnSpc>
              <a:spcBef>
                <a:spcPts val="75"/>
              </a:spcBef>
              <a:tabLst>
                <a:tab pos="325279" algn="l"/>
              </a:tabLst>
            </a:pPr>
            <a:endParaRPr lang="en-IN" dirty="0" smtClean="0"/>
          </a:p>
          <a:p>
            <a:pPr marL="9049" marR="3810">
              <a:lnSpc>
                <a:spcPct val="114999"/>
              </a:lnSpc>
              <a:spcBef>
                <a:spcPts val="75"/>
              </a:spcBef>
              <a:tabLst>
                <a:tab pos="325279" algn="l"/>
              </a:tabLst>
            </a:pPr>
            <a:endParaRPr lang="en-IN" dirty="0" smtClean="0"/>
          </a:p>
        </p:txBody>
      </p:sp>
      <p:sp>
        <p:nvSpPr>
          <p:cNvPr id="4" name="object 4"/>
          <p:cNvSpPr txBox="1"/>
          <p:nvPr/>
        </p:nvSpPr>
        <p:spPr>
          <a:xfrm>
            <a:off x="8163744" y="4859597"/>
            <a:ext cx="115729" cy="115416"/>
          </a:xfrm>
          <a:prstGeom prst="rect">
            <a:avLst/>
          </a:prstGeom>
        </p:spPr>
        <p:txBody>
          <a:bodyPr vert="horz" wrap="square" lIns="0" tIns="0" rIns="0" bIns="0" rtlCol="0">
            <a:spAutoFit/>
          </a:bodyPr>
          <a:lstStyle/>
          <a:p>
            <a:pPr>
              <a:lnSpc>
                <a:spcPts val="855"/>
              </a:lnSpc>
            </a:pPr>
            <a:r>
              <a:rPr sz="900" spc="-23" dirty="0">
                <a:solidFill>
                  <a:srgbClr val="888888"/>
                </a:solidFill>
                <a:latin typeface="Calibri"/>
                <a:cs typeface="Calibri"/>
              </a:rPr>
              <a:t>10</a:t>
            </a:r>
            <a:endParaRPr sz="900">
              <a:latin typeface="Calibri"/>
              <a:cs typeface="Calibri"/>
            </a:endParaRPr>
          </a:p>
        </p:txBody>
      </p:sp>
      <p:sp>
        <p:nvSpPr>
          <p:cNvPr id="5" name="object 5"/>
          <p:cNvSpPr txBox="1">
            <a:spLocks noGrp="1"/>
          </p:cNvSpPr>
          <p:nvPr>
            <p:ph type="title"/>
          </p:nvPr>
        </p:nvSpPr>
        <p:spPr>
          <a:xfrm>
            <a:off x="307388" y="86658"/>
            <a:ext cx="2487930" cy="368691"/>
          </a:xfrm>
          <a:prstGeom prst="rect">
            <a:avLst/>
          </a:prstGeom>
        </p:spPr>
        <p:txBody>
          <a:bodyPr spcFirstLastPara="1" vert="horz" wrap="square" lIns="0" tIns="9525" rIns="0" bIns="0" rtlCol="0" anchor="t" anchorCtr="0">
            <a:spAutoFit/>
          </a:bodyPr>
          <a:lstStyle/>
          <a:p>
            <a:pPr marL="9525">
              <a:spcBef>
                <a:spcPts val="75"/>
              </a:spcBef>
            </a:pPr>
            <a:r>
              <a:rPr sz="2250" spc="-26" dirty="0">
                <a:solidFill>
                  <a:srgbClr val="A71901"/>
                </a:solidFill>
                <a:latin typeface="Cambria"/>
                <a:cs typeface="Cambria"/>
              </a:rPr>
              <a:t>Technical</a:t>
            </a:r>
            <a:r>
              <a:rPr sz="2250" spc="-68" dirty="0">
                <a:solidFill>
                  <a:srgbClr val="A71901"/>
                </a:solidFill>
                <a:latin typeface="Cambria"/>
                <a:cs typeface="Cambria"/>
              </a:rPr>
              <a:t> </a:t>
            </a:r>
            <a:r>
              <a:rPr sz="2250" spc="-8" dirty="0">
                <a:solidFill>
                  <a:srgbClr val="A71901"/>
                </a:solidFill>
                <a:latin typeface="Cambria"/>
                <a:cs typeface="Cambria"/>
              </a:rPr>
              <a:t>Progress</a:t>
            </a:r>
            <a:endParaRPr sz="2250">
              <a:latin typeface="Cambria"/>
              <a:cs typeface="Cambria"/>
            </a:endParaRPr>
          </a:p>
        </p:txBody>
      </p:sp>
      <p:grpSp>
        <p:nvGrpSpPr>
          <p:cNvPr id="6" name="object 6"/>
          <p:cNvGrpSpPr/>
          <p:nvPr/>
        </p:nvGrpSpPr>
        <p:grpSpPr>
          <a:xfrm>
            <a:off x="-3572" y="103585"/>
            <a:ext cx="199073" cy="4842986"/>
            <a:chOff x="-4762" y="138112"/>
            <a:chExt cx="265430" cy="6457315"/>
          </a:xfrm>
        </p:grpSpPr>
        <p:sp>
          <p:nvSpPr>
            <p:cNvPr id="7" name="object 7"/>
            <p:cNvSpPr/>
            <p:nvPr/>
          </p:nvSpPr>
          <p:spPr>
            <a:xfrm>
              <a:off x="0" y="142875"/>
              <a:ext cx="255904" cy="6447790"/>
            </a:xfrm>
            <a:custGeom>
              <a:avLst/>
              <a:gdLst/>
              <a:ahLst/>
              <a:cxnLst/>
              <a:rect l="l" t="t" r="r" b="b"/>
              <a:pathLst>
                <a:path w="255904" h="6447790">
                  <a:moveTo>
                    <a:pt x="255899" y="6447299"/>
                  </a:moveTo>
                  <a:lnTo>
                    <a:pt x="0" y="6447299"/>
                  </a:lnTo>
                  <a:lnTo>
                    <a:pt x="0" y="0"/>
                  </a:lnTo>
                  <a:lnTo>
                    <a:pt x="255899" y="0"/>
                  </a:lnTo>
                  <a:lnTo>
                    <a:pt x="255899" y="6447299"/>
                  </a:lnTo>
                  <a:close/>
                </a:path>
              </a:pathLst>
            </a:custGeom>
            <a:solidFill>
              <a:srgbClr val="A71901"/>
            </a:solidFill>
          </p:spPr>
          <p:txBody>
            <a:bodyPr wrap="square" lIns="0" tIns="0" rIns="0" bIns="0" rtlCol="0"/>
            <a:lstStyle/>
            <a:p>
              <a:endParaRPr sz="1050"/>
            </a:p>
          </p:txBody>
        </p:sp>
        <p:sp>
          <p:nvSpPr>
            <p:cNvPr id="8" name="object 8"/>
            <p:cNvSpPr/>
            <p:nvPr/>
          </p:nvSpPr>
          <p:spPr>
            <a:xfrm>
              <a:off x="0" y="142875"/>
              <a:ext cx="255904" cy="6447790"/>
            </a:xfrm>
            <a:custGeom>
              <a:avLst/>
              <a:gdLst/>
              <a:ahLst/>
              <a:cxnLst/>
              <a:rect l="l" t="t" r="r" b="b"/>
              <a:pathLst>
                <a:path w="255904" h="6447790">
                  <a:moveTo>
                    <a:pt x="0" y="0"/>
                  </a:moveTo>
                  <a:lnTo>
                    <a:pt x="255899" y="0"/>
                  </a:lnTo>
                  <a:lnTo>
                    <a:pt x="255899" y="6447299"/>
                  </a:lnTo>
                  <a:lnTo>
                    <a:pt x="0" y="6447299"/>
                  </a:lnTo>
                  <a:lnTo>
                    <a:pt x="0" y="0"/>
                  </a:lnTo>
                  <a:close/>
                </a:path>
              </a:pathLst>
            </a:custGeom>
            <a:ln w="9524">
              <a:solidFill>
                <a:srgbClr val="FFFFFF"/>
              </a:solidFill>
            </a:ln>
          </p:spPr>
          <p:txBody>
            <a:bodyPr wrap="square" lIns="0" tIns="0" rIns="0" bIns="0" rtlCol="0"/>
            <a:lstStyle/>
            <a:p>
              <a:endParaRPr sz="1050"/>
            </a:p>
          </p:txBody>
        </p:sp>
      </p:grpSp>
      <p:sp>
        <p:nvSpPr>
          <p:cNvPr id="9" name="object 9"/>
          <p:cNvSpPr/>
          <p:nvPr/>
        </p:nvSpPr>
        <p:spPr>
          <a:xfrm>
            <a:off x="364179" y="467239"/>
            <a:ext cx="2422684" cy="735330"/>
          </a:xfrm>
          <a:custGeom>
            <a:avLst/>
            <a:gdLst/>
            <a:ahLst/>
            <a:cxnLst/>
            <a:rect l="l" t="t" r="r" b="b"/>
            <a:pathLst>
              <a:path w="3230245" h="980440">
                <a:moveTo>
                  <a:pt x="3230080" y="0"/>
                </a:moveTo>
                <a:lnTo>
                  <a:pt x="1109687" y="0"/>
                </a:lnTo>
                <a:lnTo>
                  <a:pt x="0" y="0"/>
                </a:lnTo>
                <a:lnTo>
                  <a:pt x="0" y="679373"/>
                </a:lnTo>
                <a:lnTo>
                  <a:pt x="642607" y="679373"/>
                </a:lnTo>
                <a:lnTo>
                  <a:pt x="657440" y="711225"/>
                </a:lnTo>
                <a:lnTo>
                  <a:pt x="680123" y="750023"/>
                </a:lnTo>
                <a:lnTo>
                  <a:pt x="706247" y="786511"/>
                </a:lnTo>
                <a:lnTo>
                  <a:pt x="735584" y="820508"/>
                </a:lnTo>
                <a:lnTo>
                  <a:pt x="767943" y="851801"/>
                </a:lnTo>
                <a:lnTo>
                  <a:pt x="803097" y="880173"/>
                </a:lnTo>
                <a:lnTo>
                  <a:pt x="840828" y="905433"/>
                </a:lnTo>
                <a:lnTo>
                  <a:pt x="880948" y="927366"/>
                </a:lnTo>
                <a:lnTo>
                  <a:pt x="923226" y="945781"/>
                </a:lnTo>
                <a:lnTo>
                  <a:pt x="967447" y="960450"/>
                </a:lnTo>
                <a:lnTo>
                  <a:pt x="1013409" y="971194"/>
                </a:lnTo>
                <a:lnTo>
                  <a:pt x="1060894" y="977785"/>
                </a:lnTo>
                <a:lnTo>
                  <a:pt x="1109687" y="980033"/>
                </a:lnTo>
                <a:lnTo>
                  <a:pt x="1158494" y="977785"/>
                </a:lnTo>
                <a:lnTo>
                  <a:pt x="1205979" y="971194"/>
                </a:lnTo>
                <a:lnTo>
                  <a:pt x="1251940" y="960450"/>
                </a:lnTo>
                <a:lnTo>
                  <a:pt x="1296162" y="945781"/>
                </a:lnTo>
                <a:lnTo>
                  <a:pt x="1338440" y="927366"/>
                </a:lnTo>
                <a:lnTo>
                  <a:pt x="1378546" y="905433"/>
                </a:lnTo>
                <a:lnTo>
                  <a:pt x="1416291" y="880173"/>
                </a:lnTo>
                <a:lnTo>
                  <a:pt x="1451444" y="851801"/>
                </a:lnTo>
                <a:lnTo>
                  <a:pt x="1483791" y="820508"/>
                </a:lnTo>
                <a:lnTo>
                  <a:pt x="1513141" y="786511"/>
                </a:lnTo>
                <a:lnTo>
                  <a:pt x="1539252" y="750023"/>
                </a:lnTo>
                <a:lnTo>
                  <a:pt x="1561934" y="711225"/>
                </a:lnTo>
                <a:lnTo>
                  <a:pt x="1576755" y="679373"/>
                </a:lnTo>
                <a:lnTo>
                  <a:pt x="3230080" y="679373"/>
                </a:lnTo>
                <a:lnTo>
                  <a:pt x="3230080" y="0"/>
                </a:lnTo>
                <a:close/>
              </a:path>
            </a:pathLst>
          </a:custGeom>
          <a:solidFill>
            <a:srgbClr val="C04088"/>
          </a:solidFill>
        </p:spPr>
        <p:txBody>
          <a:bodyPr wrap="square" lIns="0" tIns="0" rIns="0" bIns="0" rtlCol="0"/>
          <a:lstStyle/>
          <a:p>
            <a:endParaRPr sz="1050"/>
          </a:p>
        </p:txBody>
      </p:sp>
      <p:sp>
        <p:nvSpPr>
          <p:cNvPr id="10" name="object 10"/>
          <p:cNvSpPr txBox="1"/>
          <p:nvPr/>
        </p:nvSpPr>
        <p:spPr>
          <a:xfrm>
            <a:off x="675254" y="473389"/>
            <a:ext cx="1233011" cy="367408"/>
          </a:xfrm>
          <a:prstGeom prst="rect">
            <a:avLst/>
          </a:prstGeom>
        </p:spPr>
        <p:txBody>
          <a:bodyPr vert="horz" wrap="square" lIns="0" tIns="9525" rIns="0" bIns="0" rtlCol="0">
            <a:spAutoFit/>
          </a:bodyPr>
          <a:lstStyle/>
          <a:p>
            <a:pPr marL="9525">
              <a:spcBef>
                <a:spcPts val="75"/>
              </a:spcBef>
            </a:pPr>
            <a:r>
              <a:rPr sz="2325" b="1" spc="-8" dirty="0">
                <a:solidFill>
                  <a:srgbClr val="FFFFFF"/>
                </a:solidFill>
                <a:latin typeface="Cambria"/>
                <a:cs typeface="Cambria"/>
              </a:rPr>
              <a:t>Products</a:t>
            </a:r>
            <a:endParaRPr sz="2325">
              <a:latin typeface="Cambria"/>
              <a:cs typeface="Cambria"/>
            </a:endParaRPr>
          </a:p>
        </p:txBody>
      </p:sp>
    </p:spTree>
    <p:extLst>
      <p:ext uri="{BB962C8B-B14F-4D97-AF65-F5344CB8AC3E}">
        <p14:creationId xmlns:p14="http://schemas.microsoft.com/office/powerpoint/2010/main" val="3559454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2375" y="1120425"/>
            <a:ext cx="2486025" cy="3920966"/>
            <a:chOff x="736500" y="1493899"/>
            <a:chExt cx="3314700" cy="5227955"/>
          </a:xfrm>
        </p:grpSpPr>
        <p:sp>
          <p:nvSpPr>
            <p:cNvPr id="3" name="object 3"/>
            <p:cNvSpPr/>
            <p:nvPr/>
          </p:nvSpPr>
          <p:spPr>
            <a:xfrm>
              <a:off x="736500" y="2565855"/>
              <a:ext cx="3314700" cy="1047115"/>
            </a:xfrm>
            <a:custGeom>
              <a:avLst/>
              <a:gdLst/>
              <a:ahLst/>
              <a:cxnLst/>
              <a:rect l="l" t="t" r="r" b="b"/>
              <a:pathLst>
                <a:path w="3314700" h="1047114">
                  <a:moveTo>
                    <a:pt x="2781145" y="1046789"/>
                  </a:moveTo>
                  <a:lnTo>
                    <a:pt x="533212" y="1046789"/>
                  </a:lnTo>
                  <a:lnTo>
                    <a:pt x="484679" y="1044651"/>
                  </a:lnTo>
                  <a:lnTo>
                    <a:pt x="437367" y="1038357"/>
                  </a:lnTo>
                  <a:lnTo>
                    <a:pt x="391463" y="1028093"/>
                  </a:lnTo>
                  <a:lnTo>
                    <a:pt x="347157" y="1014045"/>
                  </a:lnTo>
                  <a:lnTo>
                    <a:pt x="304636" y="996395"/>
                  </a:lnTo>
                  <a:lnTo>
                    <a:pt x="264090" y="975331"/>
                  </a:lnTo>
                  <a:lnTo>
                    <a:pt x="225705" y="951035"/>
                  </a:lnTo>
                  <a:lnTo>
                    <a:pt x="189670" y="923694"/>
                  </a:lnTo>
                  <a:lnTo>
                    <a:pt x="156174" y="893491"/>
                  </a:lnTo>
                  <a:lnTo>
                    <a:pt x="125404" y="860611"/>
                  </a:lnTo>
                  <a:lnTo>
                    <a:pt x="97550" y="825240"/>
                  </a:lnTo>
                  <a:lnTo>
                    <a:pt x="72799" y="787562"/>
                  </a:lnTo>
                  <a:lnTo>
                    <a:pt x="51339" y="747762"/>
                  </a:lnTo>
                  <a:lnTo>
                    <a:pt x="33359" y="706024"/>
                  </a:lnTo>
                  <a:lnTo>
                    <a:pt x="19046" y="662534"/>
                  </a:lnTo>
                  <a:lnTo>
                    <a:pt x="8590" y="617475"/>
                  </a:lnTo>
                  <a:lnTo>
                    <a:pt x="2179" y="571034"/>
                  </a:lnTo>
                  <a:lnTo>
                    <a:pt x="0" y="523394"/>
                  </a:lnTo>
                  <a:lnTo>
                    <a:pt x="2179" y="475755"/>
                  </a:lnTo>
                  <a:lnTo>
                    <a:pt x="8590" y="429314"/>
                  </a:lnTo>
                  <a:lnTo>
                    <a:pt x="19046" y="384255"/>
                  </a:lnTo>
                  <a:lnTo>
                    <a:pt x="33359" y="340765"/>
                  </a:lnTo>
                  <a:lnTo>
                    <a:pt x="51339" y="299027"/>
                  </a:lnTo>
                  <a:lnTo>
                    <a:pt x="72799" y="259227"/>
                  </a:lnTo>
                  <a:lnTo>
                    <a:pt x="97550" y="221549"/>
                  </a:lnTo>
                  <a:lnTo>
                    <a:pt x="125404" y="186178"/>
                  </a:lnTo>
                  <a:lnTo>
                    <a:pt x="156174" y="153298"/>
                  </a:lnTo>
                  <a:lnTo>
                    <a:pt x="189670" y="123095"/>
                  </a:lnTo>
                  <a:lnTo>
                    <a:pt x="225705" y="95754"/>
                  </a:lnTo>
                  <a:lnTo>
                    <a:pt x="264090" y="71458"/>
                  </a:lnTo>
                  <a:lnTo>
                    <a:pt x="304636" y="50394"/>
                  </a:lnTo>
                  <a:lnTo>
                    <a:pt x="347157" y="32744"/>
                  </a:lnTo>
                  <a:lnTo>
                    <a:pt x="391463" y="18696"/>
                  </a:lnTo>
                  <a:lnTo>
                    <a:pt x="437367" y="8432"/>
                  </a:lnTo>
                  <a:lnTo>
                    <a:pt x="484679" y="2138"/>
                  </a:lnTo>
                  <a:lnTo>
                    <a:pt x="533212" y="0"/>
                  </a:lnTo>
                  <a:lnTo>
                    <a:pt x="2781145" y="0"/>
                  </a:lnTo>
                  <a:lnTo>
                    <a:pt x="2829678" y="2138"/>
                  </a:lnTo>
                  <a:lnTo>
                    <a:pt x="2876990" y="8432"/>
                  </a:lnTo>
                  <a:lnTo>
                    <a:pt x="2922894" y="18696"/>
                  </a:lnTo>
                  <a:lnTo>
                    <a:pt x="2967200" y="32744"/>
                  </a:lnTo>
                  <a:lnTo>
                    <a:pt x="3009720" y="50394"/>
                  </a:lnTo>
                  <a:lnTo>
                    <a:pt x="3050267" y="71458"/>
                  </a:lnTo>
                  <a:lnTo>
                    <a:pt x="3088652" y="95754"/>
                  </a:lnTo>
                  <a:lnTo>
                    <a:pt x="3124687" y="123095"/>
                  </a:lnTo>
                  <a:lnTo>
                    <a:pt x="3158183" y="153298"/>
                  </a:lnTo>
                  <a:lnTo>
                    <a:pt x="3188952" y="186178"/>
                  </a:lnTo>
                  <a:lnTo>
                    <a:pt x="3216807" y="221549"/>
                  </a:lnTo>
                  <a:lnTo>
                    <a:pt x="3241558" y="259227"/>
                  </a:lnTo>
                  <a:lnTo>
                    <a:pt x="3263018" y="299027"/>
                  </a:lnTo>
                  <a:lnTo>
                    <a:pt x="3280998" y="340765"/>
                  </a:lnTo>
                  <a:lnTo>
                    <a:pt x="3295310" y="384255"/>
                  </a:lnTo>
                  <a:lnTo>
                    <a:pt x="3305766" y="429314"/>
                  </a:lnTo>
                  <a:lnTo>
                    <a:pt x="3312178" y="475755"/>
                  </a:lnTo>
                  <a:lnTo>
                    <a:pt x="3314357" y="523394"/>
                  </a:lnTo>
                  <a:lnTo>
                    <a:pt x="3312178" y="571034"/>
                  </a:lnTo>
                  <a:lnTo>
                    <a:pt x="3305766" y="617475"/>
                  </a:lnTo>
                  <a:lnTo>
                    <a:pt x="3295310" y="662534"/>
                  </a:lnTo>
                  <a:lnTo>
                    <a:pt x="3280998" y="706024"/>
                  </a:lnTo>
                  <a:lnTo>
                    <a:pt x="3263018" y="747762"/>
                  </a:lnTo>
                  <a:lnTo>
                    <a:pt x="3241558" y="787562"/>
                  </a:lnTo>
                  <a:lnTo>
                    <a:pt x="3216807" y="825240"/>
                  </a:lnTo>
                  <a:lnTo>
                    <a:pt x="3188952" y="860611"/>
                  </a:lnTo>
                  <a:lnTo>
                    <a:pt x="3158183" y="893491"/>
                  </a:lnTo>
                  <a:lnTo>
                    <a:pt x="3124687" y="923694"/>
                  </a:lnTo>
                  <a:lnTo>
                    <a:pt x="3088652" y="951035"/>
                  </a:lnTo>
                  <a:lnTo>
                    <a:pt x="3050267" y="975331"/>
                  </a:lnTo>
                  <a:lnTo>
                    <a:pt x="3009720" y="996395"/>
                  </a:lnTo>
                  <a:lnTo>
                    <a:pt x="2967200" y="1014045"/>
                  </a:lnTo>
                  <a:lnTo>
                    <a:pt x="2922894" y="1028093"/>
                  </a:lnTo>
                  <a:lnTo>
                    <a:pt x="2876990" y="1038357"/>
                  </a:lnTo>
                  <a:lnTo>
                    <a:pt x="2829678" y="1044651"/>
                  </a:lnTo>
                  <a:lnTo>
                    <a:pt x="2781145" y="1046789"/>
                  </a:lnTo>
                  <a:close/>
                </a:path>
              </a:pathLst>
            </a:custGeom>
            <a:solidFill>
              <a:srgbClr val="42C1C9"/>
            </a:solidFill>
          </p:spPr>
          <p:txBody>
            <a:bodyPr wrap="square" lIns="0" tIns="0" rIns="0" bIns="0" rtlCol="0"/>
            <a:lstStyle/>
            <a:p>
              <a:endParaRPr sz="1050"/>
            </a:p>
          </p:txBody>
        </p:sp>
        <p:sp>
          <p:nvSpPr>
            <p:cNvPr id="4" name="object 4"/>
            <p:cNvSpPr/>
            <p:nvPr/>
          </p:nvSpPr>
          <p:spPr>
            <a:xfrm>
              <a:off x="3433449" y="1493899"/>
              <a:ext cx="55880" cy="5227955"/>
            </a:xfrm>
            <a:custGeom>
              <a:avLst/>
              <a:gdLst/>
              <a:ahLst/>
              <a:cxnLst/>
              <a:rect l="l" t="t" r="r" b="b"/>
              <a:pathLst>
                <a:path w="55879" h="5227955">
                  <a:moveTo>
                    <a:pt x="55499" y="5227499"/>
                  </a:moveTo>
                  <a:lnTo>
                    <a:pt x="0" y="5227499"/>
                  </a:lnTo>
                  <a:lnTo>
                    <a:pt x="0" y="0"/>
                  </a:lnTo>
                  <a:lnTo>
                    <a:pt x="55499" y="0"/>
                  </a:lnTo>
                  <a:lnTo>
                    <a:pt x="55499" y="5227499"/>
                  </a:lnTo>
                  <a:close/>
                </a:path>
              </a:pathLst>
            </a:custGeom>
            <a:solidFill>
              <a:srgbClr val="FFFFFF"/>
            </a:solidFill>
          </p:spPr>
          <p:txBody>
            <a:bodyPr wrap="square" lIns="0" tIns="0" rIns="0" bIns="0" rtlCol="0"/>
            <a:lstStyle/>
            <a:p>
              <a:endParaRPr sz="1050"/>
            </a:p>
          </p:txBody>
        </p:sp>
        <p:sp>
          <p:nvSpPr>
            <p:cNvPr id="5" name="object 5"/>
            <p:cNvSpPr/>
            <p:nvPr/>
          </p:nvSpPr>
          <p:spPr>
            <a:xfrm>
              <a:off x="896800" y="2794455"/>
              <a:ext cx="673735" cy="627380"/>
            </a:xfrm>
            <a:custGeom>
              <a:avLst/>
              <a:gdLst/>
              <a:ahLst/>
              <a:cxnLst/>
              <a:rect l="l" t="t" r="r" b="b"/>
              <a:pathLst>
                <a:path w="673735" h="627379">
                  <a:moveTo>
                    <a:pt x="336749" y="626999"/>
                  </a:moveTo>
                  <a:lnTo>
                    <a:pt x="286987" y="623600"/>
                  </a:lnTo>
                  <a:lnTo>
                    <a:pt x="239492" y="613726"/>
                  </a:lnTo>
                  <a:lnTo>
                    <a:pt x="194784" y="597862"/>
                  </a:lnTo>
                  <a:lnTo>
                    <a:pt x="153386" y="576493"/>
                  </a:lnTo>
                  <a:lnTo>
                    <a:pt x="115817" y="550103"/>
                  </a:lnTo>
                  <a:lnTo>
                    <a:pt x="82599" y="519178"/>
                  </a:lnTo>
                  <a:lnTo>
                    <a:pt x="54252" y="484203"/>
                  </a:lnTo>
                  <a:lnTo>
                    <a:pt x="31298" y="445663"/>
                  </a:lnTo>
                  <a:lnTo>
                    <a:pt x="14257" y="404042"/>
                  </a:lnTo>
                  <a:lnTo>
                    <a:pt x="3651" y="359826"/>
                  </a:lnTo>
                  <a:lnTo>
                    <a:pt x="0" y="313499"/>
                  </a:lnTo>
                  <a:lnTo>
                    <a:pt x="3651" y="267173"/>
                  </a:lnTo>
                  <a:lnTo>
                    <a:pt x="14257" y="222957"/>
                  </a:lnTo>
                  <a:lnTo>
                    <a:pt x="31298" y="181336"/>
                  </a:lnTo>
                  <a:lnTo>
                    <a:pt x="54252" y="142795"/>
                  </a:lnTo>
                  <a:lnTo>
                    <a:pt x="82599" y="107820"/>
                  </a:lnTo>
                  <a:lnTo>
                    <a:pt x="115817" y="76896"/>
                  </a:lnTo>
                  <a:lnTo>
                    <a:pt x="153386" y="50506"/>
                  </a:lnTo>
                  <a:lnTo>
                    <a:pt x="194784" y="29137"/>
                  </a:lnTo>
                  <a:lnTo>
                    <a:pt x="239492" y="13273"/>
                  </a:lnTo>
                  <a:lnTo>
                    <a:pt x="286987" y="3399"/>
                  </a:lnTo>
                  <a:lnTo>
                    <a:pt x="336749" y="0"/>
                  </a:lnTo>
                  <a:lnTo>
                    <a:pt x="386512" y="3399"/>
                  </a:lnTo>
                  <a:lnTo>
                    <a:pt x="434007" y="13273"/>
                  </a:lnTo>
                  <a:lnTo>
                    <a:pt x="478715" y="29137"/>
                  </a:lnTo>
                  <a:lnTo>
                    <a:pt x="520113" y="50506"/>
                  </a:lnTo>
                  <a:lnTo>
                    <a:pt x="557682" y="76896"/>
                  </a:lnTo>
                  <a:lnTo>
                    <a:pt x="590900" y="107820"/>
                  </a:lnTo>
                  <a:lnTo>
                    <a:pt x="619247" y="142795"/>
                  </a:lnTo>
                  <a:lnTo>
                    <a:pt x="642201" y="181336"/>
                  </a:lnTo>
                  <a:lnTo>
                    <a:pt x="659242" y="222957"/>
                  </a:lnTo>
                  <a:lnTo>
                    <a:pt x="669848" y="267173"/>
                  </a:lnTo>
                  <a:lnTo>
                    <a:pt x="673499" y="313499"/>
                  </a:lnTo>
                  <a:lnTo>
                    <a:pt x="669848" y="359826"/>
                  </a:lnTo>
                  <a:lnTo>
                    <a:pt x="659242" y="404042"/>
                  </a:lnTo>
                  <a:lnTo>
                    <a:pt x="642201" y="445663"/>
                  </a:lnTo>
                  <a:lnTo>
                    <a:pt x="619247" y="484203"/>
                  </a:lnTo>
                  <a:lnTo>
                    <a:pt x="590900" y="519178"/>
                  </a:lnTo>
                  <a:lnTo>
                    <a:pt x="557682" y="550103"/>
                  </a:lnTo>
                  <a:lnTo>
                    <a:pt x="520113" y="576493"/>
                  </a:lnTo>
                  <a:lnTo>
                    <a:pt x="478715" y="597862"/>
                  </a:lnTo>
                  <a:lnTo>
                    <a:pt x="434007" y="613726"/>
                  </a:lnTo>
                  <a:lnTo>
                    <a:pt x="386512" y="623600"/>
                  </a:lnTo>
                  <a:lnTo>
                    <a:pt x="336749" y="626999"/>
                  </a:lnTo>
                  <a:close/>
                </a:path>
              </a:pathLst>
            </a:custGeom>
            <a:solidFill>
              <a:srgbClr val="E7E6E6"/>
            </a:solidFill>
          </p:spPr>
          <p:txBody>
            <a:bodyPr wrap="square" lIns="0" tIns="0" rIns="0" bIns="0" rtlCol="0"/>
            <a:lstStyle/>
            <a:p>
              <a:endParaRPr sz="1050"/>
            </a:p>
          </p:txBody>
        </p:sp>
      </p:grpSp>
      <p:sp>
        <p:nvSpPr>
          <p:cNvPr id="6" name="object 6"/>
          <p:cNvSpPr txBox="1"/>
          <p:nvPr/>
        </p:nvSpPr>
        <p:spPr>
          <a:xfrm>
            <a:off x="1248310" y="2072671"/>
            <a:ext cx="950595" cy="378950"/>
          </a:xfrm>
          <a:prstGeom prst="rect">
            <a:avLst/>
          </a:prstGeom>
        </p:spPr>
        <p:txBody>
          <a:bodyPr vert="horz" wrap="square" lIns="0" tIns="9525" rIns="0" bIns="0" rtlCol="0">
            <a:spAutoFit/>
          </a:bodyPr>
          <a:lstStyle/>
          <a:p>
            <a:pPr marL="9525" marR="3810">
              <a:spcBef>
                <a:spcPts val="75"/>
              </a:spcBef>
            </a:pPr>
            <a:r>
              <a:rPr sz="1200" b="1" spc="-8" dirty="0">
                <a:solidFill>
                  <a:srgbClr val="FFFFFF"/>
                </a:solidFill>
                <a:latin typeface="Cambria"/>
                <a:cs typeface="Cambria"/>
              </a:rPr>
              <a:t>Hardware </a:t>
            </a:r>
            <a:r>
              <a:rPr sz="1200" b="1" spc="-15" dirty="0">
                <a:solidFill>
                  <a:srgbClr val="FFFFFF"/>
                </a:solidFill>
                <a:latin typeface="Cambria"/>
                <a:cs typeface="Cambria"/>
              </a:rPr>
              <a:t>Development</a:t>
            </a:r>
            <a:endParaRPr sz="1200">
              <a:latin typeface="Cambria"/>
              <a:cs typeface="Cambria"/>
            </a:endParaRPr>
          </a:p>
        </p:txBody>
      </p:sp>
      <p:sp>
        <p:nvSpPr>
          <p:cNvPr id="7" name="object 7"/>
          <p:cNvSpPr txBox="1">
            <a:spLocks noGrp="1"/>
          </p:cNvSpPr>
          <p:nvPr>
            <p:ph type="title"/>
          </p:nvPr>
        </p:nvSpPr>
        <p:spPr>
          <a:xfrm>
            <a:off x="233775" y="333769"/>
            <a:ext cx="6390450" cy="621972"/>
          </a:xfrm>
          <a:prstGeom prst="rect">
            <a:avLst/>
          </a:prstGeom>
        </p:spPr>
        <p:txBody>
          <a:bodyPr spcFirstLastPara="1" vert="horz" wrap="square" lIns="0" tIns="260357" rIns="0" bIns="0" rtlCol="0" anchor="t" anchorCtr="0">
            <a:spAutoFit/>
          </a:bodyPr>
          <a:lstStyle/>
          <a:p>
            <a:pPr marL="20955">
              <a:spcBef>
                <a:spcPts val="75"/>
              </a:spcBef>
            </a:pPr>
            <a:r>
              <a:rPr sz="2250" spc="-8" dirty="0">
                <a:solidFill>
                  <a:srgbClr val="A71901"/>
                </a:solidFill>
                <a:latin typeface="Cambria"/>
                <a:cs typeface="Cambria"/>
              </a:rPr>
              <a:t>Outcomes</a:t>
            </a:r>
            <a:r>
              <a:rPr sz="2250" spc="-60" dirty="0">
                <a:solidFill>
                  <a:srgbClr val="A71901"/>
                </a:solidFill>
                <a:latin typeface="Cambria"/>
                <a:cs typeface="Cambria"/>
              </a:rPr>
              <a:t> </a:t>
            </a:r>
            <a:r>
              <a:rPr sz="2250" dirty="0" smtClean="0">
                <a:solidFill>
                  <a:srgbClr val="A71901"/>
                </a:solidFill>
                <a:latin typeface="Cambria"/>
                <a:cs typeface="Cambria"/>
              </a:rPr>
              <a:t>(</a:t>
            </a:r>
            <a:r>
              <a:rPr lang="en-IN" sz="2250" dirty="0" smtClean="0">
                <a:solidFill>
                  <a:srgbClr val="A71901"/>
                </a:solidFill>
                <a:latin typeface="Cambria"/>
                <a:cs typeface="Cambria"/>
              </a:rPr>
              <a:t>1</a:t>
            </a:r>
            <a:r>
              <a:rPr lang="en-IN" sz="2250" baseline="30000" dirty="0" smtClean="0">
                <a:solidFill>
                  <a:srgbClr val="A71901"/>
                </a:solidFill>
                <a:latin typeface="Cambria"/>
                <a:cs typeface="Cambria"/>
              </a:rPr>
              <a:t>st</a:t>
            </a:r>
            <a:r>
              <a:rPr lang="en-IN" sz="2250" dirty="0" smtClean="0">
                <a:solidFill>
                  <a:srgbClr val="A71901"/>
                </a:solidFill>
                <a:latin typeface="Cambria"/>
                <a:cs typeface="Cambria"/>
              </a:rPr>
              <a:t> </a:t>
            </a:r>
            <a:r>
              <a:rPr sz="2250" spc="146" baseline="30555" dirty="0" smtClean="0">
                <a:solidFill>
                  <a:srgbClr val="A71901"/>
                </a:solidFill>
                <a:latin typeface="Cambria"/>
                <a:cs typeface="Cambria"/>
              </a:rPr>
              <a:t> </a:t>
            </a:r>
            <a:r>
              <a:rPr sz="2250" dirty="0" smtClean="0">
                <a:solidFill>
                  <a:srgbClr val="A71901"/>
                </a:solidFill>
                <a:latin typeface="Cambria"/>
                <a:cs typeface="Cambria"/>
              </a:rPr>
              <a:t>M</a:t>
            </a:r>
            <a:r>
              <a:rPr lang="en-IN" sz="2250" dirty="0" err="1" smtClean="0">
                <a:solidFill>
                  <a:srgbClr val="A71901"/>
                </a:solidFill>
                <a:latin typeface="Cambria"/>
                <a:cs typeface="Cambria"/>
              </a:rPr>
              <a:t>ar</a:t>
            </a:r>
            <a:r>
              <a:rPr sz="2250" spc="-71" dirty="0" smtClean="0">
                <a:solidFill>
                  <a:srgbClr val="A71901"/>
                </a:solidFill>
                <a:latin typeface="Cambria"/>
                <a:cs typeface="Cambria"/>
              </a:rPr>
              <a:t> </a:t>
            </a:r>
            <a:r>
              <a:rPr sz="2250" dirty="0" smtClean="0">
                <a:solidFill>
                  <a:srgbClr val="A71901"/>
                </a:solidFill>
                <a:latin typeface="Cambria"/>
                <a:cs typeface="Cambria"/>
              </a:rPr>
              <a:t>202</a:t>
            </a:r>
            <a:r>
              <a:rPr lang="en-IN" sz="2250" dirty="0" smtClean="0">
                <a:solidFill>
                  <a:srgbClr val="A71901"/>
                </a:solidFill>
                <a:latin typeface="Cambria"/>
                <a:cs typeface="Cambria"/>
              </a:rPr>
              <a:t>5</a:t>
            </a:r>
            <a:r>
              <a:rPr sz="2250" spc="-68" dirty="0" smtClean="0">
                <a:solidFill>
                  <a:srgbClr val="A71901"/>
                </a:solidFill>
                <a:latin typeface="Cambria"/>
                <a:cs typeface="Cambria"/>
              </a:rPr>
              <a:t> </a:t>
            </a:r>
            <a:r>
              <a:rPr sz="2250" dirty="0">
                <a:solidFill>
                  <a:srgbClr val="A71901"/>
                </a:solidFill>
                <a:latin typeface="Cambria"/>
                <a:cs typeface="Cambria"/>
              </a:rPr>
              <a:t>to</a:t>
            </a:r>
            <a:r>
              <a:rPr sz="2250" spc="-68" dirty="0">
                <a:solidFill>
                  <a:srgbClr val="A71901"/>
                </a:solidFill>
                <a:latin typeface="Cambria"/>
                <a:cs typeface="Cambria"/>
              </a:rPr>
              <a:t> </a:t>
            </a:r>
            <a:r>
              <a:rPr lang="en-IN" sz="2250" dirty="0" smtClean="0">
                <a:solidFill>
                  <a:srgbClr val="A71901"/>
                </a:solidFill>
                <a:latin typeface="Cambria"/>
                <a:cs typeface="Cambria"/>
              </a:rPr>
              <a:t>30 </a:t>
            </a:r>
            <a:r>
              <a:rPr sz="2250" baseline="30555" dirty="0" err="1" smtClean="0">
                <a:solidFill>
                  <a:srgbClr val="A71901"/>
                </a:solidFill>
                <a:latin typeface="Cambria"/>
                <a:cs typeface="Cambria"/>
              </a:rPr>
              <a:t>th</a:t>
            </a:r>
            <a:r>
              <a:rPr sz="2250" spc="140" baseline="30555" dirty="0" smtClean="0">
                <a:solidFill>
                  <a:srgbClr val="A71901"/>
                </a:solidFill>
                <a:latin typeface="Cambria"/>
                <a:cs typeface="Cambria"/>
              </a:rPr>
              <a:t> </a:t>
            </a:r>
            <a:r>
              <a:rPr lang="en-IN" sz="2250" dirty="0" smtClean="0">
                <a:solidFill>
                  <a:srgbClr val="A71901"/>
                </a:solidFill>
                <a:latin typeface="Cambria"/>
                <a:cs typeface="Cambria"/>
              </a:rPr>
              <a:t>Sep</a:t>
            </a:r>
            <a:r>
              <a:rPr sz="2250" spc="-68" dirty="0" smtClean="0">
                <a:solidFill>
                  <a:srgbClr val="A71901"/>
                </a:solidFill>
                <a:latin typeface="Cambria"/>
                <a:cs typeface="Cambria"/>
              </a:rPr>
              <a:t> </a:t>
            </a:r>
            <a:r>
              <a:rPr sz="2250" spc="-8" dirty="0">
                <a:solidFill>
                  <a:srgbClr val="A71901"/>
                </a:solidFill>
                <a:latin typeface="Cambria"/>
                <a:cs typeface="Cambria"/>
              </a:rPr>
              <a:t>2025)</a:t>
            </a:r>
            <a:endParaRPr sz="2250" dirty="0">
              <a:latin typeface="Cambria"/>
              <a:cs typeface="Cambria"/>
            </a:endParaRPr>
          </a:p>
        </p:txBody>
      </p:sp>
      <p:sp>
        <p:nvSpPr>
          <p:cNvPr id="8" name="object 8"/>
          <p:cNvSpPr txBox="1"/>
          <p:nvPr/>
        </p:nvSpPr>
        <p:spPr>
          <a:xfrm>
            <a:off x="796501" y="2168504"/>
            <a:ext cx="303371" cy="286617"/>
          </a:xfrm>
          <a:prstGeom prst="rect">
            <a:avLst/>
          </a:prstGeom>
        </p:spPr>
        <p:txBody>
          <a:bodyPr vert="horz" wrap="square" lIns="0" tIns="9525" rIns="0" bIns="0" rtlCol="0">
            <a:spAutoFit/>
          </a:bodyPr>
          <a:lstStyle/>
          <a:p>
            <a:pPr marL="9525">
              <a:spcBef>
                <a:spcPts val="75"/>
              </a:spcBef>
            </a:pPr>
            <a:r>
              <a:rPr sz="1800" b="1" spc="-19" dirty="0">
                <a:latin typeface="Cambria"/>
                <a:cs typeface="Cambria"/>
              </a:rPr>
              <a:t>A1</a:t>
            </a:r>
            <a:endParaRPr sz="1800">
              <a:latin typeface="Cambria"/>
              <a:cs typeface="Cambria"/>
            </a:endParaRPr>
          </a:p>
        </p:txBody>
      </p:sp>
      <p:sp>
        <p:nvSpPr>
          <p:cNvPr id="9" name="object 9"/>
          <p:cNvSpPr/>
          <p:nvPr/>
        </p:nvSpPr>
        <p:spPr>
          <a:xfrm>
            <a:off x="0" y="107156"/>
            <a:ext cx="191928" cy="4835843"/>
          </a:xfrm>
          <a:custGeom>
            <a:avLst/>
            <a:gdLst/>
            <a:ahLst/>
            <a:cxnLst/>
            <a:rect l="l" t="t" r="r" b="b"/>
            <a:pathLst>
              <a:path w="255904" h="6447790">
                <a:moveTo>
                  <a:pt x="255899" y="6447299"/>
                </a:moveTo>
                <a:lnTo>
                  <a:pt x="0" y="6447299"/>
                </a:lnTo>
                <a:lnTo>
                  <a:pt x="0" y="0"/>
                </a:lnTo>
                <a:lnTo>
                  <a:pt x="255899" y="0"/>
                </a:lnTo>
                <a:lnTo>
                  <a:pt x="255899" y="6447299"/>
                </a:lnTo>
                <a:close/>
              </a:path>
            </a:pathLst>
          </a:custGeom>
          <a:solidFill>
            <a:srgbClr val="A71901"/>
          </a:solidFill>
        </p:spPr>
        <p:txBody>
          <a:bodyPr wrap="square" lIns="0" tIns="0" rIns="0" bIns="0" rtlCol="0"/>
          <a:lstStyle/>
          <a:p>
            <a:endParaRPr sz="1050"/>
          </a:p>
        </p:txBody>
      </p:sp>
      <p:grpSp>
        <p:nvGrpSpPr>
          <p:cNvPr id="10" name="object 10"/>
          <p:cNvGrpSpPr/>
          <p:nvPr/>
        </p:nvGrpSpPr>
        <p:grpSpPr>
          <a:xfrm>
            <a:off x="552375" y="793853"/>
            <a:ext cx="2486025" cy="3920966"/>
            <a:chOff x="736500" y="1058470"/>
            <a:chExt cx="3314700" cy="5227955"/>
          </a:xfrm>
        </p:grpSpPr>
        <p:sp>
          <p:nvSpPr>
            <p:cNvPr id="11" name="object 11"/>
            <p:cNvSpPr/>
            <p:nvPr/>
          </p:nvSpPr>
          <p:spPr>
            <a:xfrm>
              <a:off x="3488950" y="1698170"/>
              <a:ext cx="99695" cy="2586355"/>
            </a:xfrm>
            <a:custGeom>
              <a:avLst/>
              <a:gdLst/>
              <a:ahLst/>
              <a:cxnLst/>
              <a:rect l="l" t="t" r="r" b="b"/>
              <a:pathLst>
                <a:path w="99695" h="2586354">
                  <a:moveTo>
                    <a:pt x="99627" y="2585792"/>
                  </a:moveTo>
                  <a:lnTo>
                    <a:pt x="0" y="2585792"/>
                  </a:lnTo>
                  <a:lnTo>
                    <a:pt x="0" y="0"/>
                  </a:lnTo>
                  <a:lnTo>
                    <a:pt x="99627" y="0"/>
                  </a:lnTo>
                  <a:lnTo>
                    <a:pt x="99627" y="2585792"/>
                  </a:lnTo>
                  <a:close/>
                </a:path>
              </a:pathLst>
            </a:custGeom>
            <a:solidFill>
              <a:srgbClr val="42C1C9"/>
            </a:solidFill>
          </p:spPr>
          <p:txBody>
            <a:bodyPr wrap="square" lIns="0" tIns="0" rIns="0" bIns="0" rtlCol="0"/>
            <a:lstStyle/>
            <a:p>
              <a:endParaRPr sz="1050"/>
            </a:p>
          </p:txBody>
        </p:sp>
        <p:sp>
          <p:nvSpPr>
            <p:cNvPr id="12" name="object 12"/>
            <p:cNvSpPr/>
            <p:nvPr/>
          </p:nvSpPr>
          <p:spPr>
            <a:xfrm>
              <a:off x="736500" y="4934120"/>
              <a:ext cx="3314700" cy="1047115"/>
            </a:xfrm>
            <a:custGeom>
              <a:avLst/>
              <a:gdLst/>
              <a:ahLst/>
              <a:cxnLst/>
              <a:rect l="l" t="t" r="r" b="b"/>
              <a:pathLst>
                <a:path w="3314700" h="1047114">
                  <a:moveTo>
                    <a:pt x="2781145" y="1046789"/>
                  </a:moveTo>
                  <a:lnTo>
                    <a:pt x="533212" y="1046789"/>
                  </a:lnTo>
                  <a:lnTo>
                    <a:pt x="484679" y="1044651"/>
                  </a:lnTo>
                  <a:lnTo>
                    <a:pt x="437367" y="1038357"/>
                  </a:lnTo>
                  <a:lnTo>
                    <a:pt x="391463" y="1028093"/>
                  </a:lnTo>
                  <a:lnTo>
                    <a:pt x="347157" y="1014045"/>
                  </a:lnTo>
                  <a:lnTo>
                    <a:pt x="304636" y="996395"/>
                  </a:lnTo>
                  <a:lnTo>
                    <a:pt x="264090" y="975331"/>
                  </a:lnTo>
                  <a:lnTo>
                    <a:pt x="225705" y="951035"/>
                  </a:lnTo>
                  <a:lnTo>
                    <a:pt x="189670" y="923694"/>
                  </a:lnTo>
                  <a:lnTo>
                    <a:pt x="156174" y="893491"/>
                  </a:lnTo>
                  <a:lnTo>
                    <a:pt x="125404" y="860611"/>
                  </a:lnTo>
                  <a:lnTo>
                    <a:pt x="97550" y="825240"/>
                  </a:lnTo>
                  <a:lnTo>
                    <a:pt x="72799" y="787562"/>
                  </a:lnTo>
                  <a:lnTo>
                    <a:pt x="51339" y="747762"/>
                  </a:lnTo>
                  <a:lnTo>
                    <a:pt x="33359" y="706024"/>
                  </a:lnTo>
                  <a:lnTo>
                    <a:pt x="19046" y="662534"/>
                  </a:lnTo>
                  <a:lnTo>
                    <a:pt x="8590" y="617475"/>
                  </a:lnTo>
                  <a:lnTo>
                    <a:pt x="2179" y="571034"/>
                  </a:lnTo>
                  <a:lnTo>
                    <a:pt x="0" y="523394"/>
                  </a:lnTo>
                  <a:lnTo>
                    <a:pt x="2179" y="475755"/>
                  </a:lnTo>
                  <a:lnTo>
                    <a:pt x="8590" y="429314"/>
                  </a:lnTo>
                  <a:lnTo>
                    <a:pt x="19046" y="384255"/>
                  </a:lnTo>
                  <a:lnTo>
                    <a:pt x="33359" y="340765"/>
                  </a:lnTo>
                  <a:lnTo>
                    <a:pt x="51339" y="299027"/>
                  </a:lnTo>
                  <a:lnTo>
                    <a:pt x="72799" y="259227"/>
                  </a:lnTo>
                  <a:lnTo>
                    <a:pt x="97550" y="221549"/>
                  </a:lnTo>
                  <a:lnTo>
                    <a:pt x="125404" y="186178"/>
                  </a:lnTo>
                  <a:lnTo>
                    <a:pt x="156174" y="153298"/>
                  </a:lnTo>
                  <a:lnTo>
                    <a:pt x="189670" y="123095"/>
                  </a:lnTo>
                  <a:lnTo>
                    <a:pt x="225705" y="95754"/>
                  </a:lnTo>
                  <a:lnTo>
                    <a:pt x="264090" y="71458"/>
                  </a:lnTo>
                  <a:lnTo>
                    <a:pt x="304636" y="50394"/>
                  </a:lnTo>
                  <a:lnTo>
                    <a:pt x="347157" y="32744"/>
                  </a:lnTo>
                  <a:lnTo>
                    <a:pt x="391463" y="18696"/>
                  </a:lnTo>
                  <a:lnTo>
                    <a:pt x="437367" y="8432"/>
                  </a:lnTo>
                  <a:lnTo>
                    <a:pt x="484679" y="2138"/>
                  </a:lnTo>
                  <a:lnTo>
                    <a:pt x="533212" y="0"/>
                  </a:lnTo>
                  <a:lnTo>
                    <a:pt x="2781145" y="0"/>
                  </a:lnTo>
                  <a:lnTo>
                    <a:pt x="2829678" y="2138"/>
                  </a:lnTo>
                  <a:lnTo>
                    <a:pt x="2876990" y="8432"/>
                  </a:lnTo>
                  <a:lnTo>
                    <a:pt x="2922894" y="18696"/>
                  </a:lnTo>
                  <a:lnTo>
                    <a:pt x="2967200" y="32744"/>
                  </a:lnTo>
                  <a:lnTo>
                    <a:pt x="3009720" y="50394"/>
                  </a:lnTo>
                  <a:lnTo>
                    <a:pt x="3050267" y="71458"/>
                  </a:lnTo>
                  <a:lnTo>
                    <a:pt x="3088652" y="95754"/>
                  </a:lnTo>
                  <a:lnTo>
                    <a:pt x="3124687" y="123095"/>
                  </a:lnTo>
                  <a:lnTo>
                    <a:pt x="3158183" y="153298"/>
                  </a:lnTo>
                  <a:lnTo>
                    <a:pt x="3188952" y="186178"/>
                  </a:lnTo>
                  <a:lnTo>
                    <a:pt x="3216807" y="221549"/>
                  </a:lnTo>
                  <a:lnTo>
                    <a:pt x="3241558" y="259227"/>
                  </a:lnTo>
                  <a:lnTo>
                    <a:pt x="3263018" y="299027"/>
                  </a:lnTo>
                  <a:lnTo>
                    <a:pt x="3280998" y="340765"/>
                  </a:lnTo>
                  <a:lnTo>
                    <a:pt x="3295310" y="384255"/>
                  </a:lnTo>
                  <a:lnTo>
                    <a:pt x="3305766" y="429314"/>
                  </a:lnTo>
                  <a:lnTo>
                    <a:pt x="3312178" y="475755"/>
                  </a:lnTo>
                  <a:lnTo>
                    <a:pt x="3314357" y="523394"/>
                  </a:lnTo>
                  <a:lnTo>
                    <a:pt x="3312178" y="571034"/>
                  </a:lnTo>
                  <a:lnTo>
                    <a:pt x="3305766" y="617475"/>
                  </a:lnTo>
                  <a:lnTo>
                    <a:pt x="3295310" y="662534"/>
                  </a:lnTo>
                  <a:lnTo>
                    <a:pt x="3280998" y="706024"/>
                  </a:lnTo>
                  <a:lnTo>
                    <a:pt x="3263018" y="747762"/>
                  </a:lnTo>
                  <a:lnTo>
                    <a:pt x="3241558" y="787562"/>
                  </a:lnTo>
                  <a:lnTo>
                    <a:pt x="3216807" y="825240"/>
                  </a:lnTo>
                  <a:lnTo>
                    <a:pt x="3188952" y="860611"/>
                  </a:lnTo>
                  <a:lnTo>
                    <a:pt x="3158183" y="893491"/>
                  </a:lnTo>
                  <a:lnTo>
                    <a:pt x="3124687" y="923694"/>
                  </a:lnTo>
                  <a:lnTo>
                    <a:pt x="3088652" y="951035"/>
                  </a:lnTo>
                  <a:lnTo>
                    <a:pt x="3050267" y="975331"/>
                  </a:lnTo>
                  <a:lnTo>
                    <a:pt x="3009720" y="996395"/>
                  </a:lnTo>
                  <a:lnTo>
                    <a:pt x="2967200" y="1014045"/>
                  </a:lnTo>
                  <a:lnTo>
                    <a:pt x="2922894" y="1028093"/>
                  </a:lnTo>
                  <a:lnTo>
                    <a:pt x="2876990" y="1038357"/>
                  </a:lnTo>
                  <a:lnTo>
                    <a:pt x="2829678" y="1044651"/>
                  </a:lnTo>
                  <a:lnTo>
                    <a:pt x="2781145" y="1046789"/>
                  </a:lnTo>
                  <a:close/>
                </a:path>
              </a:pathLst>
            </a:custGeom>
            <a:solidFill>
              <a:srgbClr val="FC7942"/>
            </a:solidFill>
          </p:spPr>
          <p:txBody>
            <a:bodyPr wrap="square" lIns="0" tIns="0" rIns="0" bIns="0" rtlCol="0"/>
            <a:lstStyle/>
            <a:p>
              <a:endParaRPr sz="1050"/>
            </a:p>
          </p:txBody>
        </p:sp>
        <p:sp>
          <p:nvSpPr>
            <p:cNvPr id="13" name="object 13"/>
            <p:cNvSpPr/>
            <p:nvPr/>
          </p:nvSpPr>
          <p:spPr>
            <a:xfrm>
              <a:off x="3433449" y="1058470"/>
              <a:ext cx="55880" cy="5227955"/>
            </a:xfrm>
            <a:custGeom>
              <a:avLst/>
              <a:gdLst/>
              <a:ahLst/>
              <a:cxnLst/>
              <a:rect l="l" t="t" r="r" b="b"/>
              <a:pathLst>
                <a:path w="55879" h="5227955">
                  <a:moveTo>
                    <a:pt x="55499" y="5227499"/>
                  </a:moveTo>
                  <a:lnTo>
                    <a:pt x="0" y="5227499"/>
                  </a:lnTo>
                  <a:lnTo>
                    <a:pt x="0" y="0"/>
                  </a:lnTo>
                  <a:lnTo>
                    <a:pt x="55499" y="0"/>
                  </a:lnTo>
                  <a:lnTo>
                    <a:pt x="55499" y="5227499"/>
                  </a:lnTo>
                  <a:close/>
                </a:path>
              </a:pathLst>
            </a:custGeom>
            <a:solidFill>
              <a:srgbClr val="FFFFFF"/>
            </a:solidFill>
          </p:spPr>
          <p:txBody>
            <a:bodyPr wrap="square" lIns="0" tIns="0" rIns="0" bIns="0" rtlCol="0"/>
            <a:lstStyle/>
            <a:p>
              <a:endParaRPr sz="1050"/>
            </a:p>
          </p:txBody>
        </p:sp>
        <p:sp>
          <p:nvSpPr>
            <p:cNvPr id="14" name="object 14"/>
            <p:cNvSpPr/>
            <p:nvPr/>
          </p:nvSpPr>
          <p:spPr>
            <a:xfrm>
              <a:off x="896800" y="5144020"/>
              <a:ext cx="673735" cy="627380"/>
            </a:xfrm>
            <a:custGeom>
              <a:avLst/>
              <a:gdLst/>
              <a:ahLst/>
              <a:cxnLst/>
              <a:rect l="l" t="t" r="r" b="b"/>
              <a:pathLst>
                <a:path w="673735" h="627379">
                  <a:moveTo>
                    <a:pt x="336749" y="626999"/>
                  </a:moveTo>
                  <a:lnTo>
                    <a:pt x="286987" y="623600"/>
                  </a:lnTo>
                  <a:lnTo>
                    <a:pt x="239492" y="613726"/>
                  </a:lnTo>
                  <a:lnTo>
                    <a:pt x="194784" y="597862"/>
                  </a:lnTo>
                  <a:lnTo>
                    <a:pt x="153386" y="576493"/>
                  </a:lnTo>
                  <a:lnTo>
                    <a:pt x="115817" y="550103"/>
                  </a:lnTo>
                  <a:lnTo>
                    <a:pt x="82599" y="519178"/>
                  </a:lnTo>
                  <a:lnTo>
                    <a:pt x="54252" y="484203"/>
                  </a:lnTo>
                  <a:lnTo>
                    <a:pt x="31298" y="445663"/>
                  </a:lnTo>
                  <a:lnTo>
                    <a:pt x="14257" y="404042"/>
                  </a:lnTo>
                  <a:lnTo>
                    <a:pt x="3651" y="359826"/>
                  </a:lnTo>
                  <a:lnTo>
                    <a:pt x="0" y="313499"/>
                  </a:lnTo>
                  <a:lnTo>
                    <a:pt x="3651" y="267173"/>
                  </a:lnTo>
                  <a:lnTo>
                    <a:pt x="14257" y="222957"/>
                  </a:lnTo>
                  <a:lnTo>
                    <a:pt x="31298" y="181336"/>
                  </a:lnTo>
                  <a:lnTo>
                    <a:pt x="54252" y="142795"/>
                  </a:lnTo>
                  <a:lnTo>
                    <a:pt x="82599" y="107820"/>
                  </a:lnTo>
                  <a:lnTo>
                    <a:pt x="115817" y="76896"/>
                  </a:lnTo>
                  <a:lnTo>
                    <a:pt x="153386" y="50506"/>
                  </a:lnTo>
                  <a:lnTo>
                    <a:pt x="194784" y="29137"/>
                  </a:lnTo>
                  <a:lnTo>
                    <a:pt x="239492" y="13273"/>
                  </a:lnTo>
                  <a:lnTo>
                    <a:pt x="286987" y="3399"/>
                  </a:lnTo>
                  <a:lnTo>
                    <a:pt x="336749" y="0"/>
                  </a:lnTo>
                  <a:lnTo>
                    <a:pt x="386512" y="3399"/>
                  </a:lnTo>
                  <a:lnTo>
                    <a:pt x="434007" y="13273"/>
                  </a:lnTo>
                  <a:lnTo>
                    <a:pt x="478715" y="29137"/>
                  </a:lnTo>
                  <a:lnTo>
                    <a:pt x="520113" y="50506"/>
                  </a:lnTo>
                  <a:lnTo>
                    <a:pt x="557682" y="76896"/>
                  </a:lnTo>
                  <a:lnTo>
                    <a:pt x="590900" y="107820"/>
                  </a:lnTo>
                  <a:lnTo>
                    <a:pt x="619247" y="142795"/>
                  </a:lnTo>
                  <a:lnTo>
                    <a:pt x="642201" y="181336"/>
                  </a:lnTo>
                  <a:lnTo>
                    <a:pt x="659242" y="222957"/>
                  </a:lnTo>
                  <a:lnTo>
                    <a:pt x="669848" y="267173"/>
                  </a:lnTo>
                  <a:lnTo>
                    <a:pt x="673499" y="313499"/>
                  </a:lnTo>
                  <a:lnTo>
                    <a:pt x="669848" y="359826"/>
                  </a:lnTo>
                  <a:lnTo>
                    <a:pt x="659242" y="404042"/>
                  </a:lnTo>
                  <a:lnTo>
                    <a:pt x="642201" y="445663"/>
                  </a:lnTo>
                  <a:lnTo>
                    <a:pt x="619247" y="484203"/>
                  </a:lnTo>
                  <a:lnTo>
                    <a:pt x="590900" y="519178"/>
                  </a:lnTo>
                  <a:lnTo>
                    <a:pt x="557682" y="550103"/>
                  </a:lnTo>
                  <a:lnTo>
                    <a:pt x="520113" y="576493"/>
                  </a:lnTo>
                  <a:lnTo>
                    <a:pt x="478715" y="597862"/>
                  </a:lnTo>
                  <a:lnTo>
                    <a:pt x="434007" y="613726"/>
                  </a:lnTo>
                  <a:lnTo>
                    <a:pt x="386512" y="623600"/>
                  </a:lnTo>
                  <a:lnTo>
                    <a:pt x="336749" y="626999"/>
                  </a:lnTo>
                  <a:close/>
                </a:path>
              </a:pathLst>
            </a:custGeom>
            <a:solidFill>
              <a:srgbClr val="E7E6E6"/>
            </a:solidFill>
          </p:spPr>
          <p:txBody>
            <a:bodyPr wrap="square" lIns="0" tIns="0" rIns="0" bIns="0" rtlCol="0"/>
            <a:lstStyle/>
            <a:p>
              <a:endParaRPr sz="1050"/>
            </a:p>
          </p:txBody>
        </p:sp>
      </p:grpSp>
      <p:sp>
        <p:nvSpPr>
          <p:cNvPr id="15" name="object 15"/>
          <p:cNvSpPr txBox="1"/>
          <p:nvPr/>
        </p:nvSpPr>
        <p:spPr>
          <a:xfrm>
            <a:off x="1253531" y="3849014"/>
            <a:ext cx="1096804" cy="563616"/>
          </a:xfrm>
          <a:prstGeom prst="rect">
            <a:avLst/>
          </a:prstGeom>
        </p:spPr>
        <p:txBody>
          <a:bodyPr vert="horz" wrap="square" lIns="0" tIns="9525" rIns="0" bIns="0" rtlCol="0">
            <a:spAutoFit/>
          </a:bodyPr>
          <a:lstStyle/>
          <a:p>
            <a:pPr marL="9525" marR="3810">
              <a:spcBef>
                <a:spcPts val="75"/>
              </a:spcBef>
            </a:pPr>
            <a:r>
              <a:rPr sz="1200" b="1" spc="-19" dirty="0">
                <a:solidFill>
                  <a:srgbClr val="FFFFFF"/>
                </a:solidFill>
                <a:latin typeface="Cambria"/>
                <a:cs typeface="Cambria"/>
              </a:rPr>
              <a:t>Web </a:t>
            </a:r>
            <a:r>
              <a:rPr sz="1200" b="1" spc="-8" dirty="0">
                <a:solidFill>
                  <a:srgbClr val="FFFFFF"/>
                </a:solidFill>
                <a:latin typeface="Cambria"/>
                <a:cs typeface="Cambria"/>
              </a:rPr>
              <a:t>Development</a:t>
            </a:r>
            <a:r>
              <a:rPr sz="1200" b="1" spc="-19" dirty="0">
                <a:solidFill>
                  <a:srgbClr val="FFFFFF"/>
                </a:solidFill>
                <a:latin typeface="Cambria"/>
                <a:cs typeface="Cambria"/>
              </a:rPr>
              <a:t> </a:t>
            </a:r>
            <a:r>
              <a:rPr sz="1200" b="1" spc="-38" dirty="0">
                <a:solidFill>
                  <a:srgbClr val="FFFFFF"/>
                </a:solidFill>
                <a:latin typeface="Cambria"/>
                <a:cs typeface="Cambria"/>
              </a:rPr>
              <a:t>&amp; </a:t>
            </a:r>
            <a:r>
              <a:rPr sz="1200" b="1" dirty="0">
                <a:solidFill>
                  <a:srgbClr val="FFFFFF"/>
                </a:solidFill>
                <a:latin typeface="Cambria"/>
                <a:cs typeface="Cambria"/>
              </a:rPr>
              <a:t>User</a:t>
            </a:r>
            <a:r>
              <a:rPr sz="1200" b="1" spc="-41" dirty="0">
                <a:solidFill>
                  <a:srgbClr val="FFFFFF"/>
                </a:solidFill>
                <a:latin typeface="Cambria"/>
                <a:cs typeface="Cambria"/>
              </a:rPr>
              <a:t> </a:t>
            </a:r>
            <a:r>
              <a:rPr sz="1200" b="1" spc="-8" dirty="0">
                <a:solidFill>
                  <a:srgbClr val="FFFFFF"/>
                </a:solidFill>
                <a:latin typeface="Cambria"/>
                <a:cs typeface="Cambria"/>
              </a:rPr>
              <a:t>Interface</a:t>
            </a:r>
            <a:endParaRPr sz="1200">
              <a:latin typeface="Cambria"/>
              <a:cs typeface="Cambria"/>
            </a:endParaRPr>
          </a:p>
        </p:txBody>
      </p:sp>
      <p:sp>
        <p:nvSpPr>
          <p:cNvPr id="16" name="object 16"/>
          <p:cNvSpPr txBox="1"/>
          <p:nvPr/>
        </p:nvSpPr>
        <p:spPr>
          <a:xfrm>
            <a:off x="810788" y="3872957"/>
            <a:ext cx="303371" cy="286617"/>
          </a:xfrm>
          <a:prstGeom prst="rect">
            <a:avLst/>
          </a:prstGeom>
        </p:spPr>
        <p:txBody>
          <a:bodyPr vert="horz" wrap="square" lIns="0" tIns="9525" rIns="0" bIns="0" rtlCol="0">
            <a:spAutoFit/>
          </a:bodyPr>
          <a:lstStyle/>
          <a:p>
            <a:pPr marL="9525">
              <a:spcBef>
                <a:spcPts val="75"/>
              </a:spcBef>
            </a:pPr>
            <a:r>
              <a:rPr sz="1800" b="1" spc="-19" dirty="0">
                <a:latin typeface="Cambria"/>
                <a:cs typeface="Cambria"/>
              </a:rPr>
              <a:t>A2</a:t>
            </a:r>
            <a:endParaRPr sz="1800">
              <a:latin typeface="Cambria"/>
              <a:cs typeface="Cambria"/>
            </a:endParaRPr>
          </a:p>
        </p:txBody>
      </p:sp>
      <p:sp>
        <p:nvSpPr>
          <p:cNvPr id="17" name="object 17"/>
          <p:cNvSpPr/>
          <p:nvPr/>
        </p:nvSpPr>
        <p:spPr>
          <a:xfrm>
            <a:off x="2691433" y="1023257"/>
            <a:ext cx="797719" cy="4038124"/>
          </a:xfrm>
          <a:custGeom>
            <a:avLst/>
            <a:gdLst/>
            <a:ahLst/>
            <a:cxnLst/>
            <a:rect l="l" t="t" r="r" b="b"/>
            <a:pathLst>
              <a:path w="1063625" h="5384165">
                <a:moveTo>
                  <a:pt x="1063199" y="5383981"/>
                </a:moveTo>
                <a:lnTo>
                  <a:pt x="0" y="5383981"/>
                </a:lnTo>
                <a:lnTo>
                  <a:pt x="0" y="0"/>
                </a:lnTo>
                <a:lnTo>
                  <a:pt x="1063199" y="0"/>
                </a:lnTo>
                <a:lnTo>
                  <a:pt x="1063199" y="5383981"/>
                </a:lnTo>
                <a:close/>
              </a:path>
            </a:pathLst>
          </a:custGeom>
          <a:solidFill>
            <a:srgbClr val="FFFFFF"/>
          </a:solidFill>
        </p:spPr>
        <p:txBody>
          <a:bodyPr wrap="square" lIns="0" tIns="0" rIns="0" bIns="0" rtlCol="0"/>
          <a:lstStyle/>
          <a:p>
            <a:endParaRPr sz="1050"/>
          </a:p>
        </p:txBody>
      </p:sp>
      <p:sp>
        <p:nvSpPr>
          <p:cNvPr id="18" name="object 18"/>
          <p:cNvSpPr txBox="1"/>
          <p:nvPr/>
        </p:nvSpPr>
        <p:spPr>
          <a:xfrm>
            <a:off x="2841749" y="1856876"/>
            <a:ext cx="6187916" cy="771365"/>
          </a:xfrm>
          <a:prstGeom prst="rect">
            <a:avLst/>
          </a:prstGeom>
        </p:spPr>
        <p:txBody>
          <a:bodyPr vert="horz" wrap="square" lIns="0" tIns="9525" rIns="0" bIns="0" rtlCol="0">
            <a:spAutoFit/>
          </a:bodyPr>
          <a:lstStyle/>
          <a:p>
            <a:pPr marL="9525" marR="323374">
              <a:spcBef>
                <a:spcPts val="75"/>
              </a:spcBef>
            </a:pPr>
            <a:r>
              <a:rPr b="1" spc="-15" dirty="0">
                <a:latin typeface="Cambria"/>
                <a:cs typeface="Cambria"/>
              </a:rPr>
              <a:t>Deployed</a:t>
            </a:r>
            <a:r>
              <a:rPr b="1" spc="-34" dirty="0">
                <a:latin typeface="Cambria"/>
                <a:cs typeface="Cambria"/>
              </a:rPr>
              <a:t> </a:t>
            </a:r>
            <a:r>
              <a:rPr b="1" dirty="0">
                <a:latin typeface="Cambria"/>
                <a:cs typeface="Cambria"/>
              </a:rPr>
              <a:t>AQM</a:t>
            </a:r>
            <a:r>
              <a:rPr b="1" spc="-30" dirty="0">
                <a:latin typeface="Cambria"/>
                <a:cs typeface="Cambria"/>
              </a:rPr>
              <a:t> </a:t>
            </a:r>
            <a:r>
              <a:rPr b="1" dirty="0" smtClean="0">
                <a:latin typeface="Cambria"/>
                <a:cs typeface="Cambria"/>
              </a:rPr>
              <a:t>station</a:t>
            </a:r>
            <a:r>
              <a:rPr lang="en-IN" b="1" dirty="0" smtClean="0">
                <a:latin typeface="Cambria"/>
                <a:cs typeface="Cambria"/>
              </a:rPr>
              <a:t>(v2&amp;v3)</a:t>
            </a:r>
            <a:r>
              <a:rPr b="1" spc="-26" dirty="0" smtClean="0">
                <a:latin typeface="Cambria"/>
                <a:cs typeface="Cambria"/>
              </a:rPr>
              <a:t> </a:t>
            </a:r>
            <a:r>
              <a:rPr dirty="0">
                <a:latin typeface="Cambria"/>
                <a:cs typeface="Cambria"/>
              </a:rPr>
              <a:t>,</a:t>
            </a:r>
            <a:r>
              <a:rPr spc="-30" dirty="0">
                <a:latin typeface="Cambria"/>
                <a:cs typeface="Cambria"/>
              </a:rPr>
              <a:t> </a:t>
            </a:r>
            <a:r>
              <a:rPr dirty="0">
                <a:latin typeface="Cambria"/>
                <a:cs typeface="Cambria"/>
              </a:rPr>
              <a:t>capable</a:t>
            </a:r>
            <a:r>
              <a:rPr spc="-34" dirty="0">
                <a:latin typeface="Cambria"/>
                <a:cs typeface="Cambria"/>
              </a:rPr>
              <a:t> </a:t>
            </a:r>
            <a:r>
              <a:rPr dirty="0">
                <a:latin typeface="Cambria"/>
                <a:cs typeface="Cambria"/>
              </a:rPr>
              <a:t>of</a:t>
            </a:r>
            <a:r>
              <a:rPr spc="-30" dirty="0">
                <a:latin typeface="Cambria"/>
                <a:cs typeface="Cambria"/>
              </a:rPr>
              <a:t> </a:t>
            </a:r>
            <a:r>
              <a:rPr dirty="0">
                <a:latin typeface="Cambria"/>
                <a:cs typeface="Cambria"/>
              </a:rPr>
              <a:t>sensing</a:t>
            </a:r>
            <a:r>
              <a:rPr spc="-34" dirty="0">
                <a:latin typeface="Cambria"/>
                <a:cs typeface="Cambria"/>
              </a:rPr>
              <a:t> </a:t>
            </a:r>
            <a:r>
              <a:rPr dirty="0">
                <a:latin typeface="Cambria"/>
                <a:cs typeface="Cambria"/>
              </a:rPr>
              <a:t>PM2.5,</a:t>
            </a:r>
            <a:r>
              <a:rPr spc="-30" dirty="0">
                <a:latin typeface="Cambria"/>
                <a:cs typeface="Cambria"/>
              </a:rPr>
              <a:t> </a:t>
            </a:r>
            <a:r>
              <a:rPr dirty="0">
                <a:latin typeface="Cambria"/>
                <a:cs typeface="Cambria"/>
              </a:rPr>
              <a:t>PM10,</a:t>
            </a:r>
            <a:r>
              <a:rPr spc="-30" dirty="0">
                <a:latin typeface="Cambria"/>
                <a:cs typeface="Cambria"/>
              </a:rPr>
              <a:t> </a:t>
            </a:r>
            <a:r>
              <a:rPr dirty="0">
                <a:latin typeface="Cambria"/>
                <a:cs typeface="Cambria"/>
              </a:rPr>
              <a:t>SO2,</a:t>
            </a:r>
            <a:r>
              <a:rPr spc="-34" dirty="0">
                <a:latin typeface="Cambria"/>
                <a:cs typeface="Cambria"/>
              </a:rPr>
              <a:t> </a:t>
            </a:r>
            <a:r>
              <a:rPr dirty="0">
                <a:latin typeface="Cambria"/>
                <a:cs typeface="Cambria"/>
              </a:rPr>
              <a:t>NH3,</a:t>
            </a:r>
            <a:r>
              <a:rPr spc="-30" dirty="0">
                <a:latin typeface="Cambria"/>
                <a:cs typeface="Cambria"/>
              </a:rPr>
              <a:t> </a:t>
            </a:r>
            <a:r>
              <a:rPr dirty="0">
                <a:latin typeface="Cambria"/>
                <a:cs typeface="Cambria"/>
              </a:rPr>
              <a:t>CO,</a:t>
            </a:r>
            <a:r>
              <a:rPr spc="-34" dirty="0">
                <a:latin typeface="Cambria"/>
                <a:cs typeface="Cambria"/>
              </a:rPr>
              <a:t> </a:t>
            </a:r>
            <a:r>
              <a:rPr spc="-19" dirty="0">
                <a:latin typeface="Cambria"/>
                <a:cs typeface="Cambria"/>
              </a:rPr>
              <a:t>O3, </a:t>
            </a:r>
            <a:r>
              <a:rPr dirty="0">
                <a:latin typeface="Cambria"/>
                <a:cs typeface="Cambria"/>
              </a:rPr>
              <a:t>NO2,</a:t>
            </a:r>
            <a:r>
              <a:rPr spc="-41" dirty="0">
                <a:latin typeface="Cambria"/>
                <a:cs typeface="Cambria"/>
              </a:rPr>
              <a:t> </a:t>
            </a:r>
            <a:r>
              <a:rPr dirty="0">
                <a:latin typeface="Cambria"/>
                <a:cs typeface="Cambria"/>
              </a:rPr>
              <a:t>Pressure,</a:t>
            </a:r>
            <a:r>
              <a:rPr spc="-34" dirty="0">
                <a:latin typeface="Cambria"/>
                <a:cs typeface="Cambria"/>
              </a:rPr>
              <a:t> </a:t>
            </a:r>
            <a:r>
              <a:rPr spc="-15" dirty="0">
                <a:latin typeface="Cambria"/>
                <a:cs typeface="Cambria"/>
              </a:rPr>
              <a:t>Temperature</a:t>
            </a:r>
            <a:r>
              <a:rPr spc="-34" dirty="0">
                <a:latin typeface="Cambria"/>
                <a:cs typeface="Cambria"/>
              </a:rPr>
              <a:t> </a:t>
            </a:r>
            <a:r>
              <a:rPr dirty="0">
                <a:latin typeface="Cambria"/>
                <a:cs typeface="Cambria"/>
              </a:rPr>
              <a:t>and</a:t>
            </a:r>
            <a:r>
              <a:rPr spc="-30" dirty="0">
                <a:latin typeface="Cambria"/>
                <a:cs typeface="Cambria"/>
              </a:rPr>
              <a:t> </a:t>
            </a:r>
            <a:r>
              <a:rPr spc="-8" dirty="0">
                <a:latin typeface="Cambria"/>
                <a:cs typeface="Cambria"/>
              </a:rPr>
              <a:t>Humidity.</a:t>
            </a:r>
            <a:endParaRPr dirty="0">
              <a:latin typeface="Cambria"/>
              <a:cs typeface="Cambria"/>
            </a:endParaRPr>
          </a:p>
          <a:p>
            <a:pPr marL="9525">
              <a:spcBef>
                <a:spcPts val="900"/>
              </a:spcBef>
            </a:pPr>
            <a:r>
              <a:rPr spc="-8" dirty="0">
                <a:latin typeface="Cambria"/>
                <a:cs typeface="Cambria"/>
              </a:rPr>
              <a:t>Deployed</a:t>
            </a:r>
            <a:r>
              <a:rPr spc="-34" dirty="0">
                <a:latin typeface="Cambria"/>
                <a:cs typeface="Cambria"/>
              </a:rPr>
              <a:t> </a:t>
            </a:r>
            <a:r>
              <a:rPr b="1" spc="-8" dirty="0">
                <a:latin typeface="Cambria"/>
                <a:cs typeface="Cambria"/>
              </a:rPr>
              <a:t>Outdoor</a:t>
            </a:r>
            <a:r>
              <a:rPr b="1" spc="-38" dirty="0">
                <a:latin typeface="Cambria"/>
                <a:cs typeface="Cambria"/>
              </a:rPr>
              <a:t> </a:t>
            </a:r>
            <a:r>
              <a:rPr b="1" dirty="0">
                <a:latin typeface="Cambria"/>
                <a:cs typeface="Cambria"/>
              </a:rPr>
              <a:t>LoRa</a:t>
            </a:r>
            <a:r>
              <a:rPr b="1" spc="-41" dirty="0">
                <a:latin typeface="Cambria"/>
                <a:cs typeface="Cambria"/>
              </a:rPr>
              <a:t> </a:t>
            </a:r>
            <a:r>
              <a:rPr b="1" spc="-15" dirty="0">
                <a:latin typeface="Cambria"/>
                <a:cs typeface="Cambria"/>
              </a:rPr>
              <a:t>Gateway</a:t>
            </a:r>
            <a:r>
              <a:rPr b="1" spc="-38" dirty="0">
                <a:latin typeface="Cambria"/>
                <a:cs typeface="Cambria"/>
              </a:rPr>
              <a:t> </a:t>
            </a:r>
            <a:r>
              <a:rPr dirty="0">
                <a:latin typeface="Cambria"/>
                <a:cs typeface="Cambria"/>
              </a:rPr>
              <a:t>for</a:t>
            </a:r>
            <a:r>
              <a:rPr spc="-38" dirty="0">
                <a:latin typeface="Cambria"/>
                <a:cs typeface="Cambria"/>
              </a:rPr>
              <a:t> </a:t>
            </a:r>
            <a:r>
              <a:rPr dirty="0">
                <a:latin typeface="Cambria"/>
                <a:cs typeface="Cambria"/>
              </a:rPr>
              <a:t>communicating</a:t>
            </a:r>
            <a:r>
              <a:rPr spc="-41" dirty="0">
                <a:latin typeface="Cambria"/>
                <a:cs typeface="Cambria"/>
              </a:rPr>
              <a:t> </a:t>
            </a:r>
            <a:r>
              <a:rPr dirty="0">
                <a:latin typeface="Cambria"/>
                <a:cs typeface="Cambria"/>
              </a:rPr>
              <a:t>with</a:t>
            </a:r>
            <a:r>
              <a:rPr spc="-38" dirty="0">
                <a:latin typeface="Cambria"/>
                <a:cs typeface="Cambria"/>
              </a:rPr>
              <a:t> </a:t>
            </a:r>
            <a:r>
              <a:rPr dirty="0">
                <a:latin typeface="Cambria"/>
                <a:cs typeface="Cambria"/>
              </a:rPr>
              <a:t>Sensor</a:t>
            </a:r>
            <a:r>
              <a:rPr spc="-38" dirty="0">
                <a:latin typeface="Cambria"/>
                <a:cs typeface="Cambria"/>
              </a:rPr>
              <a:t> </a:t>
            </a:r>
            <a:r>
              <a:rPr spc="-8" dirty="0" smtClean="0">
                <a:latin typeface="Cambria"/>
                <a:cs typeface="Cambria"/>
              </a:rPr>
              <a:t>nodes</a:t>
            </a:r>
            <a:endParaRPr dirty="0">
              <a:latin typeface="Cambria"/>
              <a:cs typeface="Cambria"/>
            </a:endParaRPr>
          </a:p>
        </p:txBody>
      </p:sp>
      <p:sp>
        <p:nvSpPr>
          <p:cNvPr id="19" name="object 19"/>
          <p:cNvSpPr txBox="1"/>
          <p:nvPr/>
        </p:nvSpPr>
        <p:spPr>
          <a:xfrm>
            <a:off x="2841749" y="3858015"/>
            <a:ext cx="6343137" cy="236283"/>
          </a:xfrm>
          <a:prstGeom prst="rect">
            <a:avLst/>
          </a:prstGeom>
        </p:spPr>
        <p:txBody>
          <a:bodyPr vert="horz" wrap="square" lIns="0" tIns="9525" rIns="0" bIns="0" rtlCol="0">
            <a:spAutoFit/>
          </a:bodyPr>
          <a:lstStyle/>
          <a:p>
            <a:pPr marL="9525" marR="3810" lvl="0">
              <a:lnSpc>
                <a:spcPct val="114999"/>
              </a:lnSpc>
              <a:spcBef>
                <a:spcPts val="75"/>
              </a:spcBef>
            </a:pPr>
            <a:r>
              <a:rPr lang="en-IN" dirty="0">
                <a:latin typeface="Cambria" panose="02040503050406030204" pitchFamily="18" charset="0"/>
                <a:ea typeface="Cambria" panose="02040503050406030204" pitchFamily="18" charset="0"/>
              </a:rPr>
              <a:t>Deployed real-time Air Quality Index (AQI) </a:t>
            </a:r>
            <a:r>
              <a:rPr lang="en-IN" dirty="0" smtClean="0">
                <a:latin typeface="Cambria" panose="02040503050406030204" pitchFamily="18" charset="0"/>
                <a:ea typeface="Cambria" panose="02040503050406030204" pitchFamily="18" charset="0"/>
              </a:rPr>
              <a:t>monitoring system(</a:t>
            </a:r>
            <a:r>
              <a:rPr lang="en-IN" dirty="0" smtClean="0">
                <a:latin typeface="Cambria" panose="02040503050406030204" pitchFamily="18" charset="0"/>
                <a:ea typeface="Cambria" panose="02040503050406030204" pitchFamily="18" charset="0"/>
                <a:hlinkClick r:id="rId2"/>
              </a:rPr>
              <a:t>airaware.it.com</a:t>
            </a:r>
            <a:r>
              <a:rPr lang="en-IN" dirty="0" smtClean="0">
                <a:latin typeface="Cambria" panose="02040503050406030204" pitchFamily="18" charset="0"/>
                <a:ea typeface="Cambria" panose="02040503050406030204" pitchFamily="18" charset="0"/>
              </a:rPr>
              <a:t>)</a:t>
            </a:r>
            <a:endParaRPr dirty="0">
              <a:latin typeface="Cambria" panose="02040503050406030204" pitchFamily="18" charset="0"/>
              <a:ea typeface="Cambria" panose="02040503050406030204" pitchFamily="18" charset="0"/>
              <a:cs typeface="Cambria"/>
            </a:endParaRPr>
          </a:p>
        </p:txBody>
      </p:sp>
    </p:spTree>
    <p:extLst>
      <p:ext uri="{BB962C8B-B14F-4D97-AF65-F5344CB8AC3E}">
        <p14:creationId xmlns:p14="http://schemas.microsoft.com/office/powerpoint/2010/main" val="1414513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141230" y="3713143"/>
            <a:ext cx="950595" cy="563616"/>
          </a:xfrm>
          <a:prstGeom prst="rect">
            <a:avLst/>
          </a:prstGeom>
        </p:spPr>
        <p:txBody>
          <a:bodyPr vert="horz" wrap="square" lIns="0" tIns="9525" rIns="0" bIns="0" rtlCol="0">
            <a:spAutoFit/>
          </a:bodyPr>
          <a:lstStyle/>
          <a:p>
            <a:pPr marL="9525" marR="3810">
              <a:spcBef>
                <a:spcPts val="75"/>
              </a:spcBef>
            </a:pPr>
            <a:r>
              <a:rPr sz="1200" b="1" spc="-8" dirty="0">
                <a:solidFill>
                  <a:srgbClr val="FFFFFF"/>
                </a:solidFill>
                <a:latin typeface="Cambria"/>
                <a:cs typeface="Cambria"/>
              </a:rPr>
              <a:t>Indigenous Sensor </a:t>
            </a:r>
            <a:r>
              <a:rPr sz="1200" b="1" spc="-15" dirty="0">
                <a:solidFill>
                  <a:srgbClr val="FFFFFF"/>
                </a:solidFill>
                <a:latin typeface="Cambria"/>
                <a:cs typeface="Cambria"/>
              </a:rPr>
              <a:t>Development</a:t>
            </a:r>
            <a:endParaRPr sz="1200" dirty="0">
              <a:latin typeface="Cambria"/>
              <a:cs typeface="Cambria"/>
            </a:endParaRPr>
          </a:p>
        </p:txBody>
      </p:sp>
      <p:sp>
        <p:nvSpPr>
          <p:cNvPr id="6" name="object 6"/>
          <p:cNvSpPr txBox="1">
            <a:spLocks noGrp="1"/>
          </p:cNvSpPr>
          <p:nvPr>
            <p:ph type="title"/>
          </p:nvPr>
        </p:nvSpPr>
        <p:spPr>
          <a:xfrm>
            <a:off x="233775" y="333769"/>
            <a:ext cx="6390450" cy="621972"/>
          </a:xfrm>
          <a:prstGeom prst="rect">
            <a:avLst/>
          </a:prstGeom>
        </p:spPr>
        <p:txBody>
          <a:bodyPr spcFirstLastPara="1" vert="horz" wrap="square" lIns="0" tIns="260357" rIns="0" bIns="0" rtlCol="0" anchor="t" anchorCtr="0">
            <a:spAutoFit/>
          </a:bodyPr>
          <a:lstStyle/>
          <a:p>
            <a:pPr marL="20955">
              <a:spcBef>
                <a:spcPts val="75"/>
              </a:spcBef>
            </a:pPr>
            <a:r>
              <a:rPr sz="2250" spc="-8" dirty="0">
                <a:solidFill>
                  <a:srgbClr val="A71901"/>
                </a:solidFill>
                <a:latin typeface="Cambria"/>
                <a:cs typeface="Cambria"/>
              </a:rPr>
              <a:t>Outcomes</a:t>
            </a:r>
            <a:r>
              <a:rPr sz="2250" spc="-60" dirty="0">
                <a:solidFill>
                  <a:srgbClr val="A71901"/>
                </a:solidFill>
                <a:latin typeface="Cambria"/>
                <a:cs typeface="Cambria"/>
              </a:rPr>
              <a:t> </a:t>
            </a:r>
            <a:r>
              <a:rPr sz="2250" dirty="0">
                <a:solidFill>
                  <a:srgbClr val="A71901"/>
                </a:solidFill>
                <a:latin typeface="Cambria"/>
                <a:cs typeface="Cambria"/>
              </a:rPr>
              <a:t>(25</a:t>
            </a:r>
            <a:r>
              <a:rPr sz="2250" baseline="30555" dirty="0">
                <a:solidFill>
                  <a:srgbClr val="A71901"/>
                </a:solidFill>
                <a:latin typeface="Cambria"/>
                <a:cs typeface="Cambria"/>
              </a:rPr>
              <a:t>th</a:t>
            </a:r>
            <a:r>
              <a:rPr sz="2250" spc="146" baseline="30555" dirty="0">
                <a:solidFill>
                  <a:srgbClr val="A71901"/>
                </a:solidFill>
                <a:latin typeface="Cambria"/>
                <a:cs typeface="Cambria"/>
              </a:rPr>
              <a:t> </a:t>
            </a:r>
            <a:r>
              <a:rPr sz="2250" dirty="0">
                <a:solidFill>
                  <a:srgbClr val="A71901"/>
                </a:solidFill>
                <a:latin typeface="Cambria"/>
                <a:cs typeface="Cambria"/>
              </a:rPr>
              <a:t>May</a:t>
            </a:r>
            <a:r>
              <a:rPr sz="2250" spc="-71" dirty="0">
                <a:solidFill>
                  <a:srgbClr val="A71901"/>
                </a:solidFill>
                <a:latin typeface="Cambria"/>
                <a:cs typeface="Cambria"/>
              </a:rPr>
              <a:t> </a:t>
            </a:r>
            <a:r>
              <a:rPr sz="2250" dirty="0">
                <a:solidFill>
                  <a:srgbClr val="A71901"/>
                </a:solidFill>
                <a:latin typeface="Cambria"/>
                <a:cs typeface="Cambria"/>
              </a:rPr>
              <a:t>2024</a:t>
            </a:r>
            <a:r>
              <a:rPr sz="2250" spc="-68" dirty="0">
                <a:solidFill>
                  <a:srgbClr val="A71901"/>
                </a:solidFill>
                <a:latin typeface="Cambria"/>
                <a:cs typeface="Cambria"/>
              </a:rPr>
              <a:t> </a:t>
            </a:r>
            <a:r>
              <a:rPr sz="2250" dirty="0">
                <a:solidFill>
                  <a:srgbClr val="A71901"/>
                </a:solidFill>
                <a:latin typeface="Cambria"/>
                <a:cs typeface="Cambria"/>
              </a:rPr>
              <a:t>to</a:t>
            </a:r>
            <a:r>
              <a:rPr sz="2250" spc="-68" dirty="0">
                <a:solidFill>
                  <a:srgbClr val="A71901"/>
                </a:solidFill>
                <a:latin typeface="Cambria"/>
                <a:cs typeface="Cambria"/>
              </a:rPr>
              <a:t> </a:t>
            </a:r>
            <a:r>
              <a:rPr sz="2250" dirty="0">
                <a:solidFill>
                  <a:srgbClr val="A71901"/>
                </a:solidFill>
                <a:latin typeface="Cambria"/>
                <a:cs typeface="Cambria"/>
              </a:rPr>
              <a:t>28</a:t>
            </a:r>
            <a:r>
              <a:rPr sz="2250" baseline="30555" dirty="0">
                <a:solidFill>
                  <a:srgbClr val="A71901"/>
                </a:solidFill>
                <a:latin typeface="Cambria"/>
                <a:cs typeface="Cambria"/>
              </a:rPr>
              <a:t>th</a:t>
            </a:r>
            <a:r>
              <a:rPr sz="2250" spc="140" baseline="30555" dirty="0">
                <a:solidFill>
                  <a:srgbClr val="A71901"/>
                </a:solidFill>
                <a:latin typeface="Cambria"/>
                <a:cs typeface="Cambria"/>
              </a:rPr>
              <a:t> </a:t>
            </a:r>
            <a:r>
              <a:rPr sz="2250" dirty="0">
                <a:solidFill>
                  <a:srgbClr val="A71901"/>
                </a:solidFill>
                <a:latin typeface="Cambria"/>
                <a:cs typeface="Cambria"/>
              </a:rPr>
              <a:t>Feb</a:t>
            </a:r>
            <a:r>
              <a:rPr sz="2250" spc="-68" dirty="0">
                <a:solidFill>
                  <a:srgbClr val="A71901"/>
                </a:solidFill>
                <a:latin typeface="Cambria"/>
                <a:cs typeface="Cambria"/>
              </a:rPr>
              <a:t> </a:t>
            </a:r>
            <a:r>
              <a:rPr sz="2250" spc="-8" dirty="0">
                <a:solidFill>
                  <a:srgbClr val="A71901"/>
                </a:solidFill>
                <a:latin typeface="Cambria"/>
                <a:cs typeface="Cambria"/>
              </a:rPr>
              <a:t>2025)</a:t>
            </a:r>
            <a:endParaRPr sz="2250">
              <a:latin typeface="Cambria"/>
              <a:cs typeface="Cambria"/>
            </a:endParaRPr>
          </a:p>
        </p:txBody>
      </p:sp>
      <p:sp>
        <p:nvSpPr>
          <p:cNvPr id="8" name="object 8"/>
          <p:cNvSpPr/>
          <p:nvPr/>
        </p:nvSpPr>
        <p:spPr>
          <a:xfrm>
            <a:off x="0" y="107156"/>
            <a:ext cx="191928" cy="4835843"/>
          </a:xfrm>
          <a:custGeom>
            <a:avLst/>
            <a:gdLst/>
            <a:ahLst/>
            <a:cxnLst/>
            <a:rect l="l" t="t" r="r" b="b"/>
            <a:pathLst>
              <a:path w="255904" h="6447790">
                <a:moveTo>
                  <a:pt x="255899" y="6447299"/>
                </a:moveTo>
                <a:lnTo>
                  <a:pt x="0" y="6447299"/>
                </a:lnTo>
                <a:lnTo>
                  <a:pt x="0" y="0"/>
                </a:lnTo>
                <a:lnTo>
                  <a:pt x="255899" y="0"/>
                </a:lnTo>
                <a:lnTo>
                  <a:pt x="255899" y="6447299"/>
                </a:lnTo>
                <a:close/>
              </a:path>
            </a:pathLst>
          </a:custGeom>
          <a:solidFill>
            <a:srgbClr val="A71901"/>
          </a:solidFill>
        </p:spPr>
        <p:txBody>
          <a:bodyPr wrap="square" lIns="0" tIns="0" rIns="0" bIns="0" rtlCol="0"/>
          <a:lstStyle/>
          <a:p>
            <a:endParaRPr sz="1050"/>
          </a:p>
        </p:txBody>
      </p:sp>
      <p:grpSp>
        <p:nvGrpSpPr>
          <p:cNvPr id="9" name="object 9"/>
          <p:cNvGrpSpPr/>
          <p:nvPr/>
        </p:nvGrpSpPr>
        <p:grpSpPr>
          <a:xfrm>
            <a:off x="525515" y="1120425"/>
            <a:ext cx="2486025" cy="3920966"/>
            <a:chOff x="700686" y="1493899"/>
            <a:chExt cx="3314700" cy="5227955"/>
          </a:xfrm>
        </p:grpSpPr>
        <p:sp>
          <p:nvSpPr>
            <p:cNvPr id="10" name="object 10"/>
            <p:cNvSpPr/>
            <p:nvPr/>
          </p:nvSpPr>
          <p:spPr>
            <a:xfrm>
              <a:off x="700686" y="2379850"/>
              <a:ext cx="3314700" cy="1047115"/>
            </a:xfrm>
            <a:custGeom>
              <a:avLst/>
              <a:gdLst/>
              <a:ahLst/>
              <a:cxnLst/>
              <a:rect l="l" t="t" r="r" b="b"/>
              <a:pathLst>
                <a:path w="3314700" h="1047114">
                  <a:moveTo>
                    <a:pt x="2781145" y="1046789"/>
                  </a:moveTo>
                  <a:lnTo>
                    <a:pt x="533212" y="1046789"/>
                  </a:lnTo>
                  <a:lnTo>
                    <a:pt x="484679" y="1044651"/>
                  </a:lnTo>
                  <a:lnTo>
                    <a:pt x="437367" y="1038357"/>
                  </a:lnTo>
                  <a:lnTo>
                    <a:pt x="391463" y="1028093"/>
                  </a:lnTo>
                  <a:lnTo>
                    <a:pt x="347157" y="1014045"/>
                  </a:lnTo>
                  <a:lnTo>
                    <a:pt x="304636" y="996395"/>
                  </a:lnTo>
                  <a:lnTo>
                    <a:pt x="264090" y="975331"/>
                  </a:lnTo>
                  <a:lnTo>
                    <a:pt x="225705" y="951035"/>
                  </a:lnTo>
                  <a:lnTo>
                    <a:pt x="189670" y="923694"/>
                  </a:lnTo>
                  <a:lnTo>
                    <a:pt x="156174" y="893491"/>
                  </a:lnTo>
                  <a:lnTo>
                    <a:pt x="125404" y="860611"/>
                  </a:lnTo>
                  <a:lnTo>
                    <a:pt x="97550" y="825240"/>
                  </a:lnTo>
                  <a:lnTo>
                    <a:pt x="72799" y="787562"/>
                  </a:lnTo>
                  <a:lnTo>
                    <a:pt x="51339" y="747762"/>
                  </a:lnTo>
                  <a:lnTo>
                    <a:pt x="33359" y="706024"/>
                  </a:lnTo>
                  <a:lnTo>
                    <a:pt x="19046" y="662534"/>
                  </a:lnTo>
                  <a:lnTo>
                    <a:pt x="8590" y="617475"/>
                  </a:lnTo>
                  <a:lnTo>
                    <a:pt x="2179" y="571034"/>
                  </a:lnTo>
                  <a:lnTo>
                    <a:pt x="0" y="523394"/>
                  </a:lnTo>
                  <a:lnTo>
                    <a:pt x="2179" y="475755"/>
                  </a:lnTo>
                  <a:lnTo>
                    <a:pt x="8590" y="429314"/>
                  </a:lnTo>
                  <a:lnTo>
                    <a:pt x="19046" y="384255"/>
                  </a:lnTo>
                  <a:lnTo>
                    <a:pt x="33359" y="340765"/>
                  </a:lnTo>
                  <a:lnTo>
                    <a:pt x="51339" y="299027"/>
                  </a:lnTo>
                  <a:lnTo>
                    <a:pt x="72799" y="259227"/>
                  </a:lnTo>
                  <a:lnTo>
                    <a:pt x="97550" y="221549"/>
                  </a:lnTo>
                  <a:lnTo>
                    <a:pt x="125404" y="186178"/>
                  </a:lnTo>
                  <a:lnTo>
                    <a:pt x="156174" y="153298"/>
                  </a:lnTo>
                  <a:lnTo>
                    <a:pt x="189670" y="123095"/>
                  </a:lnTo>
                  <a:lnTo>
                    <a:pt x="225705" y="95754"/>
                  </a:lnTo>
                  <a:lnTo>
                    <a:pt x="264090" y="71458"/>
                  </a:lnTo>
                  <a:lnTo>
                    <a:pt x="304636" y="50394"/>
                  </a:lnTo>
                  <a:lnTo>
                    <a:pt x="347157" y="32744"/>
                  </a:lnTo>
                  <a:lnTo>
                    <a:pt x="391463" y="18696"/>
                  </a:lnTo>
                  <a:lnTo>
                    <a:pt x="437367" y="8432"/>
                  </a:lnTo>
                  <a:lnTo>
                    <a:pt x="484679" y="2138"/>
                  </a:lnTo>
                  <a:lnTo>
                    <a:pt x="533212" y="0"/>
                  </a:lnTo>
                  <a:lnTo>
                    <a:pt x="2781145" y="0"/>
                  </a:lnTo>
                  <a:lnTo>
                    <a:pt x="2829678" y="2138"/>
                  </a:lnTo>
                  <a:lnTo>
                    <a:pt x="2876990" y="8432"/>
                  </a:lnTo>
                  <a:lnTo>
                    <a:pt x="2922894" y="18696"/>
                  </a:lnTo>
                  <a:lnTo>
                    <a:pt x="2967200" y="32744"/>
                  </a:lnTo>
                  <a:lnTo>
                    <a:pt x="3009721" y="50394"/>
                  </a:lnTo>
                  <a:lnTo>
                    <a:pt x="3050267" y="71458"/>
                  </a:lnTo>
                  <a:lnTo>
                    <a:pt x="3088652" y="95754"/>
                  </a:lnTo>
                  <a:lnTo>
                    <a:pt x="3124687" y="123095"/>
                  </a:lnTo>
                  <a:lnTo>
                    <a:pt x="3158183" y="153298"/>
                  </a:lnTo>
                  <a:lnTo>
                    <a:pt x="3188953" y="186178"/>
                  </a:lnTo>
                  <a:lnTo>
                    <a:pt x="3216807" y="221549"/>
                  </a:lnTo>
                  <a:lnTo>
                    <a:pt x="3241558" y="259227"/>
                  </a:lnTo>
                  <a:lnTo>
                    <a:pt x="3263018" y="299027"/>
                  </a:lnTo>
                  <a:lnTo>
                    <a:pt x="3280999" y="340765"/>
                  </a:lnTo>
                  <a:lnTo>
                    <a:pt x="3295311" y="384255"/>
                  </a:lnTo>
                  <a:lnTo>
                    <a:pt x="3305767" y="429314"/>
                  </a:lnTo>
                  <a:lnTo>
                    <a:pt x="3312179" y="475755"/>
                  </a:lnTo>
                  <a:lnTo>
                    <a:pt x="3314358" y="523394"/>
                  </a:lnTo>
                  <a:lnTo>
                    <a:pt x="3312179" y="571034"/>
                  </a:lnTo>
                  <a:lnTo>
                    <a:pt x="3305767" y="617475"/>
                  </a:lnTo>
                  <a:lnTo>
                    <a:pt x="3295311" y="662534"/>
                  </a:lnTo>
                  <a:lnTo>
                    <a:pt x="3280999" y="706024"/>
                  </a:lnTo>
                  <a:lnTo>
                    <a:pt x="3263018" y="747762"/>
                  </a:lnTo>
                  <a:lnTo>
                    <a:pt x="3241558" y="787562"/>
                  </a:lnTo>
                  <a:lnTo>
                    <a:pt x="3216807" y="825240"/>
                  </a:lnTo>
                  <a:lnTo>
                    <a:pt x="3188953" y="860611"/>
                  </a:lnTo>
                  <a:lnTo>
                    <a:pt x="3158183" y="893491"/>
                  </a:lnTo>
                  <a:lnTo>
                    <a:pt x="3124687" y="923694"/>
                  </a:lnTo>
                  <a:lnTo>
                    <a:pt x="3088652" y="951035"/>
                  </a:lnTo>
                  <a:lnTo>
                    <a:pt x="3050267" y="975331"/>
                  </a:lnTo>
                  <a:lnTo>
                    <a:pt x="3009721" y="996395"/>
                  </a:lnTo>
                  <a:lnTo>
                    <a:pt x="2967200" y="1014045"/>
                  </a:lnTo>
                  <a:lnTo>
                    <a:pt x="2922894" y="1028093"/>
                  </a:lnTo>
                  <a:lnTo>
                    <a:pt x="2876990" y="1038357"/>
                  </a:lnTo>
                  <a:lnTo>
                    <a:pt x="2829678" y="1044651"/>
                  </a:lnTo>
                  <a:lnTo>
                    <a:pt x="2781145" y="1046789"/>
                  </a:lnTo>
                  <a:close/>
                </a:path>
              </a:pathLst>
            </a:custGeom>
            <a:solidFill>
              <a:srgbClr val="C04088"/>
            </a:solidFill>
          </p:spPr>
          <p:txBody>
            <a:bodyPr wrap="square" lIns="0" tIns="0" rIns="0" bIns="0" rtlCol="0"/>
            <a:lstStyle/>
            <a:p>
              <a:endParaRPr sz="1050"/>
            </a:p>
          </p:txBody>
        </p:sp>
        <p:sp>
          <p:nvSpPr>
            <p:cNvPr id="11" name="object 11"/>
            <p:cNvSpPr/>
            <p:nvPr/>
          </p:nvSpPr>
          <p:spPr>
            <a:xfrm>
              <a:off x="860986" y="2608450"/>
              <a:ext cx="673735" cy="627380"/>
            </a:xfrm>
            <a:custGeom>
              <a:avLst/>
              <a:gdLst/>
              <a:ahLst/>
              <a:cxnLst/>
              <a:rect l="l" t="t" r="r" b="b"/>
              <a:pathLst>
                <a:path w="673735" h="627380">
                  <a:moveTo>
                    <a:pt x="336749" y="626999"/>
                  </a:moveTo>
                  <a:lnTo>
                    <a:pt x="286987" y="623600"/>
                  </a:lnTo>
                  <a:lnTo>
                    <a:pt x="239492" y="613726"/>
                  </a:lnTo>
                  <a:lnTo>
                    <a:pt x="194784" y="597862"/>
                  </a:lnTo>
                  <a:lnTo>
                    <a:pt x="153386" y="576493"/>
                  </a:lnTo>
                  <a:lnTo>
                    <a:pt x="115817" y="550103"/>
                  </a:lnTo>
                  <a:lnTo>
                    <a:pt x="82599" y="519179"/>
                  </a:lnTo>
                  <a:lnTo>
                    <a:pt x="54252" y="484204"/>
                  </a:lnTo>
                  <a:lnTo>
                    <a:pt x="31298" y="445663"/>
                  </a:lnTo>
                  <a:lnTo>
                    <a:pt x="14257" y="404042"/>
                  </a:lnTo>
                  <a:lnTo>
                    <a:pt x="3651" y="359826"/>
                  </a:lnTo>
                  <a:lnTo>
                    <a:pt x="0" y="313499"/>
                  </a:lnTo>
                  <a:lnTo>
                    <a:pt x="3651" y="267173"/>
                  </a:lnTo>
                  <a:lnTo>
                    <a:pt x="14257" y="222957"/>
                  </a:lnTo>
                  <a:lnTo>
                    <a:pt x="31298" y="181336"/>
                  </a:lnTo>
                  <a:lnTo>
                    <a:pt x="54252" y="142795"/>
                  </a:lnTo>
                  <a:lnTo>
                    <a:pt x="82599" y="107820"/>
                  </a:lnTo>
                  <a:lnTo>
                    <a:pt x="115817" y="76896"/>
                  </a:lnTo>
                  <a:lnTo>
                    <a:pt x="153386" y="50506"/>
                  </a:lnTo>
                  <a:lnTo>
                    <a:pt x="194784" y="29137"/>
                  </a:lnTo>
                  <a:lnTo>
                    <a:pt x="239492" y="13273"/>
                  </a:lnTo>
                  <a:lnTo>
                    <a:pt x="286987" y="3399"/>
                  </a:lnTo>
                  <a:lnTo>
                    <a:pt x="336749" y="0"/>
                  </a:lnTo>
                  <a:lnTo>
                    <a:pt x="386512" y="3399"/>
                  </a:lnTo>
                  <a:lnTo>
                    <a:pt x="434007" y="13273"/>
                  </a:lnTo>
                  <a:lnTo>
                    <a:pt x="478715" y="29137"/>
                  </a:lnTo>
                  <a:lnTo>
                    <a:pt x="520113" y="50506"/>
                  </a:lnTo>
                  <a:lnTo>
                    <a:pt x="557682" y="76896"/>
                  </a:lnTo>
                  <a:lnTo>
                    <a:pt x="590900" y="107820"/>
                  </a:lnTo>
                  <a:lnTo>
                    <a:pt x="619247" y="142795"/>
                  </a:lnTo>
                  <a:lnTo>
                    <a:pt x="642201" y="181336"/>
                  </a:lnTo>
                  <a:lnTo>
                    <a:pt x="659242" y="222957"/>
                  </a:lnTo>
                  <a:lnTo>
                    <a:pt x="669848" y="267173"/>
                  </a:lnTo>
                  <a:lnTo>
                    <a:pt x="673499" y="313499"/>
                  </a:lnTo>
                  <a:lnTo>
                    <a:pt x="669848" y="359826"/>
                  </a:lnTo>
                  <a:lnTo>
                    <a:pt x="659242" y="404042"/>
                  </a:lnTo>
                  <a:lnTo>
                    <a:pt x="642201" y="445663"/>
                  </a:lnTo>
                  <a:lnTo>
                    <a:pt x="619247" y="484204"/>
                  </a:lnTo>
                  <a:lnTo>
                    <a:pt x="590900" y="519179"/>
                  </a:lnTo>
                  <a:lnTo>
                    <a:pt x="557682" y="550103"/>
                  </a:lnTo>
                  <a:lnTo>
                    <a:pt x="520113" y="576493"/>
                  </a:lnTo>
                  <a:lnTo>
                    <a:pt x="478715" y="597862"/>
                  </a:lnTo>
                  <a:lnTo>
                    <a:pt x="434007" y="613726"/>
                  </a:lnTo>
                  <a:lnTo>
                    <a:pt x="386512" y="623600"/>
                  </a:lnTo>
                  <a:lnTo>
                    <a:pt x="336749" y="626999"/>
                  </a:lnTo>
                  <a:close/>
                </a:path>
              </a:pathLst>
            </a:custGeom>
            <a:solidFill>
              <a:srgbClr val="E7E6E6"/>
            </a:solidFill>
          </p:spPr>
          <p:txBody>
            <a:bodyPr wrap="square" lIns="0" tIns="0" rIns="0" bIns="0" rtlCol="0"/>
            <a:lstStyle/>
            <a:p>
              <a:endParaRPr sz="1050"/>
            </a:p>
          </p:txBody>
        </p:sp>
        <p:sp>
          <p:nvSpPr>
            <p:cNvPr id="12" name="object 12"/>
            <p:cNvSpPr/>
            <p:nvPr/>
          </p:nvSpPr>
          <p:spPr>
            <a:xfrm>
              <a:off x="3326410" y="1493899"/>
              <a:ext cx="55880" cy="5227955"/>
            </a:xfrm>
            <a:custGeom>
              <a:avLst/>
              <a:gdLst/>
              <a:ahLst/>
              <a:cxnLst/>
              <a:rect l="l" t="t" r="r" b="b"/>
              <a:pathLst>
                <a:path w="55879" h="5227955">
                  <a:moveTo>
                    <a:pt x="55499" y="5227499"/>
                  </a:moveTo>
                  <a:lnTo>
                    <a:pt x="0" y="5227499"/>
                  </a:lnTo>
                  <a:lnTo>
                    <a:pt x="0" y="0"/>
                  </a:lnTo>
                  <a:lnTo>
                    <a:pt x="55499" y="0"/>
                  </a:lnTo>
                  <a:lnTo>
                    <a:pt x="55499" y="5227499"/>
                  </a:lnTo>
                  <a:close/>
                </a:path>
              </a:pathLst>
            </a:custGeom>
            <a:solidFill>
              <a:srgbClr val="FFFFFF"/>
            </a:solidFill>
          </p:spPr>
          <p:txBody>
            <a:bodyPr wrap="square" lIns="0" tIns="0" rIns="0" bIns="0" rtlCol="0"/>
            <a:lstStyle/>
            <a:p>
              <a:endParaRPr sz="1050"/>
            </a:p>
          </p:txBody>
        </p:sp>
      </p:grpSp>
      <p:sp>
        <p:nvSpPr>
          <p:cNvPr id="13" name="object 13"/>
          <p:cNvSpPr txBox="1"/>
          <p:nvPr/>
        </p:nvSpPr>
        <p:spPr>
          <a:xfrm>
            <a:off x="1221449" y="1933168"/>
            <a:ext cx="950595" cy="378950"/>
          </a:xfrm>
          <a:prstGeom prst="rect">
            <a:avLst/>
          </a:prstGeom>
        </p:spPr>
        <p:txBody>
          <a:bodyPr vert="horz" wrap="square" lIns="0" tIns="9525" rIns="0" bIns="0" rtlCol="0">
            <a:spAutoFit/>
          </a:bodyPr>
          <a:lstStyle/>
          <a:p>
            <a:pPr marL="9525" marR="3810">
              <a:spcBef>
                <a:spcPts val="75"/>
              </a:spcBef>
            </a:pPr>
            <a:r>
              <a:rPr sz="1200" b="1" spc="-8" dirty="0">
                <a:solidFill>
                  <a:srgbClr val="FFFFFF"/>
                </a:solidFill>
                <a:latin typeface="Cambria"/>
                <a:cs typeface="Cambria"/>
              </a:rPr>
              <a:t>Software</a:t>
            </a:r>
            <a:r>
              <a:rPr sz="1200" b="1" spc="-26" dirty="0">
                <a:solidFill>
                  <a:srgbClr val="FFFFFF"/>
                </a:solidFill>
                <a:latin typeface="Cambria"/>
                <a:cs typeface="Cambria"/>
              </a:rPr>
              <a:t> </a:t>
            </a:r>
            <a:r>
              <a:rPr sz="1200" b="1" dirty="0">
                <a:solidFill>
                  <a:srgbClr val="FFFFFF"/>
                </a:solidFill>
                <a:latin typeface="Cambria"/>
                <a:cs typeface="Cambria"/>
              </a:rPr>
              <a:t>/</a:t>
            </a:r>
            <a:r>
              <a:rPr sz="1200" b="1" spc="-26" dirty="0">
                <a:solidFill>
                  <a:srgbClr val="FFFFFF"/>
                </a:solidFill>
                <a:latin typeface="Cambria"/>
                <a:cs typeface="Cambria"/>
              </a:rPr>
              <a:t> </a:t>
            </a:r>
            <a:r>
              <a:rPr sz="1200" b="1" spc="-19" dirty="0">
                <a:solidFill>
                  <a:srgbClr val="FFFFFF"/>
                </a:solidFill>
                <a:latin typeface="Cambria"/>
                <a:cs typeface="Cambria"/>
              </a:rPr>
              <a:t>AI </a:t>
            </a:r>
            <a:r>
              <a:rPr sz="1200" b="1" spc="-15" dirty="0">
                <a:solidFill>
                  <a:srgbClr val="FFFFFF"/>
                </a:solidFill>
                <a:latin typeface="Cambria"/>
                <a:cs typeface="Cambria"/>
              </a:rPr>
              <a:t>Development</a:t>
            </a:r>
            <a:endParaRPr sz="1200">
              <a:latin typeface="Cambria"/>
              <a:cs typeface="Cambria"/>
            </a:endParaRPr>
          </a:p>
        </p:txBody>
      </p:sp>
      <p:sp>
        <p:nvSpPr>
          <p:cNvPr id="14" name="object 14"/>
          <p:cNvSpPr txBox="1"/>
          <p:nvPr/>
        </p:nvSpPr>
        <p:spPr>
          <a:xfrm>
            <a:off x="727904" y="2011628"/>
            <a:ext cx="335280" cy="293542"/>
          </a:xfrm>
          <a:prstGeom prst="rect">
            <a:avLst/>
          </a:prstGeom>
        </p:spPr>
        <p:txBody>
          <a:bodyPr vert="horz" wrap="square" lIns="0" tIns="102870" rIns="0" bIns="0" rtlCol="0">
            <a:spAutoFit/>
          </a:bodyPr>
          <a:lstStyle/>
          <a:p>
            <a:pPr marL="9525" marR="3810" indent="31433">
              <a:lnSpc>
                <a:spcPct val="65900"/>
              </a:lnSpc>
              <a:spcBef>
                <a:spcPts val="810"/>
              </a:spcBef>
            </a:pPr>
            <a:r>
              <a:rPr sz="1800" b="1" spc="-19" dirty="0">
                <a:latin typeface="Cambria"/>
                <a:cs typeface="Cambria"/>
              </a:rPr>
              <a:t>A3 </a:t>
            </a:r>
            <a:endParaRPr sz="1800" dirty="0">
              <a:latin typeface="Cambria"/>
              <a:cs typeface="Cambria"/>
            </a:endParaRPr>
          </a:p>
        </p:txBody>
      </p:sp>
      <p:grpSp>
        <p:nvGrpSpPr>
          <p:cNvPr id="15" name="object 15"/>
          <p:cNvGrpSpPr/>
          <p:nvPr/>
        </p:nvGrpSpPr>
        <p:grpSpPr>
          <a:xfrm>
            <a:off x="2546989" y="1006162"/>
            <a:ext cx="863918" cy="3920966"/>
            <a:chOff x="3395986" y="1341549"/>
            <a:chExt cx="1151890" cy="5227955"/>
          </a:xfrm>
        </p:grpSpPr>
        <p:sp>
          <p:nvSpPr>
            <p:cNvPr id="16" name="object 16"/>
            <p:cNvSpPr/>
            <p:nvPr/>
          </p:nvSpPr>
          <p:spPr>
            <a:xfrm>
              <a:off x="3484227" y="1341549"/>
              <a:ext cx="1063625" cy="5227955"/>
            </a:xfrm>
            <a:custGeom>
              <a:avLst/>
              <a:gdLst/>
              <a:ahLst/>
              <a:cxnLst/>
              <a:rect l="l" t="t" r="r" b="b"/>
              <a:pathLst>
                <a:path w="1063625" h="5227955">
                  <a:moveTo>
                    <a:pt x="1063199" y="5227499"/>
                  </a:moveTo>
                  <a:lnTo>
                    <a:pt x="0" y="5227499"/>
                  </a:lnTo>
                  <a:lnTo>
                    <a:pt x="0" y="0"/>
                  </a:lnTo>
                  <a:lnTo>
                    <a:pt x="1063199" y="0"/>
                  </a:lnTo>
                  <a:lnTo>
                    <a:pt x="1063199" y="5227499"/>
                  </a:lnTo>
                  <a:close/>
                </a:path>
              </a:pathLst>
            </a:custGeom>
            <a:solidFill>
              <a:srgbClr val="FFFFFF"/>
            </a:solidFill>
          </p:spPr>
          <p:txBody>
            <a:bodyPr wrap="square" lIns="0" tIns="0" rIns="0" bIns="0" rtlCol="0"/>
            <a:lstStyle/>
            <a:p>
              <a:endParaRPr sz="1050"/>
            </a:p>
          </p:txBody>
        </p:sp>
        <p:sp>
          <p:nvSpPr>
            <p:cNvPr id="17" name="object 17"/>
            <p:cNvSpPr/>
            <p:nvPr/>
          </p:nvSpPr>
          <p:spPr>
            <a:xfrm>
              <a:off x="3395986" y="1512166"/>
              <a:ext cx="99695" cy="2586355"/>
            </a:xfrm>
            <a:custGeom>
              <a:avLst/>
              <a:gdLst/>
              <a:ahLst/>
              <a:cxnLst/>
              <a:rect l="l" t="t" r="r" b="b"/>
              <a:pathLst>
                <a:path w="99695" h="2586354">
                  <a:moveTo>
                    <a:pt x="99627" y="2585792"/>
                  </a:moveTo>
                  <a:lnTo>
                    <a:pt x="0" y="2585792"/>
                  </a:lnTo>
                  <a:lnTo>
                    <a:pt x="0" y="0"/>
                  </a:lnTo>
                  <a:lnTo>
                    <a:pt x="99627" y="0"/>
                  </a:lnTo>
                  <a:lnTo>
                    <a:pt x="99627" y="2585792"/>
                  </a:lnTo>
                  <a:close/>
                </a:path>
              </a:pathLst>
            </a:custGeom>
            <a:solidFill>
              <a:srgbClr val="C04088"/>
            </a:solidFill>
          </p:spPr>
          <p:txBody>
            <a:bodyPr wrap="square" lIns="0" tIns="0" rIns="0" bIns="0" rtlCol="0"/>
            <a:lstStyle/>
            <a:p>
              <a:endParaRPr sz="1050"/>
            </a:p>
          </p:txBody>
        </p:sp>
      </p:grpSp>
      <p:sp>
        <p:nvSpPr>
          <p:cNvPr id="21" name="object 21"/>
          <p:cNvSpPr txBox="1"/>
          <p:nvPr/>
        </p:nvSpPr>
        <p:spPr>
          <a:xfrm>
            <a:off x="8306618" y="4735772"/>
            <a:ext cx="182403" cy="115416"/>
          </a:xfrm>
          <a:prstGeom prst="rect">
            <a:avLst/>
          </a:prstGeom>
        </p:spPr>
        <p:txBody>
          <a:bodyPr vert="horz" wrap="square" lIns="0" tIns="0" rIns="0" bIns="0" rtlCol="0">
            <a:spAutoFit/>
          </a:bodyPr>
          <a:lstStyle/>
          <a:p>
            <a:pPr marL="28575">
              <a:lnSpc>
                <a:spcPts val="930"/>
              </a:lnSpc>
            </a:pPr>
            <a:fld id="{81D60167-4931-47E6-BA6A-407CBD079E47}" type="slidenum">
              <a:rPr sz="900" spc="-19" dirty="0">
                <a:solidFill>
                  <a:srgbClr val="888888"/>
                </a:solidFill>
                <a:latin typeface="Calibri"/>
                <a:cs typeface="Calibri"/>
              </a:rPr>
              <a:pPr marL="28575">
                <a:lnSpc>
                  <a:spcPts val="930"/>
                </a:lnSpc>
              </a:pPr>
              <a:t>8</a:t>
            </a:fld>
            <a:endParaRPr sz="900">
              <a:latin typeface="Calibri"/>
              <a:cs typeface="Calibri"/>
            </a:endParaRPr>
          </a:p>
        </p:txBody>
      </p:sp>
    </p:spTree>
    <p:extLst>
      <p:ext uri="{BB962C8B-B14F-4D97-AF65-F5344CB8AC3E}">
        <p14:creationId xmlns:p14="http://schemas.microsoft.com/office/powerpoint/2010/main" val="2889877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52375" y="1140619"/>
            <a:ext cx="2486025" cy="785336"/>
          </a:xfrm>
          <a:custGeom>
            <a:avLst/>
            <a:gdLst/>
            <a:ahLst/>
            <a:cxnLst/>
            <a:rect l="l" t="t" r="r" b="b"/>
            <a:pathLst>
              <a:path w="3314700" h="1047114">
                <a:moveTo>
                  <a:pt x="2781145" y="1046789"/>
                </a:moveTo>
                <a:lnTo>
                  <a:pt x="533212" y="1046789"/>
                </a:lnTo>
                <a:lnTo>
                  <a:pt x="484679" y="1044651"/>
                </a:lnTo>
                <a:lnTo>
                  <a:pt x="437367" y="1038357"/>
                </a:lnTo>
                <a:lnTo>
                  <a:pt x="391463" y="1028093"/>
                </a:lnTo>
                <a:lnTo>
                  <a:pt x="347157" y="1014045"/>
                </a:lnTo>
                <a:lnTo>
                  <a:pt x="304636" y="996395"/>
                </a:lnTo>
                <a:lnTo>
                  <a:pt x="264090" y="975331"/>
                </a:lnTo>
                <a:lnTo>
                  <a:pt x="225705" y="951035"/>
                </a:lnTo>
                <a:lnTo>
                  <a:pt x="189670" y="923694"/>
                </a:lnTo>
                <a:lnTo>
                  <a:pt x="156174" y="893491"/>
                </a:lnTo>
                <a:lnTo>
                  <a:pt x="125404" y="860611"/>
                </a:lnTo>
                <a:lnTo>
                  <a:pt x="97550" y="825240"/>
                </a:lnTo>
                <a:lnTo>
                  <a:pt x="72799" y="787562"/>
                </a:lnTo>
                <a:lnTo>
                  <a:pt x="51339" y="747762"/>
                </a:lnTo>
                <a:lnTo>
                  <a:pt x="33359" y="706024"/>
                </a:lnTo>
                <a:lnTo>
                  <a:pt x="19046" y="662534"/>
                </a:lnTo>
                <a:lnTo>
                  <a:pt x="8590" y="617475"/>
                </a:lnTo>
                <a:lnTo>
                  <a:pt x="2179" y="571034"/>
                </a:lnTo>
                <a:lnTo>
                  <a:pt x="0" y="523394"/>
                </a:lnTo>
                <a:lnTo>
                  <a:pt x="2179" y="475755"/>
                </a:lnTo>
                <a:lnTo>
                  <a:pt x="8590" y="429314"/>
                </a:lnTo>
                <a:lnTo>
                  <a:pt x="19046" y="384255"/>
                </a:lnTo>
                <a:lnTo>
                  <a:pt x="33359" y="340765"/>
                </a:lnTo>
                <a:lnTo>
                  <a:pt x="51339" y="299027"/>
                </a:lnTo>
                <a:lnTo>
                  <a:pt x="72799" y="259227"/>
                </a:lnTo>
                <a:lnTo>
                  <a:pt x="97550" y="221549"/>
                </a:lnTo>
                <a:lnTo>
                  <a:pt x="125404" y="186178"/>
                </a:lnTo>
                <a:lnTo>
                  <a:pt x="156174" y="153298"/>
                </a:lnTo>
                <a:lnTo>
                  <a:pt x="189670" y="123095"/>
                </a:lnTo>
                <a:lnTo>
                  <a:pt x="225705" y="95754"/>
                </a:lnTo>
                <a:lnTo>
                  <a:pt x="264090" y="71458"/>
                </a:lnTo>
                <a:lnTo>
                  <a:pt x="304636" y="50394"/>
                </a:lnTo>
                <a:lnTo>
                  <a:pt x="347157" y="32744"/>
                </a:lnTo>
                <a:lnTo>
                  <a:pt x="391463" y="18696"/>
                </a:lnTo>
                <a:lnTo>
                  <a:pt x="437367" y="8432"/>
                </a:lnTo>
                <a:lnTo>
                  <a:pt x="484679" y="2138"/>
                </a:lnTo>
                <a:lnTo>
                  <a:pt x="533212" y="0"/>
                </a:lnTo>
                <a:lnTo>
                  <a:pt x="2781145" y="0"/>
                </a:lnTo>
                <a:lnTo>
                  <a:pt x="2829678" y="2138"/>
                </a:lnTo>
                <a:lnTo>
                  <a:pt x="2876990" y="8432"/>
                </a:lnTo>
                <a:lnTo>
                  <a:pt x="2922894" y="18696"/>
                </a:lnTo>
                <a:lnTo>
                  <a:pt x="2967200" y="32744"/>
                </a:lnTo>
                <a:lnTo>
                  <a:pt x="3009720" y="50394"/>
                </a:lnTo>
                <a:lnTo>
                  <a:pt x="3050267" y="71458"/>
                </a:lnTo>
                <a:lnTo>
                  <a:pt x="3088652" y="95754"/>
                </a:lnTo>
                <a:lnTo>
                  <a:pt x="3124687" y="123095"/>
                </a:lnTo>
                <a:lnTo>
                  <a:pt x="3158183" y="153298"/>
                </a:lnTo>
                <a:lnTo>
                  <a:pt x="3188952" y="186178"/>
                </a:lnTo>
                <a:lnTo>
                  <a:pt x="3216807" y="221549"/>
                </a:lnTo>
                <a:lnTo>
                  <a:pt x="3241558" y="259227"/>
                </a:lnTo>
                <a:lnTo>
                  <a:pt x="3263018" y="299027"/>
                </a:lnTo>
                <a:lnTo>
                  <a:pt x="3280998" y="340765"/>
                </a:lnTo>
                <a:lnTo>
                  <a:pt x="3295310" y="384255"/>
                </a:lnTo>
                <a:lnTo>
                  <a:pt x="3305766" y="429314"/>
                </a:lnTo>
                <a:lnTo>
                  <a:pt x="3312178" y="475755"/>
                </a:lnTo>
                <a:lnTo>
                  <a:pt x="3314357" y="523394"/>
                </a:lnTo>
                <a:lnTo>
                  <a:pt x="3312178" y="571034"/>
                </a:lnTo>
                <a:lnTo>
                  <a:pt x="3305766" y="617475"/>
                </a:lnTo>
                <a:lnTo>
                  <a:pt x="3295310" y="662534"/>
                </a:lnTo>
                <a:lnTo>
                  <a:pt x="3280998" y="706024"/>
                </a:lnTo>
                <a:lnTo>
                  <a:pt x="3263018" y="747762"/>
                </a:lnTo>
                <a:lnTo>
                  <a:pt x="3241558" y="787562"/>
                </a:lnTo>
                <a:lnTo>
                  <a:pt x="3216807" y="825240"/>
                </a:lnTo>
                <a:lnTo>
                  <a:pt x="3188952" y="860611"/>
                </a:lnTo>
                <a:lnTo>
                  <a:pt x="3158183" y="893491"/>
                </a:lnTo>
                <a:lnTo>
                  <a:pt x="3124687" y="923694"/>
                </a:lnTo>
                <a:lnTo>
                  <a:pt x="3088652" y="951035"/>
                </a:lnTo>
                <a:lnTo>
                  <a:pt x="3050267" y="975331"/>
                </a:lnTo>
                <a:lnTo>
                  <a:pt x="3009720" y="996395"/>
                </a:lnTo>
                <a:lnTo>
                  <a:pt x="2967200" y="1014045"/>
                </a:lnTo>
                <a:lnTo>
                  <a:pt x="2922894" y="1028093"/>
                </a:lnTo>
                <a:lnTo>
                  <a:pt x="2876990" y="1038357"/>
                </a:lnTo>
                <a:lnTo>
                  <a:pt x="2829678" y="1044651"/>
                </a:lnTo>
                <a:lnTo>
                  <a:pt x="2781145" y="1046789"/>
                </a:lnTo>
                <a:close/>
              </a:path>
            </a:pathLst>
          </a:custGeom>
          <a:solidFill>
            <a:srgbClr val="42C1C9"/>
          </a:solidFill>
        </p:spPr>
        <p:txBody>
          <a:bodyPr wrap="square" lIns="0" tIns="0" rIns="0" bIns="0" rtlCol="0"/>
          <a:lstStyle/>
          <a:p>
            <a:endParaRPr sz="1050"/>
          </a:p>
        </p:txBody>
      </p:sp>
      <p:sp>
        <p:nvSpPr>
          <p:cNvPr id="4" name="object 4"/>
          <p:cNvSpPr/>
          <p:nvPr/>
        </p:nvSpPr>
        <p:spPr>
          <a:xfrm>
            <a:off x="552375" y="3026879"/>
            <a:ext cx="2486025" cy="785336"/>
          </a:xfrm>
          <a:custGeom>
            <a:avLst/>
            <a:gdLst/>
            <a:ahLst/>
            <a:cxnLst/>
            <a:rect l="l" t="t" r="r" b="b"/>
            <a:pathLst>
              <a:path w="3314700" h="1047114">
                <a:moveTo>
                  <a:pt x="2781145" y="1046789"/>
                </a:moveTo>
                <a:lnTo>
                  <a:pt x="533212" y="1046789"/>
                </a:lnTo>
                <a:lnTo>
                  <a:pt x="484679" y="1044651"/>
                </a:lnTo>
                <a:lnTo>
                  <a:pt x="437367" y="1038357"/>
                </a:lnTo>
                <a:lnTo>
                  <a:pt x="391463" y="1028093"/>
                </a:lnTo>
                <a:lnTo>
                  <a:pt x="347157" y="1014045"/>
                </a:lnTo>
                <a:lnTo>
                  <a:pt x="304636" y="996395"/>
                </a:lnTo>
                <a:lnTo>
                  <a:pt x="264090" y="975331"/>
                </a:lnTo>
                <a:lnTo>
                  <a:pt x="225705" y="951035"/>
                </a:lnTo>
                <a:lnTo>
                  <a:pt x="189670" y="923694"/>
                </a:lnTo>
                <a:lnTo>
                  <a:pt x="156174" y="893491"/>
                </a:lnTo>
                <a:lnTo>
                  <a:pt x="125404" y="860611"/>
                </a:lnTo>
                <a:lnTo>
                  <a:pt x="97550" y="825240"/>
                </a:lnTo>
                <a:lnTo>
                  <a:pt x="72799" y="787562"/>
                </a:lnTo>
                <a:lnTo>
                  <a:pt x="51339" y="747762"/>
                </a:lnTo>
                <a:lnTo>
                  <a:pt x="33359" y="706024"/>
                </a:lnTo>
                <a:lnTo>
                  <a:pt x="19046" y="662533"/>
                </a:lnTo>
                <a:lnTo>
                  <a:pt x="8590" y="617475"/>
                </a:lnTo>
                <a:lnTo>
                  <a:pt x="2179" y="571034"/>
                </a:lnTo>
                <a:lnTo>
                  <a:pt x="0" y="523394"/>
                </a:lnTo>
                <a:lnTo>
                  <a:pt x="2179" y="475755"/>
                </a:lnTo>
                <a:lnTo>
                  <a:pt x="8590" y="429313"/>
                </a:lnTo>
                <a:lnTo>
                  <a:pt x="19046" y="384255"/>
                </a:lnTo>
                <a:lnTo>
                  <a:pt x="33359" y="340765"/>
                </a:lnTo>
                <a:lnTo>
                  <a:pt x="51339" y="299027"/>
                </a:lnTo>
                <a:lnTo>
                  <a:pt x="72799" y="259227"/>
                </a:lnTo>
                <a:lnTo>
                  <a:pt x="97550" y="221549"/>
                </a:lnTo>
                <a:lnTo>
                  <a:pt x="125404" y="186178"/>
                </a:lnTo>
                <a:lnTo>
                  <a:pt x="156174" y="153298"/>
                </a:lnTo>
                <a:lnTo>
                  <a:pt x="189670" y="123095"/>
                </a:lnTo>
                <a:lnTo>
                  <a:pt x="225705" y="95754"/>
                </a:lnTo>
                <a:lnTo>
                  <a:pt x="264090" y="71458"/>
                </a:lnTo>
                <a:lnTo>
                  <a:pt x="304636" y="50394"/>
                </a:lnTo>
                <a:lnTo>
                  <a:pt x="347157" y="32744"/>
                </a:lnTo>
                <a:lnTo>
                  <a:pt x="391463" y="18696"/>
                </a:lnTo>
                <a:lnTo>
                  <a:pt x="437367" y="8432"/>
                </a:lnTo>
                <a:lnTo>
                  <a:pt x="484679" y="2138"/>
                </a:lnTo>
                <a:lnTo>
                  <a:pt x="533212" y="0"/>
                </a:lnTo>
                <a:lnTo>
                  <a:pt x="2781145" y="0"/>
                </a:lnTo>
                <a:lnTo>
                  <a:pt x="2829678" y="2138"/>
                </a:lnTo>
                <a:lnTo>
                  <a:pt x="2876990" y="8432"/>
                </a:lnTo>
                <a:lnTo>
                  <a:pt x="2922894" y="18696"/>
                </a:lnTo>
                <a:lnTo>
                  <a:pt x="2967200" y="32744"/>
                </a:lnTo>
                <a:lnTo>
                  <a:pt x="3009720" y="50394"/>
                </a:lnTo>
                <a:lnTo>
                  <a:pt x="3050267" y="71458"/>
                </a:lnTo>
                <a:lnTo>
                  <a:pt x="3088652" y="95754"/>
                </a:lnTo>
                <a:lnTo>
                  <a:pt x="3124687" y="123095"/>
                </a:lnTo>
                <a:lnTo>
                  <a:pt x="3158183" y="153298"/>
                </a:lnTo>
                <a:lnTo>
                  <a:pt x="3188952" y="186178"/>
                </a:lnTo>
                <a:lnTo>
                  <a:pt x="3216807" y="221549"/>
                </a:lnTo>
                <a:lnTo>
                  <a:pt x="3241558" y="259227"/>
                </a:lnTo>
                <a:lnTo>
                  <a:pt x="3263018" y="299027"/>
                </a:lnTo>
                <a:lnTo>
                  <a:pt x="3280998" y="340765"/>
                </a:lnTo>
                <a:lnTo>
                  <a:pt x="3295310" y="384255"/>
                </a:lnTo>
                <a:lnTo>
                  <a:pt x="3305766" y="429313"/>
                </a:lnTo>
                <a:lnTo>
                  <a:pt x="3312178" y="475755"/>
                </a:lnTo>
                <a:lnTo>
                  <a:pt x="3314357" y="523394"/>
                </a:lnTo>
                <a:lnTo>
                  <a:pt x="3312178" y="571034"/>
                </a:lnTo>
                <a:lnTo>
                  <a:pt x="3305766" y="617475"/>
                </a:lnTo>
                <a:lnTo>
                  <a:pt x="3295310" y="662533"/>
                </a:lnTo>
                <a:lnTo>
                  <a:pt x="3280998" y="706024"/>
                </a:lnTo>
                <a:lnTo>
                  <a:pt x="3263018" y="747762"/>
                </a:lnTo>
                <a:lnTo>
                  <a:pt x="3241558" y="787562"/>
                </a:lnTo>
                <a:lnTo>
                  <a:pt x="3216807" y="825240"/>
                </a:lnTo>
                <a:lnTo>
                  <a:pt x="3188952" y="860611"/>
                </a:lnTo>
                <a:lnTo>
                  <a:pt x="3158183" y="893491"/>
                </a:lnTo>
                <a:lnTo>
                  <a:pt x="3124687" y="923694"/>
                </a:lnTo>
                <a:lnTo>
                  <a:pt x="3088652" y="951035"/>
                </a:lnTo>
                <a:lnTo>
                  <a:pt x="3050267" y="975331"/>
                </a:lnTo>
                <a:lnTo>
                  <a:pt x="3009720" y="996395"/>
                </a:lnTo>
                <a:lnTo>
                  <a:pt x="2967200" y="1014045"/>
                </a:lnTo>
                <a:lnTo>
                  <a:pt x="2922894" y="1028093"/>
                </a:lnTo>
                <a:lnTo>
                  <a:pt x="2876990" y="1038357"/>
                </a:lnTo>
                <a:lnTo>
                  <a:pt x="2829678" y="1044651"/>
                </a:lnTo>
                <a:lnTo>
                  <a:pt x="2781145" y="1046789"/>
                </a:lnTo>
                <a:close/>
              </a:path>
            </a:pathLst>
          </a:custGeom>
          <a:solidFill>
            <a:srgbClr val="EE494B"/>
          </a:solidFill>
        </p:spPr>
        <p:txBody>
          <a:bodyPr wrap="square" lIns="0" tIns="0" rIns="0" bIns="0" rtlCol="0"/>
          <a:lstStyle/>
          <a:p>
            <a:endParaRPr sz="1050"/>
          </a:p>
        </p:txBody>
      </p:sp>
      <p:grpSp>
        <p:nvGrpSpPr>
          <p:cNvPr id="5" name="object 5"/>
          <p:cNvGrpSpPr/>
          <p:nvPr/>
        </p:nvGrpSpPr>
        <p:grpSpPr>
          <a:xfrm>
            <a:off x="552375" y="1006163"/>
            <a:ext cx="2934728" cy="4035266"/>
            <a:chOff x="736500" y="1341551"/>
            <a:chExt cx="3912970" cy="5380355"/>
          </a:xfrm>
        </p:grpSpPr>
        <p:sp>
          <p:nvSpPr>
            <p:cNvPr id="6" name="object 6"/>
            <p:cNvSpPr/>
            <p:nvPr/>
          </p:nvSpPr>
          <p:spPr>
            <a:xfrm>
              <a:off x="736500" y="5369549"/>
              <a:ext cx="3314700" cy="1047115"/>
            </a:xfrm>
            <a:custGeom>
              <a:avLst/>
              <a:gdLst/>
              <a:ahLst/>
              <a:cxnLst/>
              <a:rect l="l" t="t" r="r" b="b"/>
              <a:pathLst>
                <a:path w="3314700" h="1047114">
                  <a:moveTo>
                    <a:pt x="2781145" y="1046789"/>
                  </a:moveTo>
                  <a:lnTo>
                    <a:pt x="533212" y="1046789"/>
                  </a:lnTo>
                  <a:lnTo>
                    <a:pt x="484679" y="1044651"/>
                  </a:lnTo>
                  <a:lnTo>
                    <a:pt x="437367" y="1038357"/>
                  </a:lnTo>
                  <a:lnTo>
                    <a:pt x="391463" y="1028093"/>
                  </a:lnTo>
                  <a:lnTo>
                    <a:pt x="347157" y="1014045"/>
                  </a:lnTo>
                  <a:lnTo>
                    <a:pt x="304636" y="996395"/>
                  </a:lnTo>
                  <a:lnTo>
                    <a:pt x="264090" y="975331"/>
                  </a:lnTo>
                  <a:lnTo>
                    <a:pt x="225705" y="951035"/>
                  </a:lnTo>
                  <a:lnTo>
                    <a:pt x="189670" y="923694"/>
                  </a:lnTo>
                  <a:lnTo>
                    <a:pt x="156174" y="893491"/>
                  </a:lnTo>
                  <a:lnTo>
                    <a:pt x="125404" y="860611"/>
                  </a:lnTo>
                  <a:lnTo>
                    <a:pt x="97550" y="825240"/>
                  </a:lnTo>
                  <a:lnTo>
                    <a:pt x="72799" y="787562"/>
                  </a:lnTo>
                  <a:lnTo>
                    <a:pt x="51339" y="747762"/>
                  </a:lnTo>
                  <a:lnTo>
                    <a:pt x="33359" y="706024"/>
                  </a:lnTo>
                  <a:lnTo>
                    <a:pt x="19046" y="662534"/>
                  </a:lnTo>
                  <a:lnTo>
                    <a:pt x="8590" y="617475"/>
                  </a:lnTo>
                  <a:lnTo>
                    <a:pt x="2179" y="571034"/>
                  </a:lnTo>
                  <a:lnTo>
                    <a:pt x="0" y="523394"/>
                  </a:lnTo>
                  <a:lnTo>
                    <a:pt x="2179" y="475755"/>
                  </a:lnTo>
                  <a:lnTo>
                    <a:pt x="8590" y="429314"/>
                  </a:lnTo>
                  <a:lnTo>
                    <a:pt x="19046" y="384255"/>
                  </a:lnTo>
                  <a:lnTo>
                    <a:pt x="33359" y="340765"/>
                  </a:lnTo>
                  <a:lnTo>
                    <a:pt x="51339" y="299027"/>
                  </a:lnTo>
                  <a:lnTo>
                    <a:pt x="72799" y="259227"/>
                  </a:lnTo>
                  <a:lnTo>
                    <a:pt x="97550" y="221549"/>
                  </a:lnTo>
                  <a:lnTo>
                    <a:pt x="125404" y="186178"/>
                  </a:lnTo>
                  <a:lnTo>
                    <a:pt x="156174" y="153298"/>
                  </a:lnTo>
                  <a:lnTo>
                    <a:pt x="189670" y="123095"/>
                  </a:lnTo>
                  <a:lnTo>
                    <a:pt x="225705" y="95754"/>
                  </a:lnTo>
                  <a:lnTo>
                    <a:pt x="264090" y="71458"/>
                  </a:lnTo>
                  <a:lnTo>
                    <a:pt x="304636" y="50394"/>
                  </a:lnTo>
                  <a:lnTo>
                    <a:pt x="347157" y="32744"/>
                  </a:lnTo>
                  <a:lnTo>
                    <a:pt x="391463" y="18696"/>
                  </a:lnTo>
                  <a:lnTo>
                    <a:pt x="437367" y="8432"/>
                  </a:lnTo>
                  <a:lnTo>
                    <a:pt x="484679" y="2138"/>
                  </a:lnTo>
                  <a:lnTo>
                    <a:pt x="533212" y="0"/>
                  </a:lnTo>
                  <a:lnTo>
                    <a:pt x="2781145" y="0"/>
                  </a:lnTo>
                  <a:lnTo>
                    <a:pt x="2829678" y="2138"/>
                  </a:lnTo>
                  <a:lnTo>
                    <a:pt x="2876990" y="8432"/>
                  </a:lnTo>
                  <a:lnTo>
                    <a:pt x="2922894" y="18696"/>
                  </a:lnTo>
                  <a:lnTo>
                    <a:pt x="2967200" y="32744"/>
                  </a:lnTo>
                  <a:lnTo>
                    <a:pt x="3009720" y="50394"/>
                  </a:lnTo>
                  <a:lnTo>
                    <a:pt x="3050267" y="71458"/>
                  </a:lnTo>
                  <a:lnTo>
                    <a:pt x="3088652" y="95754"/>
                  </a:lnTo>
                  <a:lnTo>
                    <a:pt x="3124687" y="123095"/>
                  </a:lnTo>
                  <a:lnTo>
                    <a:pt x="3158183" y="153298"/>
                  </a:lnTo>
                  <a:lnTo>
                    <a:pt x="3188952" y="186178"/>
                  </a:lnTo>
                  <a:lnTo>
                    <a:pt x="3216807" y="221549"/>
                  </a:lnTo>
                  <a:lnTo>
                    <a:pt x="3241558" y="259227"/>
                  </a:lnTo>
                  <a:lnTo>
                    <a:pt x="3263018" y="299027"/>
                  </a:lnTo>
                  <a:lnTo>
                    <a:pt x="3280998" y="340765"/>
                  </a:lnTo>
                  <a:lnTo>
                    <a:pt x="3295310" y="384255"/>
                  </a:lnTo>
                  <a:lnTo>
                    <a:pt x="3305766" y="429314"/>
                  </a:lnTo>
                  <a:lnTo>
                    <a:pt x="3312178" y="475755"/>
                  </a:lnTo>
                  <a:lnTo>
                    <a:pt x="3314357" y="523394"/>
                  </a:lnTo>
                  <a:lnTo>
                    <a:pt x="3312178" y="571034"/>
                  </a:lnTo>
                  <a:lnTo>
                    <a:pt x="3305766" y="617475"/>
                  </a:lnTo>
                  <a:lnTo>
                    <a:pt x="3295310" y="662534"/>
                  </a:lnTo>
                  <a:lnTo>
                    <a:pt x="3280998" y="706024"/>
                  </a:lnTo>
                  <a:lnTo>
                    <a:pt x="3263018" y="747762"/>
                  </a:lnTo>
                  <a:lnTo>
                    <a:pt x="3241558" y="787562"/>
                  </a:lnTo>
                  <a:lnTo>
                    <a:pt x="3216807" y="825240"/>
                  </a:lnTo>
                  <a:lnTo>
                    <a:pt x="3188952" y="860611"/>
                  </a:lnTo>
                  <a:lnTo>
                    <a:pt x="3158183" y="893491"/>
                  </a:lnTo>
                  <a:lnTo>
                    <a:pt x="3124687" y="923694"/>
                  </a:lnTo>
                  <a:lnTo>
                    <a:pt x="3088652" y="951035"/>
                  </a:lnTo>
                  <a:lnTo>
                    <a:pt x="3050267" y="975331"/>
                  </a:lnTo>
                  <a:lnTo>
                    <a:pt x="3009720" y="996395"/>
                  </a:lnTo>
                  <a:lnTo>
                    <a:pt x="2967200" y="1014045"/>
                  </a:lnTo>
                  <a:lnTo>
                    <a:pt x="2922894" y="1028093"/>
                  </a:lnTo>
                  <a:lnTo>
                    <a:pt x="2876990" y="1038357"/>
                  </a:lnTo>
                  <a:lnTo>
                    <a:pt x="2829678" y="1044651"/>
                  </a:lnTo>
                  <a:lnTo>
                    <a:pt x="2781145" y="1046789"/>
                  </a:lnTo>
                  <a:close/>
                </a:path>
              </a:pathLst>
            </a:custGeom>
            <a:solidFill>
              <a:srgbClr val="FC7942"/>
            </a:solidFill>
          </p:spPr>
          <p:txBody>
            <a:bodyPr wrap="square" lIns="0" tIns="0" rIns="0" bIns="0" rtlCol="0"/>
            <a:lstStyle/>
            <a:p>
              <a:endParaRPr sz="1050"/>
            </a:p>
          </p:txBody>
        </p:sp>
        <p:sp>
          <p:nvSpPr>
            <p:cNvPr id="7" name="object 7"/>
            <p:cNvSpPr/>
            <p:nvPr/>
          </p:nvSpPr>
          <p:spPr>
            <a:xfrm>
              <a:off x="3433445" y="1341551"/>
              <a:ext cx="1216025" cy="5380355"/>
            </a:xfrm>
            <a:custGeom>
              <a:avLst/>
              <a:gdLst/>
              <a:ahLst/>
              <a:cxnLst/>
              <a:rect l="l" t="t" r="r" b="b"/>
              <a:pathLst>
                <a:path w="1216025" h="5380355">
                  <a:moveTo>
                    <a:pt x="55499" y="152349"/>
                  </a:moveTo>
                  <a:lnTo>
                    <a:pt x="0" y="152349"/>
                  </a:lnTo>
                  <a:lnTo>
                    <a:pt x="0" y="5379859"/>
                  </a:lnTo>
                  <a:lnTo>
                    <a:pt x="55499" y="5379859"/>
                  </a:lnTo>
                  <a:lnTo>
                    <a:pt x="55499" y="152349"/>
                  </a:lnTo>
                  <a:close/>
                </a:path>
                <a:path w="1216025" h="5380355">
                  <a:moveTo>
                    <a:pt x="1215567" y="0"/>
                  </a:moveTo>
                  <a:lnTo>
                    <a:pt x="152374" y="0"/>
                  </a:lnTo>
                  <a:lnTo>
                    <a:pt x="152374" y="5227510"/>
                  </a:lnTo>
                  <a:lnTo>
                    <a:pt x="1215567" y="5227510"/>
                  </a:lnTo>
                  <a:lnTo>
                    <a:pt x="1215567" y="0"/>
                  </a:lnTo>
                  <a:close/>
                </a:path>
              </a:pathLst>
            </a:custGeom>
            <a:solidFill>
              <a:srgbClr val="FFFFFF"/>
            </a:solidFill>
          </p:spPr>
          <p:txBody>
            <a:bodyPr wrap="square" lIns="0" tIns="0" rIns="0" bIns="0" rtlCol="0"/>
            <a:lstStyle/>
            <a:p>
              <a:endParaRPr sz="1050"/>
            </a:p>
          </p:txBody>
        </p:sp>
      </p:grpSp>
      <p:sp>
        <p:nvSpPr>
          <p:cNvPr id="9" name="object 9"/>
          <p:cNvSpPr txBox="1"/>
          <p:nvPr/>
        </p:nvSpPr>
        <p:spPr>
          <a:xfrm>
            <a:off x="1248310" y="1288898"/>
            <a:ext cx="1269683" cy="378950"/>
          </a:xfrm>
          <a:prstGeom prst="rect">
            <a:avLst/>
          </a:prstGeom>
        </p:spPr>
        <p:txBody>
          <a:bodyPr vert="horz" wrap="square" lIns="0" tIns="9525" rIns="0" bIns="0" rtlCol="0">
            <a:spAutoFit/>
          </a:bodyPr>
          <a:lstStyle/>
          <a:p>
            <a:pPr marL="9525" marR="3810">
              <a:spcBef>
                <a:spcPts val="75"/>
              </a:spcBef>
            </a:pPr>
            <a:r>
              <a:rPr sz="1200" b="1" spc="-8" dirty="0">
                <a:solidFill>
                  <a:srgbClr val="FFFFFF"/>
                </a:solidFill>
                <a:latin typeface="Cambria"/>
                <a:cs typeface="Cambria"/>
              </a:rPr>
              <a:t>Literature</a:t>
            </a:r>
            <a:r>
              <a:rPr sz="1200" b="1" spc="-56" dirty="0">
                <a:solidFill>
                  <a:srgbClr val="FFFFFF"/>
                </a:solidFill>
                <a:latin typeface="Cambria"/>
                <a:cs typeface="Cambria"/>
              </a:rPr>
              <a:t> </a:t>
            </a:r>
            <a:r>
              <a:rPr sz="1200" b="1" spc="-8" dirty="0">
                <a:solidFill>
                  <a:srgbClr val="FFFFFF"/>
                </a:solidFill>
                <a:latin typeface="Cambria"/>
                <a:cs typeface="Cambria"/>
              </a:rPr>
              <a:t>Review </a:t>
            </a:r>
            <a:r>
              <a:rPr sz="1200" b="1" dirty="0">
                <a:solidFill>
                  <a:srgbClr val="FFFFFF"/>
                </a:solidFill>
                <a:latin typeface="Cambria"/>
                <a:cs typeface="Cambria"/>
              </a:rPr>
              <a:t>and</a:t>
            </a:r>
            <a:r>
              <a:rPr sz="1200" b="1" spc="-15" dirty="0">
                <a:solidFill>
                  <a:srgbClr val="FFFFFF"/>
                </a:solidFill>
                <a:latin typeface="Cambria"/>
                <a:cs typeface="Cambria"/>
              </a:rPr>
              <a:t> </a:t>
            </a:r>
            <a:r>
              <a:rPr sz="1200" b="1" dirty="0">
                <a:solidFill>
                  <a:srgbClr val="FFFFFF"/>
                </a:solidFill>
                <a:latin typeface="Cambria"/>
                <a:cs typeface="Cambria"/>
              </a:rPr>
              <a:t>Field</a:t>
            </a:r>
            <a:r>
              <a:rPr sz="1200" b="1" spc="-15" dirty="0">
                <a:solidFill>
                  <a:srgbClr val="FFFFFF"/>
                </a:solidFill>
                <a:latin typeface="Cambria"/>
                <a:cs typeface="Cambria"/>
              </a:rPr>
              <a:t> </a:t>
            </a:r>
            <a:r>
              <a:rPr sz="1200" b="1" spc="-8" dirty="0">
                <a:solidFill>
                  <a:srgbClr val="FFFFFF"/>
                </a:solidFill>
                <a:latin typeface="Cambria"/>
                <a:cs typeface="Cambria"/>
              </a:rPr>
              <a:t>Survey</a:t>
            </a:r>
            <a:endParaRPr sz="1200">
              <a:latin typeface="Cambria"/>
              <a:cs typeface="Cambria"/>
            </a:endParaRPr>
          </a:p>
        </p:txBody>
      </p:sp>
      <p:sp>
        <p:nvSpPr>
          <p:cNvPr id="10" name="object 10"/>
          <p:cNvSpPr txBox="1"/>
          <p:nvPr/>
        </p:nvSpPr>
        <p:spPr>
          <a:xfrm>
            <a:off x="2784996" y="3011108"/>
            <a:ext cx="5534501" cy="667490"/>
          </a:xfrm>
          <a:prstGeom prst="rect">
            <a:avLst/>
          </a:prstGeom>
        </p:spPr>
        <p:txBody>
          <a:bodyPr vert="horz" wrap="square" lIns="0" tIns="9525" rIns="0" bIns="0" rtlCol="0">
            <a:spAutoFit/>
          </a:bodyPr>
          <a:lstStyle/>
          <a:p>
            <a:pPr marL="9525" marR="3810">
              <a:spcBef>
                <a:spcPts val="75"/>
              </a:spcBef>
            </a:pPr>
            <a:r>
              <a:rPr sz="1425" b="1" spc="-15" dirty="0">
                <a:latin typeface="Cambria"/>
                <a:cs typeface="Cambria"/>
              </a:rPr>
              <a:t>Developed</a:t>
            </a:r>
            <a:r>
              <a:rPr sz="1425" b="1" spc="-41" dirty="0">
                <a:latin typeface="Cambria"/>
                <a:cs typeface="Cambria"/>
              </a:rPr>
              <a:t> </a:t>
            </a:r>
            <a:r>
              <a:rPr sz="1425" b="1" spc="-15" dirty="0">
                <a:latin typeface="Cambria"/>
                <a:cs typeface="Cambria"/>
              </a:rPr>
              <a:t>Weather</a:t>
            </a:r>
            <a:r>
              <a:rPr sz="1425" b="1" spc="-38" dirty="0">
                <a:latin typeface="Cambria"/>
                <a:cs typeface="Cambria"/>
              </a:rPr>
              <a:t> </a:t>
            </a:r>
            <a:r>
              <a:rPr sz="1425" b="1" dirty="0">
                <a:latin typeface="Cambria"/>
                <a:cs typeface="Cambria"/>
              </a:rPr>
              <a:t>Station</a:t>
            </a:r>
            <a:r>
              <a:rPr sz="1425" b="1" spc="-38" dirty="0">
                <a:latin typeface="Cambria"/>
                <a:cs typeface="Cambria"/>
              </a:rPr>
              <a:t> </a:t>
            </a:r>
            <a:r>
              <a:rPr sz="1425" b="1" dirty="0" smtClean="0">
                <a:latin typeface="Cambria"/>
                <a:cs typeface="Cambria"/>
              </a:rPr>
              <a:t>v1</a:t>
            </a:r>
            <a:r>
              <a:rPr lang="en-IN" sz="1425" b="1" dirty="0" smtClean="0">
                <a:latin typeface="Cambria"/>
                <a:cs typeface="Cambria"/>
              </a:rPr>
              <a:t>&amp;v2</a:t>
            </a:r>
            <a:r>
              <a:rPr sz="1425" b="1" spc="-26" dirty="0" smtClean="0">
                <a:latin typeface="Cambria"/>
                <a:cs typeface="Cambria"/>
              </a:rPr>
              <a:t> </a:t>
            </a:r>
            <a:r>
              <a:rPr sz="1425" dirty="0">
                <a:latin typeface="Cambria"/>
                <a:cs typeface="Cambria"/>
              </a:rPr>
              <a:t>and</a:t>
            </a:r>
            <a:r>
              <a:rPr sz="1425" spc="-38" dirty="0">
                <a:latin typeface="Cambria"/>
                <a:cs typeface="Cambria"/>
              </a:rPr>
              <a:t> </a:t>
            </a:r>
            <a:r>
              <a:rPr sz="1425" dirty="0">
                <a:latin typeface="Cambria"/>
                <a:cs typeface="Cambria"/>
              </a:rPr>
              <a:t>a</a:t>
            </a:r>
            <a:r>
              <a:rPr sz="1425" spc="-38" dirty="0">
                <a:latin typeface="Cambria"/>
                <a:cs typeface="Cambria"/>
              </a:rPr>
              <a:t> </a:t>
            </a:r>
            <a:r>
              <a:rPr sz="1425" b="1" dirty="0">
                <a:latin typeface="Cambria"/>
                <a:cs typeface="Cambria"/>
              </a:rPr>
              <a:t>draft</a:t>
            </a:r>
            <a:r>
              <a:rPr sz="1425" b="1" spc="-38" dirty="0">
                <a:latin typeface="Cambria"/>
                <a:cs typeface="Cambria"/>
              </a:rPr>
              <a:t> </a:t>
            </a:r>
            <a:r>
              <a:rPr sz="1425" b="1" dirty="0">
                <a:latin typeface="Cambria"/>
                <a:cs typeface="Cambria"/>
              </a:rPr>
              <a:t>web</a:t>
            </a:r>
            <a:r>
              <a:rPr sz="1425" b="1" spc="-38" dirty="0">
                <a:latin typeface="Cambria"/>
                <a:cs typeface="Cambria"/>
              </a:rPr>
              <a:t> </a:t>
            </a:r>
            <a:r>
              <a:rPr sz="1425" b="1" dirty="0">
                <a:latin typeface="Cambria"/>
                <a:cs typeface="Cambria"/>
              </a:rPr>
              <a:t>page</a:t>
            </a:r>
            <a:r>
              <a:rPr sz="1425" b="1" spc="-30" dirty="0">
                <a:latin typeface="Cambria"/>
                <a:cs typeface="Cambria"/>
              </a:rPr>
              <a:t> </a:t>
            </a:r>
            <a:r>
              <a:rPr sz="1425" dirty="0">
                <a:latin typeface="Cambria"/>
                <a:cs typeface="Cambria"/>
              </a:rPr>
              <a:t>to</a:t>
            </a:r>
            <a:r>
              <a:rPr sz="1425" spc="-38" dirty="0">
                <a:latin typeface="Cambria"/>
                <a:cs typeface="Cambria"/>
              </a:rPr>
              <a:t> </a:t>
            </a:r>
            <a:r>
              <a:rPr sz="1425" spc="-8" dirty="0">
                <a:latin typeface="Cambria"/>
                <a:cs typeface="Cambria"/>
              </a:rPr>
              <a:t>showcase</a:t>
            </a:r>
            <a:r>
              <a:rPr sz="1425" spc="-38" dirty="0">
                <a:latin typeface="Cambria"/>
                <a:cs typeface="Cambria"/>
              </a:rPr>
              <a:t> </a:t>
            </a:r>
            <a:r>
              <a:rPr sz="1425" spc="-19" dirty="0">
                <a:latin typeface="Cambria"/>
                <a:cs typeface="Cambria"/>
              </a:rPr>
              <a:t>key </a:t>
            </a:r>
            <a:r>
              <a:rPr sz="1425" dirty="0">
                <a:latin typeface="Cambria"/>
                <a:cs typeface="Cambria"/>
              </a:rPr>
              <a:t>weather</a:t>
            </a:r>
            <a:r>
              <a:rPr sz="1425" spc="-34" dirty="0">
                <a:latin typeface="Cambria"/>
                <a:cs typeface="Cambria"/>
              </a:rPr>
              <a:t> </a:t>
            </a:r>
            <a:r>
              <a:rPr sz="1425" spc="-8" dirty="0">
                <a:latin typeface="Cambria"/>
                <a:cs typeface="Cambria"/>
              </a:rPr>
              <a:t>parameters</a:t>
            </a:r>
            <a:r>
              <a:rPr sz="1425" spc="-34" dirty="0">
                <a:latin typeface="Cambria"/>
                <a:cs typeface="Cambria"/>
              </a:rPr>
              <a:t> </a:t>
            </a:r>
            <a:r>
              <a:rPr sz="1425" dirty="0">
                <a:latin typeface="Cambria"/>
                <a:cs typeface="Cambria"/>
              </a:rPr>
              <a:t>including</a:t>
            </a:r>
            <a:r>
              <a:rPr sz="1425" spc="-34" dirty="0">
                <a:latin typeface="Cambria"/>
                <a:cs typeface="Cambria"/>
              </a:rPr>
              <a:t> </a:t>
            </a:r>
            <a:r>
              <a:rPr sz="1425" dirty="0">
                <a:latin typeface="Cambria"/>
                <a:cs typeface="Cambria"/>
              </a:rPr>
              <a:t>rainfall,</a:t>
            </a:r>
            <a:r>
              <a:rPr sz="1425" spc="-34" dirty="0">
                <a:latin typeface="Cambria"/>
                <a:cs typeface="Cambria"/>
              </a:rPr>
              <a:t> </a:t>
            </a:r>
            <a:r>
              <a:rPr sz="1425" dirty="0">
                <a:latin typeface="Cambria"/>
                <a:cs typeface="Cambria"/>
              </a:rPr>
              <a:t>wind</a:t>
            </a:r>
            <a:r>
              <a:rPr sz="1425" spc="-34" dirty="0">
                <a:latin typeface="Cambria"/>
                <a:cs typeface="Cambria"/>
              </a:rPr>
              <a:t> </a:t>
            </a:r>
            <a:r>
              <a:rPr sz="1425" dirty="0">
                <a:latin typeface="Cambria"/>
                <a:cs typeface="Cambria"/>
              </a:rPr>
              <a:t>speed,</a:t>
            </a:r>
            <a:r>
              <a:rPr sz="1425" spc="-34" dirty="0">
                <a:latin typeface="Cambria"/>
                <a:cs typeface="Cambria"/>
              </a:rPr>
              <a:t> </a:t>
            </a:r>
            <a:r>
              <a:rPr sz="1425" dirty="0">
                <a:latin typeface="Cambria"/>
                <a:cs typeface="Cambria"/>
              </a:rPr>
              <a:t>wind</a:t>
            </a:r>
            <a:r>
              <a:rPr sz="1425" spc="-34" dirty="0">
                <a:latin typeface="Cambria"/>
                <a:cs typeface="Cambria"/>
              </a:rPr>
              <a:t> </a:t>
            </a:r>
            <a:r>
              <a:rPr sz="1425" spc="-8" dirty="0">
                <a:latin typeface="Cambria"/>
                <a:cs typeface="Cambria"/>
              </a:rPr>
              <a:t>direction, temperature,</a:t>
            </a:r>
            <a:r>
              <a:rPr sz="1425" spc="-15" dirty="0">
                <a:latin typeface="Cambria"/>
                <a:cs typeface="Cambria"/>
              </a:rPr>
              <a:t> humidity, </a:t>
            </a:r>
            <a:r>
              <a:rPr sz="1425" dirty="0">
                <a:latin typeface="Cambria"/>
                <a:cs typeface="Cambria"/>
              </a:rPr>
              <a:t>and</a:t>
            </a:r>
            <a:r>
              <a:rPr sz="1425" spc="-11" dirty="0">
                <a:latin typeface="Cambria"/>
                <a:cs typeface="Cambria"/>
              </a:rPr>
              <a:t> </a:t>
            </a:r>
            <a:r>
              <a:rPr sz="1425" spc="-8" dirty="0">
                <a:latin typeface="Cambria"/>
                <a:cs typeface="Cambria"/>
              </a:rPr>
              <a:t>pressure.</a:t>
            </a:r>
            <a:endParaRPr sz="1425" dirty="0">
              <a:latin typeface="Cambria"/>
              <a:cs typeface="Cambria"/>
            </a:endParaRPr>
          </a:p>
        </p:txBody>
      </p:sp>
      <p:sp>
        <p:nvSpPr>
          <p:cNvPr id="11" name="object 11"/>
          <p:cNvSpPr txBox="1"/>
          <p:nvPr/>
        </p:nvSpPr>
        <p:spPr>
          <a:xfrm>
            <a:off x="1274995" y="2198502"/>
            <a:ext cx="950595" cy="194284"/>
          </a:xfrm>
          <a:prstGeom prst="rect">
            <a:avLst/>
          </a:prstGeom>
        </p:spPr>
        <p:txBody>
          <a:bodyPr vert="horz" wrap="square" lIns="0" tIns="9525" rIns="0" bIns="0" rtlCol="0">
            <a:spAutoFit/>
          </a:bodyPr>
          <a:lstStyle/>
          <a:p>
            <a:pPr marL="9525" marR="3810">
              <a:spcBef>
                <a:spcPts val="75"/>
              </a:spcBef>
            </a:pPr>
            <a:r>
              <a:rPr sz="1200" b="1" spc="-8" dirty="0" smtClean="0">
                <a:solidFill>
                  <a:srgbClr val="FFFFFF"/>
                </a:solidFill>
                <a:latin typeface="Cambria"/>
                <a:cs typeface="Cambria"/>
              </a:rPr>
              <a:t>Indigenous</a:t>
            </a:r>
            <a:endParaRPr sz="1200" dirty="0">
              <a:latin typeface="Cambria"/>
              <a:cs typeface="Cambria"/>
            </a:endParaRPr>
          </a:p>
        </p:txBody>
      </p:sp>
      <p:sp>
        <p:nvSpPr>
          <p:cNvPr id="14" name="object 14"/>
          <p:cNvSpPr txBox="1"/>
          <p:nvPr/>
        </p:nvSpPr>
        <p:spPr>
          <a:xfrm>
            <a:off x="1253531" y="3104172"/>
            <a:ext cx="1226344" cy="563616"/>
          </a:xfrm>
          <a:prstGeom prst="rect">
            <a:avLst/>
          </a:prstGeom>
        </p:spPr>
        <p:txBody>
          <a:bodyPr vert="horz" wrap="square" lIns="0" tIns="9525" rIns="0" bIns="0" rtlCol="0">
            <a:spAutoFit/>
          </a:bodyPr>
          <a:lstStyle/>
          <a:p>
            <a:pPr marL="9525" marR="3810">
              <a:spcBef>
                <a:spcPts val="75"/>
              </a:spcBef>
            </a:pPr>
            <a:r>
              <a:rPr sz="1200" b="1" spc="-15" dirty="0">
                <a:solidFill>
                  <a:srgbClr val="FFFFFF"/>
                </a:solidFill>
                <a:latin typeface="Cambria"/>
                <a:cs typeface="Cambria"/>
              </a:rPr>
              <a:t>Hardware</a:t>
            </a:r>
            <a:r>
              <a:rPr sz="1200" b="1" spc="-23" dirty="0">
                <a:solidFill>
                  <a:srgbClr val="FFFFFF"/>
                </a:solidFill>
                <a:latin typeface="Cambria"/>
                <a:cs typeface="Cambria"/>
              </a:rPr>
              <a:t> </a:t>
            </a:r>
            <a:r>
              <a:rPr sz="1200" b="1" spc="-8" dirty="0">
                <a:solidFill>
                  <a:srgbClr val="FFFFFF"/>
                </a:solidFill>
                <a:latin typeface="Cambria"/>
                <a:cs typeface="Cambria"/>
              </a:rPr>
              <a:t>Design </a:t>
            </a:r>
            <a:r>
              <a:rPr sz="1200" b="1" dirty="0">
                <a:solidFill>
                  <a:srgbClr val="FFFFFF"/>
                </a:solidFill>
                <a:latin typeface="Cambria"/>
                <a:cs typeface="Cambria"/>
              </a:rPr>
              <a:t>and</a:t>
            </a:r>
            <a:r>
              <a:rPr sz="1200" b="1" spc="-11" dirty="0">
                <a:solidFill>
                  <a:srgbClr val="FFFFFF"/>
                </a:solidFill>
                <a:latin typeface="Cambria"/>
                <a:cs typeface="Cambria"/>
              </a:rPr>
              <a:t> </a:t>
            </a:r>
            <a:r>
              <a:rPr sz="1200" b="1" spc="-8" dirty="0">
                <a:solidFill>
                  <a:srgbClr val="FFFFFF"/>
                </a:solidFill>
                <a:latin typeface="Cambria"/>
                <a:cs typeface="Cambria"/>
              </a:rPr>
              <a:t>Prototype development</a:t>
            </a:r>
            <a:endParaRPr sz="1200" dirty="0">
              <a:latin typeface="Cambria"/>
              <a:cs typeface="Cambria"/>
            </a:endParaRPr>
          </a:p>
        </p:txBody>
      </p:sp>
      <p:sp>
        <p:nvSpPr>
          <p:cNvPr id="15" name="object 15"/>
          <p:cNvSpPr txBox="1"/>
          <p:nvPr/>
        </p:nvSpPr>
        <p:spPr>
          <a:xfrm>
            <a:off x="1253531" y="4175585"/>
            <a:ext cx="1232535" cy="378950"/>
          </a:xfrm>
          <a:prstGeom prst="rect">
            <a:avLst/>
          </a:prstGeom>
        </p:spPr>
        <p:txBody>
          <a:bodyPr vert="horz" wrap="square" lIns="0" tIns="9525" rIns="0" bIns="0" rtlCol="0">
            <a:spAutoFit/>
          </a:bodyPr>
          <a:lstStyle/>
          <a:p>
            <a:pPr marL="9525" marR="3810">
              <a:spcBef>
                <a:spcPts val="75"/>
              </a:spcBef>
            </a:pPr>
            <a:r>
              <a:rPr sz="1200" b="1" spc="-8" dirty="0">
                <a:solidFill>
                  <a:srgbClr val="FFFFFF"/>
                </a:solidFill>
                <a:latin typeface="Cambria"/>
                <a:cs typeface="Cambria"/>
              </a:rPr>
              <a:t>Exploration</a:t>
            </a:r>
            <a:r>
              <a:rPr sz="1200" b="1" spc="-11" dirty="0">
                <a:solidFill>
                  <a:srgbClr val="FFFFFF"/>
                </a:solidFill>
                <a:latin typeface="Cambria"/>
                <a:cs typeface="Cambria"/>
              </a:rPr>
              <a:t> </a:t>
            </a:r>
            <a:r>
              <a:rPr sz="1200" b="1" dirty="0">
                <a:solidFill>
                  <a:srgbClr val="FFFFFF"/>
                </a:solidFill>
                <a:latin typeface="Cambria"/>
                <a:cs typeface="Cambria"/>
              </a:rPr>
              <a:t>of</a:t>
            </a:r>
            <a:r>
              <a:rPr sz="1200" b="1" spc="248" dirty="0">
                <a:solidFill>
                  <a:srgbClr val="FFFFFF"/>
                </a:solidFill>
                <a:latin typeface="Cambria"/>
                <a:cs typeface="Cambria"/>
              </a:rPr>
              <a:t> </a:t>
            </a:r>
            <a:r>
              <a:rPr sz="1200" b="1" spc="-19" dirty="0">
                <a:solidFill>
                  <a:srgbClr val="FFFFFF"/>
                </a:solidFill>
                <a:latin typeface="Cambria"/>
                <a:cs typeface="Cambria"/>
              </a:rPr>
              <a:t>AI </a:t>
            </a:r>
            <a:r>
              <a:rPr sz="1200" b="1" spc="-8" dirty="0">
                <a:solidFill>
                  <a:srgbClr val="FFFFFF"/>
                </a:solidFill>
                <a:latin typeface="Cambria"/>
                <a:cs typeface="Cambria"/>
              </a:rPr>
              <a:t>Algorithms</a:t>
            </a:r>
            <a:endParaRPr sz="1200">
              <a:latin typeface="Cambria"/>
              <a:cs typeface="Cambria"/>
            </a:endParaRPr>
          </a:p>
        </p:txBody>
      </p:sp>
      <p:sp>
        <p:nvSpPr>
          <p:cNvPr id="16" name="object 16"/>
          <p:cNvSpPr txBox="1">
            <a:spLocks noGrp="1"/>
          </p:cNvSpPr>
          <p:nvPr>
            <p:ph type="title"/>
          </p:nvPr>
        </p:nvSpPr>
        <p:spPr>
          <a:xfrm>
            <a:off x="233775" y="333769"/>
            <a:ext cx="6390450" cy="621972"/>
          </a:xfrm>
          <a:prstGeom prst="rect">
            <a:avLst/>
          </a:prstGeom>
        </p:spPr>
        <p:txBody>
          <a:bodyPr spcFirstLastPara="1" vert="horz" wrap="square" lIns="0" tIns="260357" rIns="0" bIns="0" rtlCol="0" anchor="t" anchorCtr="0">
            <a:spAutoFit/>
          </a:bodyPr>
          <a:lstStyle/>
          <a:p>
            <a:pPr marL="20955">
              <a:spcBef>
                <a:spcPts val="75"/>
              </a:spcBef>
            </a:pPr>
            <a:r>
              <a:rPr sz="2250" spc="-8" dirty="0">
                <a:solidFill>
                  <a:srgbClr val="A71901"/>
                </a:solidFill>
                <a:latin typeface="Cambria"/>
                <a:cs typeface="Cambria"/>
              </a:rPr>
              <a:t>Outcomes</a:t>
            </a:r>
            <a:r>
              <a:rPr sz="2250" spc="-60" dirty="0">
                <a:solidFill>
                  <a:srgbClr val="A71901"/>
                </a:solidFill>
                <a:latin typeface="Cambria"/>
                <a:cs typeface="Cambria"/>
              </a:rPr>
              <a:t> </a:t>
            </a:r>
            <a:r>
              <a:rPr sz="2250" dirty="0" smtClean="0">
                <a:solidFill>
                  <a:srgbClr val="A71901"/>
                </a:solidFill>
                <a:latin typeface="Cambria"/>
                <a:cs typeface="Cambria"/>
              </a:rPr>
              <a:t>(</a:t>
            </a:r>
            <a:r>
              <a:rPr lang="en-IN" sz="2250" dirty="0" smtClean="0">
                <a:solidFill>
                  <a:srgbClr val="A71901"/>
                </a:solidFill>
                <a:latin typeface="Cambria"/>
                <a:cs typeface="Cambria"/>
              </a:rPr>
              <a:t>1</a:t>
            </a:r>
            <a:r>
              <a:rPr lang="en-IN" sz="2250" baseline="30555" dirty="0" smtClean="0">
                <a:solidFill>
                  <a:srgbClr val="A71901"/>
                </a:solidFill>
                <a:latin typeface="Cambria"/>
                <a:cs typeface="Cambria"/>
              </a:rPr>
              <a:t>st</a:t>
            </a:r>
            <a:r>
              <a:rPr sz="2250" spc="146" baseline="30555" dirty="0" smtClean="0">
                <a:solidFill>
                  <a:srgbClr val="A71901"/>
                </a:solidFill>
                <a:latin typeface="Cambria"/>
                <a:cs typeface="Cambria"/>
              </a:rPr>
              <a:t> </a:t>
            </a:r>
            <a:r>
              <a:rPr sz="2250" dirty="0" smtClean="0">
                <a:solidFill>
                  <a:srgbClr val="A71901"/>
                </a:solidFill>
                <a:latin typeface="Cambria"/>
                <a:cs typeface="Cambria"/>
              </a:rPr>
              <a:t>M</a:t>
            </a:r>
            <a:r>
              <a:rPr lang="en-IN" sz="2250" dirty="0" err="1" smtClean="0">
                <a:solidFill>
                  <a:srgbClr val="A71901"/>
                </a:solidFill>
                <a:latin typeface="Cambria"/>
                <a:cs typeface="Cambria"/>
              </a:rPr>
              <a:t>ar</a:t>
            </a:r>
            <a:r>
              <a:rPr sz="2250" spc="-71" dirty="0" smtClean="0">
                <a:solidFill>
                  <a:srgbClr val="A71901"/>
                </a:solidFill>
                <a:latin typeface="Cambria"/>
                <a:cs typeface="Cambria"/>
              </a:rPr>
              <a:t> </a:t>
            </a:r>
            <a:r>
              <a:rPr sz="2250" dirty="0" smtClean="0">
                <a:solidFill>
                  <a:srgbClr val="A71901"/>
                </a:solidFill>
                <a:latin typeface="Cambria"/>
                <a:cs typeface="Cambria"/>
              </a:rPr>
              <a:t>202</a:t>
            </a:r>
            <a:r>
              <a:rPr lang="en-IN" sz="2250" dirty="0" smtClean="0">
                <a:solidFill>
                  <a:srgbClr val="A71901"/>
                </a:solidFill>
                <a:latin typeface="Cambria"/>
                <a:cs typeface="Cambria"/>
              </a:rPr>
              <a:t>5</a:t>
            </a:r>
            <a:r>
              <a:rPr sz="2250" spc="-68" dirty="0" smtClean="0">
                <a:solidFill>
                  <a:srgbClr val="A71901"/>
                </a:solidFill>
                <a:latin typeface="Cambria"/>
                <a:cs typeface="Cambria"/>
              </a:rPr>
              <a:t> </a:t>
            </a:r>
            <a:r>
              <a:rPr sz="2250" dirty="0">
                <a:solidFill>
                  <a:srgbClr val="A71901"/>
                </a:solidFill>
                <a:latin typeface="Cambria"/>
                <a:cs typeface="Cambria"/>
              </a:rPr>
              <a:t>to</a:t>
            </a:r>
            <a:r>
              <a:rPr sz="2250" spc="-68" dirty="0">
                <a:solidFill>
                  <a:srgbClr val="A71901"/>
                </a:solidFill>
                <a:latin typeface="Cambria"/>
                <a:cs typeface="Cambria"/>
              </a:rPr>
              <a:t> </a:t>
            </a:r>
            <a:r>
              <a:rPr lang="en-IN" sz="2250" dirty="0" smtClean="0">
                <a:solidFill>
                  <a:srgbClr val="A71901"/>
                </a:solidFill>
                <a:latin typeface="Cambria"/>
                <a:cs typeface="Cambria"/>
              </a:rPr>
              <a:t>30 </a:t>
            </a:r>
            <a:r>
              <a:rPr sz="2250" baseline="30555" dirty="0" err="1" smtClean="0">
                <a:solidFill>
                  <a:srgbClr val="A71901"/>
                </a:solidFill>
                <a:latin typeface="Cambria"/>
                <a:cs typeface="Cambria"/>
              </a:rPr>
              <a:t>th</a:t>
            </a:r>
            <a:r>
              <a:rPr sz="2250" spc="140" baseline="30555" dirty="0" smtClean="0">
                <a:solidFill>
                  <a:srgbClr val="A71901"/>
                </a:solidFill>
                <a:latin typeface="Cambria"/>
                <a:cs typeface="Cambria"/>
              </a:rPr>
              <a:t> </a:t>
            </a:r>
            <a:r>
              <a:rPr lang="en-IN" sz="2250" dirty="0" smtClean="0">
                <a:solidFill>
                  <a:srgbClr val="A71901"/>
                </a:solidFill>
                <a:latin typeface="Cambria"/>
                <a:cs typeface="Cambria"/>
              </a:rPr>
              <a:t>Sep</a:t>
            </a:r>
            <a:r>
              <a:rPr sz="2250" spc="-68" dirty="0" smtClean="0">
                <a:solidFill>
                  <a:srgbClr val="A71901"/>
                </a:solidFill>
                <a:latin typeface="Cambria"/>
                <a:cs typeface="Cambria"/>
              </a:rPr>
              <a:t> </a:t>
            </a:r>
            <a:r>
              <a:rPr sz="2250" spc="-8" dirty="0">
                <a:solidFill>
                  <a:srgbClr val="A71901"/>
                </a:solidFill>
                <a:latin typeface="Cambria"/>
                <a:cs typeface="Cambria"/>
              </a:rPr>
              <a:t>2025)</a:t>
            </a:r>
            <a:endParaRPr sz="2250" dirty="0">
              <a:latin typeface="Cambria"/>
              <a:cs typeface="Cambria"/>
            </a:endParaRPr>
          </a:p>
        </p:txBody>
      </p:sp>
      <p:sp>
        <p:nvSpPr>
          <p:cNvPr id="17" name="object 17"/>
          <p:cNvSpPr txBox="1"/>
          <p:nvPr/>
        </p:nvSpPr>
        <p:spPr>
          <a:xfrm>
            <a:off x="796501" y="1370444"/>
            <a:ext cx="303371" cy="286617"/>
          </a:xfrm>
          <a:prstGeom prst="rect">
            <a:avLst/>
          </a:prstGeom>
        </p:spPr>
        <p:txBody>
          <a:bodyPr vert="horz" wrap="square" lIns="0" tIns="9525" rIns="0" bIns="0" rtlCol="0">
            <a:spAutoFit/>
          </a:bodyPr>
          <a:lstStyle/>
          <a:p>
            <a:pPr marL="9525">
              <a:spcBef>
                <a:spcPts val="75"/>
              </a:spcBef>
            </a:pPr>
            <a:r>
              <a:rPr sz="1800" b="1" spc="-19" dirty="0">
                <a:latin typeface="Cambria"/>
                <a:cs typeface="Cambria"/>
              </a:rPr>
              <a:t>B1</a:t>
            </a:r>
            <a:endParaRPr sz="1800" dirty="0">
              <a:latin typeface="Cambria"/>
              <a:cs typeface="Cambria"/>
            </a:endParaRPr>
          </a:p>
        </p:txBody>
      </p:sp>
      <p:sp>
        <p:nvSpPr>
          <p:cNvPr id="19" name="object 19"/>
          <p:cNvSpPr txBox="1"/>
          <p:nvPr/>
        </p:nvSpPr>
        <p:spPr>
          <a:xfrm>
            <a:off x="796501" y="3199404"/>
            <a:ext cx="303371" cy="286617"/>
          </a:xfrm>
          <a:prstGeom prst="rect">
            <a:avLst/>
          </a:prstGeom>
        </p:spPr>
        <p:txBody>
          <a:bodyPr vert="horz" wrap="square" lIns="0" tIns="9525" rIns="0" bIns="0" rtlCol="0">
            <a:spAutoFit/>
          </a:bodyPr>
          <a:lstStyle/>
          <a:p>
            <a:pPr marL="9525">
              <a:spcBef>
                <a:spcPts val="75"/>
              </a:spcBef>
            </a:pPr>
            <a:r>
              <a:rPr sz="1800" b="1" spc="-19" dirty="0">
                <a:latin typeface="Cambria"/>
                <a:cs typeface="Cambria"/>
              </a:rPr>
              <a:t>B3</a:t>
            </a:r>
            <a:endParaRPr sz="1800" dirty="0">
              <a:latin typeface="Cambria"/>
              <a:cs typeface="Cambria"/>
            </a:endParaRPr>
          </a:p>
        </p:txBody>
      </p:sp>
      <p:sp>
        <p:nvSpPr>
          <p:cNvPr id="20" name="object 20"/>
          <p:cNvSpPr txBox="1"/>
          <p:nvPr/>
        </p:nvSpPr>
        <p:spPr>
          <a:xfrm>
            <a:off x="782213" y="4228104"/>
            <a:ext cx="303371" cy="286617"/>
          </a:xfrm>
          <a:prstGeom prst="rect">
            <a:avLst/>
          </a:prstGeom>
        </p:spPr>
        <p:txBody>
          <a:bodyPr vert="horz" wrap="square" lIns="0" tIns="9525" rIns="0" bIns="0" rtlCol="0">
            <a:spAutoFit/>
          </a:bodyPr>
          <a:lstStyle/>
          <a:p>
            <a:pPr marL="9525">
              <a:spcBef>
                <a:spcPts val="75"/>
              </a:spcBef>
            </a:pPr>
            <a:r>
              <a:rPr sz="1800" b="1" spc="-19" dirty="0">
                <a:latin typeface="Cambria"/>
                <a:cs typeface="Cambria"/>
              </a:rPr>
              <a:t>B4</a:t>
            </a:r>
            <a:endParaRPr sz="1800" dirty="0">
              <a:latin typeface="Cambria"/>
              <a:cs typeface="Cambria"/>
            </a:endParaRPr>
          </a:p>
        </p:txBody>
      </p:sp>
      <p:sp>
        <p:nvSpPr>
          <p:cNvPr id="21" name="object 21"/>
          <p:cNvSpPr/>
          <p:nvPr/>
        </p:nvSpPr>
        <p:spPr>
          <a:xfrm>
            <a:off x="0" y="107156"/>
            <a:ext cx="191928" cy="4835843"/>
          </a:xfrm>
          <a:custGeom>
            <a:avLst/>
            <a:gdLst/>
            <a:ahLst/>
            <a:cxnLst/>
            <a:rect l="l" t="t" r="r" b="b"/>
            <a:pathLst>
              <a:path w="255904" h="6447790">
                <a:moveTo>
                  <a:pt x="255899" y="6447299"/>
                </a:moveTo>
                <a:lnTo>
                  <a:pt x="0" y="6447299"/>
                </a:lnTo>
                <a:lnTo>
                  <a:pt x="0" y="0"/>
                </a:lnTo>
                <a:lnTo>
                  <a:pt x="255899" y="0"/>
                </a:lnTo>
                <a:lnTo>
                  <a:pt x="255899" y="6447299"/>
                </a:lnTo>
                <a:close/>
              </a:path>
            </a:pathLst>
          </a:custGeom>
          <a:solidFill>
            <a:srgbClr val="A71901"/>
          </a:solidFill>
        </p:spPr>
        <p:txBody>
          <a:bodyPr wrap="square" lIns="0" tIns="0" rIns="0" bIns="0" rtlCol="0"/>
          <a:lstStyle/>
          <a:p>
            <a:endParaRPr sz="1050"/>
          </a:p>
        </p:txBody>
      </p:sp>
      <p:sp>
        <p:nvSpPr>
          <p:cNvPr id="24" name="object 24"/>
          <p:cNvSpPr txBox="1"/>
          <p:nvPr/>
        </p:nvSpPr>
        <p:spPr>
          <a:xfrm>
            <a:off x="8306618" y="4735772"/>
            <a:ext cx="182403" cy="115416"/>
          </a:xfrm>
          <a:prstGeom prst="rect">
            <a:avLst/>
          </a:prstGeom>
        </p:spPr>
        <p:txBody>
          <a:bodyPr vert="horz" wrap="square" lIns="0" tIns="0" rIns="0" bIns="0" rtlCol="0">
            <a:spAutoFit/>
          </a:bodyPr>
          <a:lstStyle/>
          <a:p>
            <a:pPr marL="28575">
              <a:lnSpc>
                <a:spcPts val="930"/>
              </a:lnSpc>
            </a:pPr>
            <a:fld id="{81D60167-4931-47E6-BA6A-407CBD079E47}" type="slidenum">
              <a:rPr sz="900" spc="-19" dirty="0">
                <a:solidFill>
                  <a:srgbClr val="888888"/>
                </a:solidFill>
                <a:latin typeface="Calibri"/>
                <a:cs typeface="Calibri"/>
              </a:rPr>
              <a:pPr marL="28575">
                <a:lnSpc>
                  <a:spcPts val="930"/>
                </a:lnSpc>
              </a:pPr>
              <a:t>9</a:t>
            </a:fld>
            <a:endParaRPr sz="900">
              <a:latin typeface="Calibri"/>
              <a:cs typeface="Calibri"/>
            </a:endParaRPr>
          </a:p>
        </p:txBody>
      </p:sp>
      <p:sp>
        <p:nvSpPr>
          <p:cNvPr id="23" name="object 23"/>
          <p:cNvSpPr txBox="1"/>
          <p:nvPr/>
        </p:nvSpPr>
        <p:spPr>
          <a:xfrm>
            <a:off x="2837499" y="1085821"/>
            <a:ext cx="6065519" cy="886781"/>
          </a:xfrm>
          <a:prstGeom prst="rect">
            <a:avLst/>
          </a:prstGeom>
        </p:spPr>
        <p:txBody>
          <a:bodyPr vert="horz" wrap="square" lIns="0" tIns="9525" rIns="0" bIns="0" rtlCol="0">
            <a:spAutoFit/>
          </a:bodyPr>
          <a:lstStyle/>
          <a:p>
            <a:pPr marL="110490" indent="-100965" algn="just">
              <a:spcBef>
                <a:spcPts val="75"/>
              </a:spcBef>
              <a:buFont typeface="Arial"/>
              <a:buChar char="•"/>
              <a:tabLst>
                <a:tab pos="110490" algn="l"/>
              </a:tabLst>
            </a:pPr>
            <a:r>
              <a:rPr sz="1425" b="1" spc="-8" dirty="0">
                <a:latin typeface="Cambria"/>
                <a:cs typeface="Cambria"/>
              </a:rPr>
              <a:t>Collected</a:t>
            </a:r>
            <a:r>
              <a:rPr sz="1425" b="1" spc="-41" dirty="0">
                <a:latin typeface="Cambria"/>
                <a:cs typeface="Cambria"/>
              </a:rPr>
              <a:t> </a:t>
            </a:r>
            <a:r>
              <a:rPr sz="1425" b="1" spc="-8" dirty="0">
                <a:latin typeface="Cambria"/>
                <a:cs typeface="Cambria"/>
              </a:rPr>
              <a:t>responses</a:t>
            </a:r>
            <a:r>
              <a:rPr sz="1425" b="1" spc="-41" dirty="0">
                <a:latin typeface="Cambria"/>
                <a:cs typeface="Cambria"/>
              </a:rPr>
              <a:t> </a:t>
            </a:r>
            <a:r>
              <a:rPr sz="1425" b="1" dirty="0">
                <a:latin typeface="Cambria"/>
                <a:cs typeface="Cambria"/>
              </a:rPr>
              <a:t>from</a:t>
            </a:r>
            <a:r>
              <a:rPr sz="1425" b="1" spc="-41" dirty="0">
                <a:latin typeface="Cambria"/>
                <a:cs typeface="Cambria"/>
              </a:rPr>
              <a:t> </a:t>
            </a:r>
            <a:r>
              <a:rPr sz="1425" b="1" spc="-8" dirty="0">
                <a:latin typeface="Cambria"/>
                <a:cs typeface="Cambria"/>
              </a:rPr>
              <a:t>residents</a:t>
            </a:r>
            <a:r>
              <a:rPr sz="1425" b="1" spc="-41" dirty="0">
                <a:latin typeface="Cambria"/>
                <a:cs typeface="Cambria"/>
              </a:rPr>
              <a:t> </a:t>
            </a:r>
            <a:r>
              <a:rPr sz="1425" b="1" dirty="0">
                <a:latin typeface="Cambria"/>
                <a:cs typeface="Cambria"/>
              </a:rPr>
              <a:t>of</a:t>
            </a:r>
            <a:r>
              <a:rPr sz="1425" b="1" spc="-41" dirty="0">
                <a:latin typeface="Cambria"/>
                <a:cs typeface="Cambria"/>
              </a:rPr>
              <a:t> </a:t>
            </a:r>
            <a:r>
              <a:rPr sz="1425" b="1" spc="-15" dirty="0">
                <a:latin typeface="Cambria"/>
                <a:cs typeface="Cambria"/>
              </a:rPr>
              <a:t>flood-</a:t>
            </a:r>
            <a:r>
              <a:rPr sz="1425" b="1" dirty="0">
                <a:latin typeface="Cambria"/>
                <a:cs typeface="Cambria"/>
              </a:rPr>
              <a:t>prone</a:t>
            </a:r>
            <a:r>
              <a:rPr sz="1425" b="1" spc="-41" dirty="0">
                <a:latin typeface="Cambria"/>
                <a:cs typeface="Cambria"/>
              </a:rPr>
              <a:t> </a:t>
            </a:r>
            <a:r>
              <a:rPr sz="1425" b="1" dirty="0">
                <a:latin typeface="Cambria"/>
                <a:cs typeface="Cambria"/>
              </a:rPr>
              <a:t>areas</a:t>
            </a:r>
            <a:r>
              <a:rPr sz="1425" b="1" spc="-15" dirty="0">
                <a:latin typeface="Cambria"/>
                <a:cs typeface="Cambria"/>
              </a:rPr>
              <a:t> </a:t>
            </a:r>
            <a:r>
              <a:rPr sz="1425" dirty="0">
                <a:latin typeface="Cambria"/>
                <a:cs typeface="Cambria"/>
              </a:rPr>
              <a:t>in</a:t>
            </a:r>
            <a:r>
              <a:rPr sz="1425" spc="-41" dirty="0">
                <a:latin typeface="Cambria"/>
                <a:cs typeface="Cambria"/>
              </a:rPr>
              <a:t> </a:t>
            </a:r>
            <a:r>
              <a:rPr sz="1425" spc="-8" dirty="0">
                <a:latin typeface="Cambria"/>
                <a:cs typeface="Cambria"/>
              </a:rPr>
              <a:t>Kalady</a:t>
            </a:r>
            <a:endParaRPr sz="1425" dirty="0">
              <a:latin typeface="Cambria"/>
              <a:cs typeface="Cambria"/>
            </a:endParaRPr>
          </a:p>
          <a:p>
            <a:pPr marL="110966" marR="3810" indent="-101441" algn="just">
              <a:buFont typeface="Arial"/>
              <a:buChar char="•"/>
              <a:tabLst>
                <a:tab pos="110966" algn="l"/>
              </a:tabLst>
            </a:pPr>
            <a:r>
              <a:rPr sz="1425" b="1" dirty="0">
                <a:latin typeface="Cambria"/>
                <a:cs typeface="Cambria"/>
              </a:rPr>
              <a:t>Researched</a:t>
            </a:r>
            <a:r>
              <a:rPr sz="1425" b="1" spc="30" dirty="0">
                <a:latin typeface="Cambria"/>
                <a:cs typeface="Cambria"/>
              </a:rPr>
              <a:t> </a:t>
            </a:r>
            <a:r>
              <a:rPr sz="1425" b="1" dirty="0">
                <a:latin typeface="Cambria"/>
                <a:cs typeface="Cambria"/>
              </a:rPr>
              <a:t>existing</a:t>
            </a:r>
            <a:r>
              <a:rPr sz="1425" b="1" spc="34" dirty="0">
                <a:latin typeface="Cambria"/>
                <a:cs typeface="Cambria"/>
              </a:rPr>
              <a:t> </a:t>
            </a:r>
            <a:r>
              <a:rPr sz="1425" b="1" dirty="0">
                <a:latin typeface="Cambria"/>
                <a:cs typeface="Cambria"/>
              </a:rPr>
              <a:t>flood</a:t>
            </a:r>
            <a:r>
              <a:rPr sz="1425" b="1" spc="34" dirty="0">
                <a:latin typeface="Cambria"/>
                <a:cs typeface="Cambria"/>
              </a:rPr>
              <a:t> </a:t>
            </a:r>
            <a:r>
              <a:rPr sz="1425" b="1" dirty="0">
                <a:latin typeface="Cambria"/>
                <a:cs typeface="Cambria"/>
              </a:rPr>
              <a:t>prediction</a:t>
            </a:r>
            <a:r>
              <a:rPr sz="1425" b="1" spc="34" dirty="0">
                <a:latin typeface="Cambria"/>
                <a:cs typeface="Cambria"/>
              </a:rPr>
              <a:t> </a:t>
            </a:r>
            <a:r>
              <a:rPr sz="1425" b="1" dirty="0">
                <a:latin typeface="Cambria"/>
                <a:cs typeface="Cambria"/>
              </a:rPr>
              <a:t>technologies</a:t>
            </a:r>
            <a:r>
              <a:rPr sz="1425" b="1" spc="30" dirty="0">
                <a:latin typeface="Cambria"/>
                <a:cs typeface="Cambria"/>
              </a:rPr>
              <a:t> </a:t>
            </a:r>
            <a:r>
              <a:rPr sz="1425" b="1" dirty="0">
                <a:latin typeface="Cambria"/>
                <a:cs typeface="Cambria"/>
              </a:rPr>
              <a:t>and</a:t>
            </a:r>
            <a:r>
              <a:rPr sz="1425" b="1" spc="34" dirty="0">
                <a:latin typeface="Cambria"/>
                <a:cs typeface="Cambria"/>
              </a:rPr>
              <a:t> </a:t>
            </a:r>
            <a:r>
              <a:rPr sz="1425" b="1" dirty="0">
                <a:latin typeface="Cambria"/>
                <a:cs typeface="Cambria"/>
              </a:rPr>
              <a:t>ongoing</a:t>
            </a:r>
            <a:r>
              <a:rPr sz="1425" b="1" spc="34" dirty="0">
                <a:latin typeface="Cambria"/>
                <a:cs typeface="Cambria"/>
              </a:rPr>
              <a:t> </a:t>
            </a:r>
            <a:r>
              <a:rPr sz="1425" b="1" spc="-8" dirty="0">
                <a:latin typeface="Cambria"/>
                <a:cs typeface="Cambria"/>
              </a:rPr>
              <a:t>studies </a:t>
            </a:r>
            <a:r>
              <a:rPr sz="1425" dirty="0">
                <a:latin typeface="Cambria"/>
                <a:cs typeface="Cambria"/>
              </a:rPr>
              <a:t>in</a:t>
            </a:r>
            <a:r>
              <a:rPr sz="1425" spc="338" dirty="0">
                <a:latin typeface="Cambria"/>
                <a:cs typeface="Cambria"/>
              </a:rPr>
              <a:t> </a:t>
            </a:r>
            <a:r>
              <a:rPr sz="1425" dirty="0">
                <a:latin typeface="Cambria"/>
                <a:cs typeface="Cambria"/>
              </a:rPr>
              <a:t>water</a:t>
            </a:r>
            <a:r>
              <a:rPr sz="1425" spc="341" dirty="0">
                <a:latin typeface="Cambria"/>
                <a:cs typeface="Cambria"/>
              </a:rPr>
              <a:t> </a:t>
            </a:r>
            <a:r>
              <a:rPr sz="1425" dirty="0">
                <a:latin typeface="Cambria"/>
                <a:cs typeface="Cambria"/>
              </a:rPr>
              <a:t>flow</a:t>
            </a:r>
            <a:r>
              <a:rPr sz="1425" spc="341" dirty="0">
                <a:latin typeface="Cambria"/>
                <a:cs typeface="Cambria"/>
              </a:rPr>
              <a:t> </a:t>
            </a:r>
            <a:r>
              <a:rPr sz="1425" dirty="0">
                <a:latin typeface="Cambria"/>
                <a:cs typeface="Cambria"/>
              </a:rPr>
              <a:t>monitoring</a:t>
            </a:r>
            <a:r>
              <a:rPr sz="1425" spc="341" dirty="0">
                <a:latin typeface="Cambria"/>
                <a:cs typeface="Cambria"/>
              </a:rPr>
              <a:t> </a:t>
            </a:r>
            <a:r>
              <a:rPr sz="1425" dirty="0">
                <a:latin typeface="Cambria"/>
                <a:cs typeface="Cambria"/>
              </a:rPr>
              <a:t>and</a:t>
            </a:r>
            <a:r>
              <a:rPr sz="1425" spc="338" dirty="0">
                <a:latin typeface="Cambria"/>
                <a:cs typeface="Cambria"/>
              </a:rPr>
              <a:t> </a:t>
            </a:r>
            <a:r>
              <a:rPr sz="1425" dirty="0">
                <a:latin typeface="Cambria"/>
                <a:cs typeface="Cambria"/>
              </a:rPr>
              <a:t>control</a:t>
            </a:r>
            <a:r>
              <a:rPr sz="1425" spc="341" dirty="0">
                <a:latin typeface="Cambria"/>
                <a:cs typeface="Cambria"/>
              </a:rPr>
              <a:t> </a:t>
            </a:r>
            <a:r>
              <a:rPr sz="1425" dirty="0">
                <a:latin typeface="Cambria"/>
                <a:cs typeface="Cambria"/>
              </a:rPr>
              <a:t>to</a:t>
            </a:r>
            <a:r>
              <a:rPr sz="1425" spc="341" dirty="0">
                <a:latin typeface="Cambria"/>
                <a:cs typeface="Cambria"/>
              </a:rPr>
              <a:t> </a:t>
            </a:r>
            <a:r>
              <a:rPr sz="1425" dirty="0">
                <a:latin typeface="Cambria"/>
                <a:cs typeface="Cambria"/>
              </a:rPr>
              <a:t>identify</a:t>
            </a:r>
            <a:r>
              <a:rPr sz="1425" spc="341" dirty="0">
                <a:latin typeface="Cambria"/>
                <a:cs typeface="Cambria"/>
              </a:rPr>
              <a:t> </a:t>
            </a:r>
            <a:r>
              <a:rPr sz="1425" dirty="0">
                <a:latin typeface="Cambria"/>
                <a:cs typeface="Cambria"/>
              </a:rPr>
              <a:t>effective</a:t>
            </a:r>
            <a:r>
              <a:rPr sz="1425" spc="338" dirty="0">
                <a:latin typeface="Cambria"/>
                <a:cs typeface="Cambria"/>
              </a:rPr>
              <a:t> </a:t>
            </a:r>
            <a:r>
              <a:rPr sz="1425" dirty="0">
                <a:latin typeface="Cambria"/>
                <a:cs typeface="Cambria"/>
              </a:rPr>
              <a:t>strategies</a:t>
            </a:r>
            <a:r>
              <a:rPr sz="1425" spc="341" dirty="0">
                <a:latin typeface="Cambria"/>
                <a:cs typeface="Cambria"/>
              </a:rPr>
              <a:t> </a:t>
            </a:r>
            <a:r>
              <a:rPr sz="1425" spc="-19" dirty="0">
                <a:latin typeface="Cambria"/>
                <a:cs typeface="Cambria"/>
              </a:rPr>
              <a:t>for </a:t>
            </a:r>
            <a:r>
              <a:rPr sz="1425" dirty="0">
                <a:latin typeface="Cambria"/>
                <a:cs typeface="Cambria"/>
              </a:rPr>
              <a:t>managing</a:t>
            </a:r>
            <a:r>
              <a:rPr sz="1425" spc="-41" dirty="0">
                <a:latin typeface="Cambria"/>
                <a:cs typeface="Cambria"/>
              </a:rPr>
              <a:t> </a:t>
            </a:r>
            <a:r>
              <a:rPr sz="1425" dirty="0">
                <a:latin typeface="Cambria"/>
                <a:cs typeface="Cambria"/>
              </a:rPr>
              <a:t>flood</a:t>
            </a:r>
            <a:r>
              <a:rPr sz="1425" spc="-41" dirty="0">
                <a:latin typeface="Cambria"/>
                <a:cs typeface="Cambria"/>
              </a:rPr>
              <a:t> </a:t>
            </a:r>
            <a:r>
              <a:rPr sz="1425" spc="-8" dirty="0">
                <a:latin typeface="Cambria"/>
                <a:cs typeface="Cambria"/>
              </a:rPr>
              <a:t>risks.</a:t>
            </a:r>
            <a:endParaRPr sz="1425" dirty="0">
              <a:latin typeface="Cambria"/>
              <a:cs typeface="Cambria"/>
            </a:endParaRPr>
          </a:p>
        </p:txBody>
      </p:sp>
      <p:sp>
        <p:nvSpPr>
          <p:cNvPr id="33" name="object 6"/>
          <p:cNvSpPr/>
          <p:nvPr/>
        </p:nvSpPr>
        <p:spPr>
          <a:xfrm>
            <a:off x="638755" y="1287749"/>
            <a:ext cx="505301" cy="452006"/>
          </a:xfrm>
          <a:custGeom>
            <a:avLst/>
            <a:gdLst/>
            <a:ahLst/>
            <a:cxnLst/>
            <a:rect l="l" t="t" r="r" b="b"/>
            <a:pathLst>
              <a:path w="673735" h="627379">
                <a:moveTo>
                  <a:pt x="336749" y="626999"/>
                </a:moveTo>
                <a:lnTo>
                  <a:pt x="286987" y="623600"/>
                </a:lnTo>
                <a:lnTo>
                  <a:pt x="239492" y="613726"/>
                </a:lnTo>
                <a:lnTo>
                  <a:pt x="194784" y="597862"/>
                </a:lnTo>
                <a:lnTo>
                  <a:pt x="153386" y="576493"/>
                </a:lnTo>
                <a:lnTo>
                  <a:pt x="115817" y="550103"/>
                </a:lnTo>
                <a:lnTo>
                  <a:pt x="82599" y="519178"/>
                </a:lnTo>
                <a:lnTo>
                  <a:pt x="54252" y="484203"/>
                </a:lnTo>
                <a:lnTo>
                  <a:pt x="31298" y="445663"/>
                </a:lnTo>
                <a:lnTo>
                  <a:pt x="14257" y="404042"/>
                </a:lnTo>
                <a:lnTo>
                  <a:pt x="3651" y="359826"/>
                </a:lnTo>
                <a:lnTo>
                  <a:pt x="0" y="313499"/>
                </a:lnTo>
                <a:lnTo>
                  <a:pt x="3651" y="267173"/>
                </a:lnTo>
                <a:lnTo>
                  <a:pt x="14257" y="222957"/>
                </a:lnTo>
                <a:lnTo>
                  <a:pt x="31298" y="181336"/>
                </a:lnTo>
                <a:lnTo>
                  <a:pt x="54252" y="142795"/>
                </a:lnTo>
                <a:lnTo>
                  <a:pt x="82599" y="107820"/>
                </a:lnTo>
                <a:lnTo>
                  <a:pt x="115817" y="76896"/>
                </a:lnTo>
                <a:lnTo>
                  <a:pt x="153386" y="50506"/>
                </a:lnTo>
                <a:lnTo>
                  <a:pt x="194784" y="29137"/>
                </a:lnTo>
                <a:lnTo>
                  <a:pt x="239492" y="13273"/>
                </a:lnTo>
                <a:lnTo>
                  <a:pt x="286987" y="3399"/>
                </a:lnTo>
                <a:lnTo>
                  <a:pt x="336749" y="0"/>
                </a:lnTo>
                <a:lnTo>
                  <a:pt x="386512" y="3399"/>
                </a:lnTo>
                <a:lnTo>
                  <a:pt x="434007" y="13273"/>
                </a:lnTo>
                <a:lnTo>
                  <a:pt x="478715" y="29137"/>
                </a:lnTo>
                <a:lnTo>
                  <a:pt x="520113" y="50506"/>
                </a:lnTo>
                <a:lnTo>
                  <a:pt x="557682" y="76896"/>
                </a:lnTo>
                <a:lnTo>
                  <a:pt x="590900" y="107820"/>
                </a:lnTo>
                <a:lnTo>
                  <a:pt x="619247" y="142795"/>
                </a:lnTo>
                <a:lnTo>
                  <a:pt x="642201" y="181336"/>
                </a:lnTo>
                <a:lnTo>
                  <a:pt x="659242" y="222957"/>
                </a:lnTo>
                <a:lnTo>
                  <a:pt x="669848" y="267173"/>
                </a:lnTo>
                <a:lnTo>
                  <a:pt x="673499" y="313499"/>
                </a:lnTo>
                <a:lnTo>
                  <a:pt x="669848" y="359826"/>
                </a:lnTo>
                <a:lnTo>
                  <a:pt x="659242" y="404042"/>
                </a:lnTo>
                <a:lnTo>
                  <a:pt x="642201" y="445663"/>
                </a:lnTo>
                <a:lnTo>
                  <a:pt x="619247" y="484203"/>
                </a:lnTo>
                <a:lnTo>
                  <a:pt x="590900" y="519178"/>
                </a:lnTo>
                <a:lnTo>
                  <a:pt x="557682" y="550103"/>
                </a:lnTo>
                <a:lnTo>
                  <a:pt x="520113" y="576493"/>
                </a:lnTo>
                <a:lnTo>
                  <a:pt x="478715" y="597862"/>
                </a:lnTo>
                <a:lnTo>
                  <a:pt x="434007" y="613726"/>
                </a:lnTo>
                <a:lnTo>
                  <a:pt x="386512" y="623600"/>
                </a:lnTo>
                <a:lnTo>
                  <a:pt x="336749" y="626999"/>
                </a:lnTo>
                <a:close/>
              </a:path>
            </a:pathLst>
          </a:custGeom>
          <a:solidFill>
            <a:srgbClr val="E7E6E6"/>
          </a:solidFill>
        </p:spPr>
        <p:txBody>
          <a:bodyPr wrap="square" lIns="0" tIns="0" rIns="0" bIns="0" rtlCol="0"/>
          <a:lstStyle/>
          <a:p>
            <a:pPr algn="ctr"/>
            <a:r>
              <a:rPr lang="en-IN" sz="1800" dirty="0" smtClean="0">
                <a:latin typeface="Cambria" panose="02040503050406030204" pitchFamily="18" charset="0"/>
                <a:ea typeface="Cambria" panose="02040503050406030204" pitchFamily="18" charset="0"/>
              </a:rPr>
              <a:t>B1</a:t>
            </a:r>
          </a:p>
        </p:txBody>
      </p:sp>
      <p:sp>
        <p:nvSpPr>
          <p:cNvPr id="34" name="object 6"/>
          <p:cNvSpPr/>
          <p:nvPr/>
        </p:nvSpPr>
        <p:spPr>
          <a:xfrm>
            <a:off x="647692" y="3172112"/>
            <a:ext cx="505301" cy="470535"/>
          </a:xfrm>
          <a:custGeom>
            <a:avLst/>
            <a:gdLst/>
            <a:ahLst/>
            <a:cxnLst/>
            <a:rect l="l" t="t" r="r" b="b"/>
            <a:pathLst>
              <a:path w="673735" h="627379">
                <a:moveTo>
                  <a:pt x="336749" y="626999"/>
                </a:moveTo>
                <a:lnTo>
                  <a:pt x="286987" y="623600"/>
                </a:lnTo>
                <a:lnTo>
                  <a:pt x="239492" y="613726"/>
                </a:lnTo>
                <a:lnTo>
                  <a:pt x="194784" y="597862"/>
                </a:lnTo>
                <a:lnTo>
                  <a:pt x="153386" y="576493"/>
                </a:lnTo>
                <a:lnTo>
                  <a:pt x="115817" y="550103"/>
                </a:lnTo>
                <a:lnTo>
                  <a:pt x="82599" y="519178"/>
                </a:lnTo>
                <a:lnTo>
                  <a:pt x="54252" y="484203"/>
                </a:lnTo>
                <a:lnTo>
                  <a:pt x="31298" y="445663"/>
                </a:lnTo>
                <a:lnTo>
                  <a:pt x="14257" y="404042"/>
                </a:lnTo>
                <a:lnTo>
                  <a:pt x="3651" y="359826"/>
                </a:lnTo>
                <a:lnTo>
                  <a:pt x="0" y="313499"/>
                </a:lnTo>
                <a:lnTo>
                  <a:pt x="3651" y="267173"/>
                </a:lnTo>
                <a:lnTo>
                  <a:pt x="14257" y="222957"/>
                </a:lnTo>
                <a:lnTo>
                  <a:pt x="31298" y="181336"/>
                </a:lnTo>
                <a:lnTo>
                  <a:pt x="54252" y="142795"/>
                </a:lnTo>
                <a:lnTo>
                  <a:pt x="82599" y="107820"/>
                </a:lnTo>
                <a:lnTo>
                  <a:pt x="115817" y="76896"/>
                </a:lnTo>
                <a:lnTo>
                  <a:pt x="153386" y="50506"/>
                </a:lnTo>
                <a:lnTo>
                  <a:pt x="194784" y="29137"/>
                </a:lnTo>
                <a:lnTo>
                  <a:pt x="239492" y="13273"/>
                </a:lnTo>
                <a:lnTo>
                  <a:pt x="286987" y="3399"/>
                </a:lnTo>
                <a:lnTo>
                  <a:pt x="336749" y="0"/>
                </a:lnTo>
                <a:lnTo>
                  <a:pt x="386512" y="3399"/>
                </a:lnTo>
                <a:lnTo>
                  <a:pt x="434007" y="13273"/>
                </a:lnTo>
                <a:lnTo>
                  <a:pt x="478715" y="29137"/>
                </a:lnTo>
                <a:lnTo>
                  <a:pt x="520113" y="50506"/>
                </a:lnTo>
                <a:lnTo>
                  <a:pt x="557682" y="76896"/>
                </a:lnTo>
                <a:lnTo>
                  <a:pt x="590900" y="107820"/>
                </a:lnTo>
                <a:lnTo>
                  <a:pt x="619247" y="142795"/>
                </a:lnTo>
                <a:lnTo>
                  <a:pt x="642201" y="181336"/>
                </a:lnTo>
                <a:lnTo>
                  <a:pt x="659242" y="222957"/>
                </a:lnTo>
                <a:lnTo>
                  <a:pt x="669848" y="267173"/>
                </a:lnTo>
                <a:lnTo>
                  <a:pt x="673499" y="313499"/>
                </a:lnTo>
                <a:lnTo>
                  <a:pt x="669848" y="359826"/>
                </a:lnTo>
                <a:lnTo>
                  <a:pt x="659242" y="404042"/>
                </a:lnTo>
                <a:lnTo>
                  <a:pt x="642201" y="445663"/>
                </a:lnTo>
                <a:lnTo>
                  <a:pt x="619247" y="484203"/>
                </a:lnTo>
                <a:lnTo>
                  <a:pt x="590900" y="519178"/>
                </a:lnTo>
                <a:lnTo>
                  <a:pt x="557682" y="550103"/>
                </a:lnTo>
                <a:lnTo>
                  <a:pt x="520113" y="576493"/>
                </a:lnTo>
                <a:lnTo>
                  <a:pt x="478715" y="597862"/>
                </a:lnTo>
                <a:lnTo>
                  <a:pt x="434007" y="613726"/>
                </a:lnTo>
                <a:lnTo>
                  <a:pt x="386512" y="623600"/>
                </a:lnTo>
                <a:lnTo>
                  <a:pt x="336749" y="626999"/>
                </a:lnTo>
                <a:close/>
              </a:path>
            </a:pathLst>
          </a:custGeom>
          <a:solidFill>
            <a:srgbClr val="E7E6E6"/>
          </a:solidFill>
        </p:spPr>
        <p:txBody>
          <a:bodyPr wrap="square" lIns="0" tIns="0" rIns="0" bIns="0" rtlCol="0"/>
          <a:lstStyle/>
          <a:p>
            <a:pPr algn="ctr"/>
            <a:r>
              <a:rPr lang="en-IN" sz="1800" dirty="0" smtClean="0">
                <a:latin typeface="Cambria" panose="02040503050406030204" pitchFamily="18" charset="0"/>
                <a:ea typeface="Cambria" panose="02040503050406030204" pitchFamily="18" charset="0"/>
              </a:rPr>
              <a:t>B2</a:t>
            </a:r>
            <a:endParaRPr sz="1800" dirty="0">
              <a:latin typeface="Cambria" panose="02040503050406030204" pitchFamily="18" charset="0"/>
              <a:ea typeface="Cambria" panose="02040503050406030204" pitchFamily="18" charset="0"/>
            </a:endParaRPr>
          </a:p>
        </p:txBody>
      </p:sp>
      <p:sp>
        <p:nvSpPr>
          <p:cNvPr id="35" name="object 6"/>
          <p:cNvSpPr/>
          <p:nvPr/>
        </p:nvSpPr>
        <p:spPr>
          <a:xfrm>
            <a:off x="647692" y="4175585"/>
            <a:ext cx="505301" cy="470535"/>
          </a:xfrm>
          <a:custGeom>
            <a:avLst/>
            <a:gdLst/>
            <a:ahLst/>
            <a:cxnLst/>
            <a:rect l="l" t="t" r="r" b="b"/>
            <a:pathLst>
              <a:path w="673735" h="627379">
                <a:moveTo>
                  <a:pt x="336749" y="626999"/>
                </a:moveTo>
                <a:lnTo>
                  <a:pt x="286987" y="623600"/>
                </a:lnTo>
                <a:lnTo>
                  <a:pt x="239492" y="613726"/>
                </a:lnTo>
                <a:lnTo>
                  <a:pt x="194784" y="597862"/>
                </a:lnTo>
                <a:lnTo>
                  <a:pt x="153386" y="576493"/>
                </a:lnTo>
                <a:lnTo>
                  <a:pt x="115817" y="550103"/>
                </a:lnTo>
                <a:lnTo>
                  <a:pt x="82599" y="519178"/>
                </a:lnTo>
                <a:lnTo>
                  <a:pt x="54252" y="484203"/>
                </a:lnTo>
                <a:lnTo>
                  <a:pt x="31298" y="445663"/>
                </a:lnTo>
                <a:lnTo>
                  <a:pt x="14257" y="404042"/>
                </a:lnTo>
                <a:lnTo>
                  <a:pt x="3651" y="359826"/>
                </a:lnTo>
                <a:lnTo>
                  <a:pt x="0" y="313499"/>
                </a:lnTo>
                <a:lnTo>
                  <a:pt x="3651" y="267173"/>
                </a:lnTo>
                <a:lnTo>
                  <a:pt x="14257" y="222957"/>
                </a:lnTo>
                <a:lnTo>
                  <a:pt x="31298" y="181336"/>
                </a:lnTo>
                <a:lnTo>
                  <a:pt x="54252" y="142795"/>
                </a:lnTo>
                <a:lnTo>
                  <a:pt x="82599" y="107820"/>
                </a:lnTo>
                <a:lnTo>
                  <a:pt x="115817" y="76896"/>
                </a:lnTo>
                <a:lnTo>
                  <a:pt x="153386" y="50506"/>
                </a:lnTo>
                <a:lnTo>
                  <a:pt x="194784" y="29137"/>
                </a:lnTo>
                <a:lnTo>
                  <a:pt x="239492" y="13273"/>
                </a:lnTo>
                <a:lnTo>
                  <a:pt x="286987" y="3399"/>
                </a:lnTo>
                <a:lnTo>
                  <a:pt x="336749" y="0"/>
                </a:lnTo>
                <a:lnTo>
                  <a:pt x="386512" y="3399"/>
                </a:lnTo>
                <a:lnTo>
                  <a:pt x="434007" y="13273"/>
                </a:lnTo>
                <a:lnTo>
                  <a:pt x="478715" y="29137"/>
                </a:lnTo>
                <a:lnTo>
                  <a:pt x="520113" y="50506"/>
                </a:lnTo>
                <a:lnTo>
                  <a:pt x="557682" y="76896"/>
                </a:lnTo>
                <a:lnTo>
                  <a:pt x="590900" y="107820"/>
                </a:lnTo>
                <a:lnTo>
                  <a:pt x="619247" y="142795"/>
                </a:lnTo>
                <a:lnTo>
                  <a:pt x="642201" y="181336"/>
                </a:lnTo>
                <a:lnTo>
                  <a:pt x="659242" y="222957"/>
                </a:lnTo>
                <a:lnTo>
                  <a:pt x="669848" y="267173"/>
                </a:lnTo>
                <a:lnTo>
                  <a:pt x="673499" y="313499"/>
                </a:lnTo>
                <a:lnTo>
                  <a:pt x="669848" y="359826"/>
                </a:lnTo>
                <a:lnTo>
                  <a:pt x="659242" y="404042"/>
                </a:lnTo>
                <a:lnTo>
                  <a:pt x="642201" y="445663"/>
                </a:lnTo>
                <a:lnTo>
                  <a:pt x="619247" y="484203"/>
                </a:lnTo>
                <a:lnTo>
                  <a:pt x="590900" y="519178"/>
                </a:lnTo>
                <a:lnTo>
                  <a:pt x="557682" y="550103"/>
                </a:lnTo>
                <a:lnTo>
                  <a:pt x="520113" y="576493"/>
                </a:lnTo>
                <a:lnTo>
                  <a:pt x="478715" y="597862"/>
                </a:lnTo>
                <a:lnTo>
                  <a:pt x="434007" y="613726"/>
                </a:lnTo>
                <a:lnTo>
                  <a:pt x="386512" y="623600"/>
                </a:lnTo>
                <a:lnTo>
                  <a:pt x="336749" y="626999"/>
                </a:lnTo>
                <a:close/>
              </a:path>
            </a:pathLst>
          </a:custGeom>
          <a:solidFill>
            <a:srgbClr val="E7E6E6"/>
          </a:solidFill>
        </p:spPr>
        <p:txBody>
          <a:bodyPr wrap="square" lIns="0" tIns="0" rIns="0" bIns="0" rtlCol="0"/>
          <a:lstStyle/>
          <a:p>
            <a:pPr algn="ctr"/>
            <a:r>
              <a:rPr lang="en-IN" sz="1800" dirty="0" smtClean="0">
                <a:latin typeface="Cambria" panose="02040503050406030204" pitchFamily="18" charset="0"/>
                <a:ea typeface="Cambria" panose="02040503050406030204" pitchFamily="18" charset="0"/>
                <a:cs typeface="Calibri" panose="020F0502020204030204" pitchFamily="34" charset="0"/>
              </a:rPr>
              <a:t>B3</a:t>
            </a:r>
            <a:endParaRPr sz="1800" dirty="0">
              <a:latin typeface="Cambria" panose="02040503050406030204" pitchFamily="18" charset="0"/>
              <a:ea typeface="Cambria" panose="02040503050406030204" pitchFamily="18" charset="0"/>
              <a:cs typeface="Calibri" panose="020F0502020204030204" pitchFamily="34" charset="0"/>
            </a:endParaRPr>
          </a:p>
        </p:txBody>
      </p:sp>
      <p:sp>
        <p:nvSpPr>
          <p:cNvPr id="36" name="Rectangle 35"/>
          <p:cNvSpPr/>
          <p:nvPr/>
        </p:nvSpPr>
        <p:spPr>
          <a:xfrm>
            <a:off x="2784996" y="3897081"/>
            <a:ext cx="5670059" cy="954107"/>
          </a:xfrm>
          <a:prstGeom prst="rect">
            <a:avLst/>
          </a:prstGeom>
        </p:spPr>
        <p:txBody>
          <a:bodyPr wrap="square">
            <a:spAutoFit/>
          </a:bodyPr>
          <a:lstStyle/>
          <a:p>
            <a:pPr marR="112395" algn="just"/>
            <a:r>
              <a:rPr lang="en-IN" dirty="0" smtClean="0">
                <a:latin typeface="Times New Roman" panose="02020603050405020304" pitchFamily="18" charset="0"/>
                <a:ea typeface="Times New Roman" panose="02020603050405020304" pitchFamily="18" charset="0"/>
              </a:rPr>
              <a:t>Developed a </a:t>
            </a:r>
            <a:r>
              <a:rPr lang="en-IN" dirty="0">
                <a:latin typeface="Times New Roman" panose="02020603050405020304" pitchFamily="18" charset="0"/>
                <a:ea typeface="Times New Roman" panose="02020603050405020304" pitchFamily="18" charset="0"/>
              </a:rPr>
              <a:t>comprehensive LSTM neural network system for real-time river level forecasting at target location-</a:t>
            </a:r>
            <a:r>
              <a:rPr lang="en-IN" dirty="0" err="1">
                <a:latin typeface="Times New Roman" panose="02020603050405020304" pitchFamily="18" charset="0"/>
                <a:ea typeface="Times New Roman" panose="02020603050405020304" pitchFamily="18" charset="0"/>
              </a:rPr>
              <a:t>Kalady</a:t>
            </a:r>
            <a:r>
              <a:rPr lang="en-IN" dirty="0">
                <a:latin typeface="Times New Roman" panose="02020603050405020304" pitchFamily="18" charset="0"/>
                <a:ea typeface="Times New Roman" panose="02020603050405020304" pitchFamily="18" charset="0"/>
              </a:rPr>
              <a:t>, integrating multi-source data from dam operations, rainfall, and historical measurements to deliver accurate 6-hour ahead predictions.</a:t>
            </a:r>
          </a:p>
        </p:txBody>
      </p:sp>
    </p:spTree>
    <p:extLst>
      <p:ext uri="{BB962C8B-B14F-4D97-AF65-F5344CB8AC3E}">
        <p14:creationId xmlns:p14="http://schemas.microsoft.com/office/powerpoint/2010/main" val="4028570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775" y="333769"/>
            <a:ext cx="6390450" cy="621972"/>
          </a:xfrm>
          <a:prstGeom prst="rect">
            <a:avLst/>
          </a:prstGeom>
        </p:spPr>
        <p:txBody>
          <a:bodyPr spcFirstLastPara="1" vert="horz" wrap="square" lIns="0" tIns="260357" rIns="0" bIns="0" rtlCol="0" anchor="t" anchorCtr="0">
            <a:spAutoFit/>
          </a:bodyPr>
          <a:lstStyle/>
          <a:p>
            <a:pPr marL="20955">
              <a:spcBef>
                <a:spcPts val="75"/>
              </a:spcBef>
            </a:pPr>
            <a:r>
              <a:rPr sz="2250" spc="-8" dirty="0">
                <a:solidFill>
                  <a:srgbClr val="A71901"/>
                </a:solidFill>
                <a:latin typeface="Cambria"/>
                <a:cs typeface="Cambria"/>
              </a:rPr>
              <a:t>Outcomes</a:t>
            </a:r>
            <a:r>
              <a:rPr sz="2250" spc="-60" dirty="0">
                <a:solidFill>
                  <a:srgbClr val="A71901"/>
                </a:solidFill>
                <a:latin typeface="Cambria"/>
                <a:cs typeface="Cambria"/>
              </a:rPr>
              <a:t> </a:t>
            </a:r>
            <a:r>
              <a:rPr sz="2250" dirty="0" smtClean="0">
                <a:solidFill>
                  <a:srgbClr val="A71901"/>
                </a:solidFill>
                <a:latin typeface="Cambria"/>
                <a:cs typeface="Cambria"/>
              </a:rPr>
              <a:t>(</a:t>
            </a:r>
            <a:r>
              <a:rPr lang="en-IN" sz="2250" dirty="0" smtClean="0">
                <a:solidFill>
                  <a:srgbClr val="A71901"/>
                </a:solidFill>
                <a:latin typeface="Cambria"/>
                <a:cs typeface="Cambria"/>
              </a:rPr>
              <a:t>1</a:t>
            </a:r>
            <a:r>
              <a:rPr lang="en-IN" sz="2250" baseline="30555" dirty="0" smtClean="0">
                <a:solidFill>
                  <a:srgbClr val="A71901"/>
                </a:solidFill>
                <a:latin typeface="Cambria"/>
                <a:cs typeface="Cambria"/>
              </a:rPr>
              <a:t>st</a:t>
            </a:r>
            <a:r>
              <a:rPr sz="2250" spc="146" baseline="30555" dirty="0" smtClean="0">
                <a:solidFill>
                  <a:srgbClr val="A71901"/>
                </a:solidFill>
                <a:latin typeface="Cambria"/>
                <a:cs typeface="Cambria"/>
              </a:rPr>
              <a:t> </a:t>
            </a:r>
            <a:r>
              <a:rPr sz="2250" dirty="0" smtClean="0">
                <a:solidFill>
                  <a:srgbClr val="A71901"/>
                </a:solidFill>
                <a:latin typeface="Cambria"/>
                <a:cs typeface="Cambria"/>
              </a:rPr>
              <a:t>M</a:t>
            </a:r>
            <a:r>
              <a:rPr lang="en-IN" sz="2250" dirty="0" err="1" smtClean="0">
                <a:solidFill>
                  <a:srgbClr val="A71901"/>
                </a:solidFill>
                <a:latin typeface="Cambria"/>
                <a:cs typeface="Cambria"/>
              </a:rPr>
              <a:t>ar</a:t>
            </a:r>
            <a:r>
              <a:rPr sz="2250" spc="-71" dirty="0" smtClean="0">
                <a:solidFill>
                  <a:srgbClr val="A71901"/>
                </a:solidFill>
                <a:latin typeface="Cambria"/>
                <a:cs typeface="Cambria"/>
              </a:rPr>
              <a:t> </a:t>
            </a:r>
            <a:r>
              <a:rPr sz="2250" dirty="0" smtClean="0">
                <a:solidFill>
                  <a:srgbClr val="A71901"/>
                </a:solidFill>
                <a:latin typeface="Cambria"/>
                <a:cs typeface="Cambria"/>
              </a:rPr>
              <a:t>202</a:t>
            </a:r>
            <a:r>
              <a:rPr lang="en-IN" sz="2250" dirty="0" smtClean="0">
                <a:solidFill>
                  <a:srgbClr val="A71901"/>
                </a:solidFill>
                <a:latin typeface="Cambria"/>
                <a:cs typeface="Cambria"/>
              </a:rPr>
              <a:t>5</a:t>
            </a:r>
            <a:r>
              <a:rPr sz="2250" spc="-68" dirty="0" smtClean="0">
                <a:solidFill>
                  <a:srgbClr val="A71901"/>
                </a:solidFill>
                <a:latin typeface="Cambria"/>
                <a:cs typeface="Cambria"/>
              </a:rPr>
              <a:t> </a:t>
            </a:r>
            <a:r>
              <a:rPr sz="2250" dirty="0">
                <a:solidFill>
                  <a:srgbClr val="A71901"/>
                </a:solidFill>
                <a:latin typeface="Cambria"/>
                <a:cs typeface="Cambria"/>
              </a:rPr>
              <a:t>to</a:t>
            </a:r>
            <a:r>
              <a:rPr sz="2250" spc="-68" dirty="0">
                <a:solidFill>
                  <a:srgbClr val="A71901"/>
                </a:solidFill>
                <a:latin typeface="Cambria"/>
                <a:cs typeface="Cambria"/>
              </a:rPr>
              <a:t> </a:t>
            </a:r>
            <a:r>
              <a:rPr lang="en-IN" sz="2250" dirty="0" smtClean="0">
                <a:solidFill>
                  <a:srgbClr val="A71901"/>
                </a:solidFill>
                <a:latin typeface="Cambria"/>
                <a:cs typeface="Cambria"/>
              </a:rPr>
              <a:t>30</a:t>
            </a:r>
            <a:r>
              <a:rPr sz="2250" baseline="30555" dirty="0" err="1" smtClean="0">
                <a:solidFill>
                  <a:srgbClr val="A71901"/>
                </a:solidFill>
                <a:latin typeface="Cambria"/>
                <a:cs typeface="Cambria"/>
              </a:rPr>
              <a:t>th</a:t>
            </a:r>
            <a:r>
              <a:rPr sz="2250" spc="140" baseline="30555" dirty="0" smtClean="0">
                <a:solidFill>
                  <a:srgbClr val="A71901"/>
                </a:solidFill>
                <a:latin typeface="Cambria"/>
                <a:cs typeface="Cambria"/>
              </a:rPr>
              <a:t> </a:t>
            </a:r>
            <a:r>
              <a:rPr lang="en-IN" sz="2250" dirty="0" smtClean="0">
                <a:solidFill>
                  <a:srgbClr val="A71901"/>
                </a:solidFill>
                <a:latin typeface="Cambria"/>
                <a:cs typeface="Cambria"/>
              </a:rPr>
              <a:t>Sep</a:t>
            </a:r>
            <a:r>
              <a:rPr sz="2250" spc="-68" dirty="0" smtClean="0">
                <a:solidFill>
                  <a:srgbClr val="A71901"/>
                </a:solidFill>
                <a:latin typeface="Cambria"/>
                <a:cs typeface="Cambria"/>
              </a:rPr>
              <a:t> </a:t>
            </a:r>
            <a:r>
              <a:rPr sz="2250" spc="-8" dirty="0">
                <a:solidFill>
                  <a:srgbClr val="A71901"/>
                </a:solidFill>
                <a:latin typeface="Cambria"/>
                <a:cs typeface="Cambria"/>
              </a:rPr>
              <a:t>2025)</a:t>
            </a:r>
            <a:endParaRPr sz="2250" dirty="0">
              <a:latin typeface="Cambria"/>
              <a:cs typeface="Cambria"/>
            </a:endParaRPr>
          </a:p>
        </p:txBody>
      </p:sp>
      <p:grpSp>
        <p:nvGrpSpPr>
          <p:cNvPr id="3" name="object 3"/>
          <p:cNvGrpSpPr/>
          <p:nvPr/>
        </p:nvGrpSpPr>
        <p:grpSpPr>
          <a:xfrm>
            <a:off x="259526" y="1196501"/>
            <a:ext cx="2959186" cy="4023360"/>
            <a:chOff x="311700" y="1493735"/>
            <a:chExt cx="3945581" cy="5364480"/>
          </a:xfrm>
        </p:grpSpPr>
        <p:sp>
          <p:nvSpPr>
            <p:cNvPr id="4" name="object 4"/>
            <p:cNvSpPr/>
            <p:nvPr/>
          </p:nvSpPr>
          <p:spPr>
            <a:xfrm>
              <a:off x="311700" y="2674623"/>
              <a:ext cx="3314698" cy="2224603"/>
            </a:xfrm>
            <a:custGeom>
              <a:avLst/>
              <a:gdLst/>
              <a:ahLst/>
              <a:cxnLst/>
              <a:rect l="l" t="t" r="r" b="b"/>
              <a:pathLst>
                <a:path w="3314700" h="2287270">
                  <a:moveTo>
                    <a:pt x="2781145" y="2287148"/>
                  </a:moveTo>
                  <a:lnTo>
                    <a:pt x="533212" y="2287148"/>
                  </a:lnTo>
                  <a:lnTo>
                    <a:pt x="502955" y="2285338"/>
                  </a:lnTo>
                  <a:lnTo>
                    <a:pt x="443813" y="2271145"/>
                  </a:lnTo>
                  <a:lnTo>
                    <a:pt x="386802" y="2243500"/>
                  </a:lnTo>
                  <a:lnTo>
                    <a:pt x="332284" y="2203175"/>
                  </a:lnTo>
                  <a:lnTo>
                    <a:pt x="280616" y="2150941"/>
                  </a:lnTo>
                  <a:lnTo>
                    <a:pt x="255964" y="2120600"/>
                  </a:lnTo>
                  <a:lnTo>
                    <a:pt x="232160" y="2087572"/>
                  </a:lnTo>
                  <a:lnTo>
                    <a:pt x="209249" y="2051953"/>
                  </a:lnTo>
                  <a:lnTo>
                    <a:pt x="187276" y="2013839"/>
                  </a:lnTo>
                  <a:lnTo>
                    <a:pt x="166286" y="1973328"/>
                  </a:lnTo>
                  <a:lnTo>
                    <a:pt x="146324" y="1930515"/>
                  </a:lnTo>
                  <a:lnTo>
                    <a:pt x="127435" y="1885498"/>
                  </a:lnTo>
                  <a:lnTo>
                    <a:pt x="109664" y="1838373"/>
                  </a:lnTo>
                  <a:lnTo>
                    <a:pt x="93056" y="1789236"/>
                  </a:lnTo>
                  <a:lnTo>
                    <a:pt x="77656" y="1738184"/>
                  </a:lnTo>
                  <a:lnTo>
                    <a:pt x="63509" y="1685314"/>
                  </a:lnTo>
                  <a:lnTo>
                    <a:pt x="50660" y="1630721"/>
                  </a:lnTo>
                  <a:lnTo>
                    <a:pt x="39154" y="1574503"/>
                  </a:lnTo>
                  <a:lnTo>
                    <a:pt x="29036" y="1516756"/>
                  </a:lnTo>
                  <a:lnTo>
                    <a:pt x="20351" y="1457577"/>
                  </a:lnTo>
                  <a:lnTo>
                    <a:pt x="13145" y="1397062"/>
                  </a:lnTo>
                  <a:lnTo>
                    <a:pt x="7461" y="1335308"/>
                  </a:lnTo>
                  <a:lnTo>
                    <a:pt x="3346" y="1272410"/>
                  </a:lnTo>
                  <a:lnTo>
                    <a:pt x="844" y="1208467"/>
                  </a:lnTo>
                  <a:lnTo>
                    <a:pt x="0" y="1143574"/>
                  </a:lnTo>
                  <a:lnTo>
                    <a:pt x="844" y="1078681"/>
                  </a:lnTo>
                  <a:lnTo>
                    <a:pt x="3346" y="1014738"/>
                  </a:lnTo>
                  <a:lnTo>
                    <a:pt x="7461" y="951840"/>
                  </a:lnTo>
                  <a:lnTo>
                    <a:pt x="13145" y="890086"/>
                  </a:lnTo>
                  <a:lnTo>
                    <a:pt x="20351" y="829571"/>
                  </a:lnTo>
                  <a:lnTo>
                    <a:pt x="29036" y="770392"/>
                  </a:lnTo>
                  <a:lnTo>
                    <a:pt x="39154" y="712645"/>
                  </a:lnTo>
                  <a:lnTo>
                    <a:pt x="50660" y="656427"/>
                  </a:lnTo>
                  <a:lnTo>
                    <a:pt x="63509" y="601834"/>
                  </a:lnTo>
                  <a:lnTo>
                    <a:pt x="77656" y="548964"/>
                  </a:lnTo>
                  <a:lnTo>
                    <a:pt x="93056" y="497912"/>
                  </a:lnTo>
                  <a:lnTo>
                    <a:pt x="109664" y="448775"/>
                  </a:lnTo>
                  <a:lnTo>
                    <a:pt x="127435" y="401650"/>
                  </a:lnTo>
                  <a:lnTo>
                    <a:pt x="146324" y="356633"/>
                  </a:lnTo>
                  <a:lnTo>
                    <a:pt x="166286" y="313820"/>
                  </a:lnTo>
                  <a:lnTo>
                    <a:pt x="187276" y="273309"/>
                  </a:lnTo>
                  <a:lnTo>
                    <a:pt x="209249" y="235195"/>
                  </a:lnTo>
                  <a:lnTo>
                    <a:pt x="232160" y="199576"/>
                  </a:lnTo>
                  <a:lnTo>
                    <a:pt x="255964" y="166548"/>
                  </a:lnTo>
                  <a:lnTo>
                    <a:pt x="280616" y="136207"/>
                  </a:lnTo>
                  <a:lnTo>
                    <a:pt x="332284" y="83973"/>
                  </a:lnTo>
                  <a:lnTo>
                    <a:pt x="386802" y="43648"/>
                  </a:lnTo>
                  <a:lnTo>
                    <a:pt x="443813" y="16003"/>
                  </a:lnTo>
                  <a:lnTo>
                    <a:pt x="502955" y="1810"/>
                  </a:lnTo>
                  <a:lnTo>
                    <a:pt x="533212" y="0"/>
                  </a:lnTo>
                  <a:lnTo>
                    <a:pt x="2781145" y="0"/>
                  </a:lnTo>
                  <a:lnTo>
                    <a:pt x="2841217" y="7176"/>
                  </a:lnTo>
                  <a:lnTo>
                    <a:pt x="2899338" y="28192"/>
                  </a:lnTo>
                  <a:lnTo>
                    <a:pt x="2955148" y="62274"/>
                  </a:lnTo>
                  <a:lnTo>
                    <a:pt x="3008286" y="108650"/>
                  </a:lnTo>
                  <a:lnTo>
                    <a:pt x="3058393" y="166548"/>
                  </a:lnTo>
                  <a:lnTo>
                    <a:pt x="3082197" y="199576"/>
                  </a:lnTo>
                  <a:lnTo>
                    <a:pt x="3105108" y="235195"/>
                  </a:lnTo>
                  <a:lnTo>
                    <a:pt x="3127081" y="273309"/>
                  </a:lnTo>
                  <a:lnTo>
                    <a:pt x="3148071" y="313820"/>
                  </a:lnTo>
                  <a:lnTo>
                    <a:pt x="3168033" y="356633"/>
                  </a:lnTo>
                  <a:lnTo>
                    <a:pt x="3186922" y="401650"/>
                  </a:lnTo>
                  <a:lnTo>
                    <a:pt x="3204693" y="448775"/>
                  </a:lnTo>
                  <a:lnTo>
                    <a:pt x="3221301" y="497912"/>
                  </a:lnTo>
                  <a:lnTo>
                    <a:pt x="3236701" y="548964"/>
                  </a:lnTo>
                  <a:lnTo>
                    <a:pt x="3250848" y="601834"/>
                  </a:lnTo>
                  <a:lnTo>
                    <a:pt x="3263697" y="656427"/>
                  </a:lnTo>
                  <a:lnTo>
                    <a:pt x="3275203" y="712645"/>
                  </a:lnTo>
                  <a:lnTo>
                    <a:pt x="3285321" y="770392"/>
                  </a:lnTo>
                  <a:lnTo>
                    <a:pt x="3294005" y="829571"/>
                  </a:lnTo>
                  <a:lnTo>
                    <a:pt x="3301212" y="890086"/>
                  </a:lnTo>
                  <a:lnTo>
                    <a:pt x="3306896" y="951840"/>
                  </a:lnTo>
                  <a:lnTo>
                    <a:pt x="3311011" y="1014738"/>
                  </a:lnTo>
                  <a:lnTo>
                    <a:pt x="3313513" y="1078681"/>
                  </a:lnTo>
                  <a:lnTo>
                    <a:pt x="3314357" y="1143574"/>
                  </a:lnTo>
                  <a:lnTo>
                    <a:pt x="3313513" y="1208467"/>
                  </a:lnTo>
                  <a:lnTo>
                    <a:pt x="3311011" y="1272410"/>
                  </a:lnTo>
                  <a:lnTo>
                    <a:pt x="3306896" y="1335308"/>
                  </a:lnTo>
                  <a:lnTo>
                    <a:pt x="3301212" y="1397062"/>
                  </a:lnTo>
                  <a:lnTo>
                    <a:pt x="3294005" y="1457577"/>
                  </a:lnTo>
                  <a:lnTo>
                    <a:pt x="3285321" y="1516756"/>
                  </a:lnTo>
                  <a:lnTo>
                    <a:pt x="3275203" y="1574503"/>
                  </a:lnTo>
                  <a:lnTo>
                    <a:pt x="3263697" y="1630721"/>
                  </a:lnTo>
                  <a:lnTo>
                    <a:pt x="3250848" y="1685314"/>
                  </a:lnTo>
                  <a:lnTo>
                    <a:pt x="3236701" y="1738184"/>
                  </a:lnTo>
                  <a:lnTo>
                    <a:pt x="3221301" y="1789236"/>
                  </a:lnTo>
                  <a:lnTo>
                    <a:pt x="3204693" y="1838373"/>
                  </a:lnTo>
                  <a:lnTo>
                    <a:pt x="3186922" y="1885498"/>
                  </a:lnTo>
                  <a:lnTo>
                    <a:pt x="3168033" y="1930515"/>
                  </a:lnTo>
                  <a:lnTo>
                    <a:pt x="3148071" y="1973328"/>
                  </a:lnTo>
                  <a:lnTo>
                    <a:pt x="3127081" y="2013839"/>
                  </a:lnTo>
                  <a:lnTo>
                    <a:pt x="3105108" y="2051953"/>
                  </a:lnTo>
                  <a:lnTo>
                    <a:pt x="3082197" y="2087572"/>
                  </a:lnTo>
                  <a:lnTo>
                    <a:pt x="3058393" y="2120600"/>
                  </a:lnTo>
                  <a:lnTo>
                    <a:pt x="3033741" y="2150941"/>
                  </a:lnTo>
                  <a:lnTo>
                    <a:pt x="2982073" y="2203175"/>
                  </a:lnTo>
                  <a:lnTo>
                    <a:pt x="2927554" y="2243500"/>
                  </a:lnTo>
                  <a:lnTo>
                    <a:pt x="2870544" y="2271145"/>
                  </a:lnTo>
                  <a:lnTo>
                    <a:pt x="2811402" y="2285338"/>
                  </a:lnTo>
                  <a:lnTo>
                    <a:pt x="2781145" y="2287148"/>
                  </a:lnTo>
                  <a:close/>
                </a:path>
              </a:pathLst>
            </a:custGeom>
            <a:solidFill>
              <a:srgbClr val="C04088"/>
            </a:solidFill>
          </p:spPr>
          <p:txBody>
            <a:bodyPr wrap="square" lIns="0" tIns="0" rIns="0" bIns="0" rtlCol="0"/>
            <a:lstStyle/>
            <a:p>
              <a:endParaRPr sz="1050"/>
            </a:p>
          </p:txBody>
        </p:sp>
        <p:sp>
          <p:nvSpPr>
            <p:cNvPr id="5" name="object 5"/>
            <p:cNvSpPr/>
            <p:nvPr/>
          </p:nvSpPr>
          <p:spPr>
            <a:xfrm>
              <a:off x="3193656" y="1493735"/>
              <a:ext cx="1063625" cy="5364480"/>
            </a:xfrm>
            <a:custGeom>
              <a:avLst/>
              <a:gdLst/>
              <a:ahLst/>
              <a:cxnLst/>
              <a:rect l="l" t="t" r="r" b="b"/>
              <a:pathLst>
                <a:path w="1063625" h="5364480">
                  <a:moveTo>
                    <a:pt x="1063205" y="0"/>
                  </a:moveTo>
                  <a:lnTo>
                    <a:pt x="0" y="0"/>
                  </a:lnTo>
                  <a:lnTo>
                    <a:pt x="0" y="5227498"/>
                  </a:lnTo>
                  <a:lnTo>
                    <a:pt x="239788" y="5227498"/>
                  </a:lnTo>
                  <a:lnTo>
                    <a:pt x="239788" y="5364264"/>
                  </a:lnTo>
                  <a:lnTo>
                    <a:pt x="295287" y="5364264"/>
                  </a:lnTo>
                  <a:lnTo>
                    <a:pt x="295287" y="5227498"/>
                  </a:lnTo>
                  <a:lnTo>
                    <a:pt x="1063205" y="5227498"/>
                  </a:lnTo>
                  <a:lnTo>
                    <a:pt x="1063205" y="0"/>
                  </a:lnTo>
                  <a:close/>
                </a:path>
              </a:pathLst>
            </a:custGeom>
            <a:solidFill>
              <a:srgbClr val="FFFFFF"/>
            </a:solidFill>
          </p:spPr>
          <p:txBody>
            <a:bodyPr wrap="square" lIns="0" tIns="0" rIns="0" bIns="0" rtlCol="0"/>
            <a:lstStyle/>
            <a:p>
              <a:endParaRPr sz="1050"/>
            </a:p>
          </p:txBody>
        </p:sp>
        <p:sp>
          <p:nvSpPr>
            <p:cNvPr id="6" name="object 6"/>
            <p:cNvSpPr/>
            <p:nvPr/>
          </p:nvSpPr>
          <p:spPr>
            <a:xfrm>
              <a:off x="633412" y="3175634"/>
              <a:ext cx="673735" cy="627380"/>
            </a:xfrm>
            <a:custGeom>
              <a:avLst/>
              <a:gdLst/>
              <a:ahLst/>
              <a:cxnLst/>
              <a:rect l="l" t="t" r="r" b="b"/>
              <a:pathLst>
                <a:path w="673735" h="627379">
                  <a:moveTo>
                    <a:pt x="336749" y="626999"/>
                  </a:moveTo>
                  <a:lnTo>
                    <a:pt x="286987" y="623600"/>
                  </a:lnTo>
                  <a:lnTo>
                    <a:pt x="239492" y="613726"/>
                  </a:lnTo>
                  <a:lnTo>
                    <a:pt x="194784" y="597862"/>
                  </a:lnTo>
                  <a:lnTo>
                    <a:pt x="153386" y="576493"/>
                  </a:lnTo>
                  <a:lnTo>
                    <a:pt x="115817" y="550103"/>
                  </a:lnTo>
                  <a:lnTo>
                    <a:pt x="82599" y="519178"/>
                  </a:lnTo>
                  <a:lnTo>
                    <a:pt x="54252" y="484203"/>
                  </a:lnTo>
                  <a:lnTo>
                    <a:pt x="31298" y="445663"/>
                  </a:lnTo>
                  <a:lnTo>
                    <a:pt x="14257" y="404042"/>
                  </a:lnTo>
                  <a:lnTo>
                    <a:pt x="3651" y="359826"/>
                  </a:lnTo>
                  <a:lnTo>
                    <a:pt x="0" y="313499"/>
                  </a:lnTo>
                  <a:lnTo>
                    <a:pt x="3651" y="267173"/>
                  </a:lnTo>
                  <a:lnTo>
                    <a:pt x="14257" y="222957"/>
                  </a:lnTo>
                  <a:lnTo>
                    <a:pt x="31298" y="181336"/>
                  </a:lnTo>
                  <a:lnTo>
                    <a:pt x="54252" y="142795"/>
                  </a:lnTo>
                  <a:lnTo>
                    <a:pt x="82599" y="107820"/>
                  </a:lnTo>
                  <a:lnTo>
                    <a:pt x="115817" y="76896"/>
                  </a:lnTo>
                  <a:lnTo>
                    <a:pt x="153386" y="50506"/>
                  </a:lnTo>
                  <a:lnTo>
                    <a:pt x="194784" y="29137"/>
                  </a:lnTo>
                  <a:lnTo>
                    <a:pt x="239492" y="13273"/>
                  </a:lnTo>
                  <a:lnTo>
                    <a:pt x="286987" y="3399"/>
                  </a:lnTo>
                  <a:lnTo>
                    <a:pt x="336749" y="0"/>
                  </a:lnTo>
                  <a:lnTo>
                    <a:pt x="386512" y="3399"/>
                  </a:lnTo>
                  <a:lnTo>
                    <a:pt x="434007" y="13273"/>
                  </a:lnTo>
                  <a:lnTo>
                    <a:pt x="478715" y="29137"/>
                  </a:lnTo>
                  <a:lnTo>
                    <a:pt x="520113" y="50506"/>
                  </a:lnTo>
                  <a:lnTo>
                    <a:pt x="557682" y="76896"/>
                  </a:lnTo>
                  <a:lnTo>
                    <a:pt x="590900" y="107820"/>
                  </a:lnTo>
                  <a:lnTo>
                    <a:pt x="619247" y="142795"/>
                  </a:lnTo>
                  <a:lnTo>
                    <a:pt x="642201" y="181336"/>
                  </a:lnTo>
                  <a:lnTo>
                    <a:pt x="659242" y="222957"/>
                  </a:lnTo>
                  <a:lnTo>
                    <a:pt x="669848" y="267173"/>
                  </a:lnTo>
                  <a:lnTo>
                    <a:pt x="673499" y="313499"/>
                  </a:lnTo>
                  <a:lnTo>
                    <a:pt x="669848" y="359826"/>
                  </a:lnTo>
                  <a:lnTo>
                    <a:pt x="659242" y="404042"/>
                  </a:lnTo>
                  <a:lnTo>
                    <a:pt x="642201" y="445663"/>
                  </a:lnTo>
                  <a:lnTo>
                    <a:pt x="619247" y="484203"/>
                  </a:lnTo>
                  <a:lnTo>
                    <a:pt x="590900" y="519178"/>
                  </a:lnTo>
                  <a:lnTo>
                    <a:pt x="557682" y="550103"/>
                  </a:lnTo>
                  <a:lnTo>
                    <a:pt x="520113" y="576493"/>
                  </a:lnTo>
                  <a:lnTo>
                    <a:pt x="478715" y="597862"/>
                  </a:lnTo>
                  <a:lnTo>
                    <a:pt x="434007" y="613726"/>
                  </a:lnTo>
                  <a:lnTo>
                    <a:pt x="386512" y="623600"/>
                  </a:lnTo>
                  <a:lnTo>
                    <a:pt x="336749" y="626999"/>
                  </a:lnTo>
                  <a:close/>
                </a:path>
              </a:pathLst>
            </a:custGeom>
            <a:solidFill>
              <a:srgbClr val="E7E6E6"/>
            </a:solidFill>
          </p:spPr>
          <p:txBody>
            <a:bodyPr wrap="square" lIns="0" tIns="0" rIns="0" bIns="0" rtlCol="0"/>
            <a:lstStyle/>
            <a:p>
              <a:endParaRPr sz="1050"/>
            </a:p>
          </p:txBody>
        </p:sp>
      </p:grpSp>
      <p:sp>
        <p:nvSpPr>
          <p:cNvPr id="7" name="object 7"/>
          <p:cNvSpPr txBox="1"/>
          <p:nvPr/>
        </p:nvSpPr>
        <p:spPr>
          <a:xfrm>
            <a:off x="1129000" y="2476502"/>
            <a:ext cx="1107758" cy="563616"/>
          </a:xfrm>
          <a:prstGeom prst="rect">
            <a:avLst/>
          </a:prstGeom>
        </p:spPr>
        <p:txBody>
          <a:bodyPr vert="horz" wrap="square" lIns="0" tIns="9525" rIns="0" bIns="0" rtlCol="0">
            <a:spAutoFit/>
          </a:bodyPr>
          <a:lstStyle/>
          <a:p>
            <a:pPr marL="9525" marR="3810">
              <a:spcBef>
                <a:spcPts val="75"/>
              </a:spcBef>
            </a:pPr>
            <a:r>
              <a:rPr sz="1200" b="1" dirty="0">
                <a:solidFill>
                  <a:srgbClr val="FFFFFF"/>
                </a:solidFill>
                <a:latin typeface="Cambria"/>
                <a:cs typeface="Cambria"/>
              </a:rPr>
              <a:t>IP</a:t>
            </a:r>
            <a:r>
              <a:rPr sz="1200" b="1" spc="-19" dirty="0">
                <a:solidFill>
                  <a:srgbClr val="FFFFFF"/>
                </a:solidFill>
                <a:latin typeface="Cambria"/>
                <a:cs typeface="Cambria"/>
              </a:rPr>
              <a:t> </a:t>
            </a:r>
            <a:r>
              <a:rPr sz="1200" b="1" dirty="0">
                <a:solidFill>
                  <a:srgbClr val="FFFFFF"/>
                </a:solidFill>
                <a:latin typeface="Cambria"/>
                <a:cs typeface="Cambria"/>
              </a:rPr>
              <a:t>&amp;</a:t>
            </a:r>
            <a:r>
              <a:rPr sz="1200" b="1" spc="-15" dirty="0">
                <a:solidFill>
                  <a:srgbClr val="FFFFFF"/>
                </a:solidFill>
                <a:latin typeface="Cambria"/>
                <a:cs typeface="Cambria"/>
              </a:rPr>
              <a:t> </a:t>
            </a:r>
            <a:r>
              <a:rPr sz="1200" b="1" spc="-8" dirty="0">
                <a:solidFill>
                  <a:srgbClr val="FFFFFF"/>
                </a:solidFill>
                <a:latin typeface="Cambria"/>
                <a:cs typeface="Cambria"/>
              </a:rPr>
              <a:t>Skill development</a:t>
            </a:r>
            <a:r>
              <a:rPr sz="1200" b="1" spc="-19" dirty="0">
                <a:solidFill>
                  <a:srgbClr val="FFFFFF"/>
                </a:solidFill>
                <a:latin typeface="Cambria"/>
                <a:cs typeface="Cambria"/>
              </a:rPr>
              <a:t> in </a:t>
            </a:r>
            <a:r>
              <a:rPr sz="1200" b="1" dirty="0">
                <a:solidFill>
                  <a:srgbClr val="FFFFFF"/>
                </a:solidFill>
                <a:latin typeface="Cambria"/>
                <a:cs typeface="Cambria"/>
              </a:rPr>
              <a:t>IoT</a:t>
            </a:r>
            <a:r>
              <a:rPr sz="1200" b="1" spc="-30" dirty="0">
                <a:solidFill>
                  <a:srgbClr val="FFFFFF"/>
                </a:solidFill>
                <a:latin typeface="Cambria"/>
                <a:cs typeface="Cambria"/>
              </a:rPr>
              <a:t> </a:t>
            </a:r>
            <a:r>
              <a:rPr sz="1200" b="1" spc="-8" dirty="0">
                <a:solidFill>
                  <a:srgbClr val="FFFFFF"/>
                </a:solidFill>
                <a:latin typeface="Cambria"/>
                <a:cs typeface="Cambria"/>
              </a:rPr>
              <a:t>solutions</a:t>
            </a:r>
            <a:endParaRPr sz="1200" dirty="0">
              <a:latin typeface="Cambria"/>
              <a:cs typeface="Cambria"/>
            </a:endParaRPr>
          </a:p>
        </p:txBody>
      </p:sp>
      <p:sp>
        <p:nvSpPr>
          <p:cNvPr id="8" name="object 8"/>
          <p:cNvSpPr txBox="1"/>
          <p:nvPr/>
        </p:nvSpPr>
        <p:spPr>
          <a:xfrm>
            <a:off x="2558699" y="1424301"/>
            <a:ext cx="5831681" cy="3170420"/>
          </a:xfrm>
          <a:prstGeom prst="rect">
            <a:avLst/>
          </a:prstGeom>
        </p:spPr>
        <p:txBody>
          <a:bodyPr vert="horz" wrap="square" lIns="0" tIns="9525" rIns="0" bIns="0" rtlCol="0">
            <a:spAutoFit/>
          </a:bodyPr>
          <a:lstStyle/>
          <a:p>
            <a:pPr marL="113824" marR="3810" indent="-104775">
              <a:lnSpc>
                <a:spcPct val="136800"/>
              </a:lnSpc>
              <a:spcBef>
                <a:spcPts val="75"/>
              </a:spcBef>
              <a:buSzPct val="94736"/>
              <a:buFont typeface="Arial"/>
              <a:buChar char="•"/>
              <a:tabLst>
                <a:tab pos="114776" algn="l"/>
              </a:tabLst>
            </a:pPr>
            <a:r>
              <a:rPr lang="en-IN" b="1" dirty="0" smtClean="0">
                <a:latin typeface="Cambria" panose="02040503050406030204" pitchFamily="18" charset="0"/>
                <a:ea typeface="Cambria" panose="02040503050406030204" pitchFamily="18" charset="0"/>
              </a:rPr>
              <a:t>Conducted 7 Workshops</a:t>
            </a:r>
            <a:r>
              <a:rPr lang="en-IN" dirty="0" smtClean="0">
                <a:latin typeface="Cambria" panose="02040503050406030204" pitchFamily="18" charset="0"/>
                <a:ea typeface="Cambria" panose="02040503050406030204" pitchFamily="18" charset="0"/>
              </a:rPr>
              <a:t> benefitting </a:t>
            </a:r>
            <a:r>
              <a:rPr lang="en-IN" b="1" dirty="0" smtClean="0">
                <a:latin typeface="Cambria" panose="02040503050406030204" pitchFamily="18" charset="0"/>
                <a:ea typeface="Cambria" panose="02040503050406030204" pitchFamily="18" charset="0"/>
              </a:rPr>
              <a:t>316 Students.</a:t>
            </a:r>
          </a:p>
          <a:p>
            <a:pPr marL="113824" marR="3810" indent="-104775">
              <a:lnSpc>
                <a:spcPct val="136800"/>
              </a:lnSpc>
              <a:spcBef>
                <a:spcPts val="75"/>
              </a:spcBef>
              <a:buSzPct val="94736"/>
              <a:buFont typeface="Arial"/>
              <a:buChar char="•"/>
              <a:tabLst>
                <a:tab pos="114776" algn="l"/>
              </a:tabLst>
            </a:pPr>
            <a:r>
              <a:rPr lang="en-IN" b="1" dirty="0" smtClean="0">
                <a:latin typeface="Cambria" panose="02040503050406030204" pitchFamily="18" charset="0"/>
                <a:ea typeface="Cambria" panose="02040503050406030204" pitchFamily="18" charset="0"/>
              </a:rPr>
              <a:t>Conducted a 15 day intensive Summer Internship program </a:t>
            </a:r>
            <a:r>
              <a:rPr lang="en-IN" dirty="0" smtClean="0">
                <a:latin typeface="Cambria" panose="02040503050406030204" pitchFamily="18" charset="0"/>
                <a:ea typeface="Cambria" panose="02040503050406030204" pitchFamily="18" charset="0"/>
              </a:rPr>
              <a:t>benefitting</a:t>
            </a:r>
            <a:r>
              <a:rPr lang="en-IN" b="1" dirty="0" smtClean="0">
                <a:latin typeface="Cambria" panose="02040503050406030204" pitchFamily="18" charset="0"/>
                <a:ea typeface="Cambria" panose="02040503050406030204" pitchFamily="18" charset="0"/>
              </a:rPr>
              <a:t> 49 students </a:t>
            </a:r>
            <a:r>
              <a:rPr lang="en-IN" dirty="0" smtClean="0">
                <a:latin typeface="Cambria" panose="02040503050406030204" pitchFamily="18" charset="0"/>
                <a:ea typeface="Cambria" panose="02040503050406030204" pitchFamily="18" charset="0"/>
              </a:rPr>
              <a:t>providing hands on training and conducted a </a:t>
            </a:r>
            <a:r>
              <a:rPr lang="en-IN" b="1" dirty="0" smtClean="0">
                <a:latin typeface="Cambria" panose="02040503050406030204" pitchFamily="18" charset="0"/>
                <a:ea typeface="Cambria" panose="02040503050406030204" pitchFamily="18" charset="0"/>
              </a:rPr>
              <a:t>project exhibition </a:t>
            </a:r>
            <a:r>
              <a:rPr lang="en-IN" dirty="0" smtClean="0">
                <a:latin typeface="Cambria" panose="02040503050406030204" pitchFamily="18" charset="0"/>
                <a:ea typeface="Cambria" panose="02040503050406030204" pitchFamily="18" charset="0"/>
              </a:rPr>
              <a:t>and distributed prizes.</a:t>
            </a:r>
          </a:p>
          <a:p>
            <a:pPr marL="113824" marR="3810" indent="-104775">
              <a:lnSpc>
                <a:spcPct val="136800"/>
              </a:lnSpc>
              <a:spcBef>
                <a:spcPts val="75"/>
              </a:spcBef>
              <a:buSzPct val="94736"/>
              <a:buFont typeface="Arial"/>
              <a:buChar char="•"/>
              <a:tabLst>
                <a:tab pos="114776" algn="l"/>
              </a:tabLst>
            </a:pPr>
            <a:r>
              <a:rPr lang="en-IN" b="1" dirty="0" smtClean="0">
                <a:latin typeface="Cambria" panose="02040503050406030204" pitchFamily="18" charset="0"/>
                <a:ea typeface="Cambria" panose="02040503050406030204" pitchFamily="18" charset="0"/>
              </a:rPr>
              <a:t>Six month Internship </a:t>
            </a:r>
            <a:r>
              <a:rPr lang="en-IN" dirty="0" smtClean="0">
                <a:latin typeface="Cambria" panose="02040503050406030204" pitchFamily="18" charset="0"/>
                <a:ea typeface="Cambria" panose="02040503050406030204" pitchFamily="18" charset="0"/>
              </a:rPr>
              <a:t>program benefitting </a:t>
            </a:r>
            <a:r>
              <a:rPr lang="en-IN" b="1" dirty="0" smtClean="0">
                <a:latin typeface="Cambria" panose="02040503050406030204" pitchFamily="18" charset="0"/>
                <a:ea typeface="Cambria" panose="02040503050406030204" pitchFamily="18" charset="0"/>
              </a:rPr>
              <a:t>9 interns</a:t>
            </a:r>
            <a:r>
              <a:rPr lang="en-IN" dirty="0" smtClean="0">
                <a:latin typeface="Cambria" panose="02040503050406030204" pitchFamily="18" charset="0"/>
                <a:ea typeface="Cambria" panose="02040503050406030204" pitchFamily="18" charset="0"/>
              </a:rPr>
              <a:t>. </a:t>
            </a:r>
          </a:p>
          <a:p>
            <a:pPr marL="9049" marR="3810">
              <a:lnSpc>
                <a:spcPct val="136800"/>
              </a:lnSpc>
              <a:spcBef>
                <a:spcPts val="75"/>
              </a:spcBef>
              <a:buSzPct val="94736"/>
              <a:tabLst>
                <a:tab pos="114776" algn="l"/>
              </a:tabLst>
            </a:pPr>
            <a:r>
              <a:rPr lang="en-IN" b="1" u="sng" dirty="0" smtClean="0">
                <a:latin typeface="Calibri" panose="020F0502020204030204" pitchFamily="34" charset="0"/>
                <a:ea typeface="Calibri" panose="020F0502020204030204" pitchFamily="34" charset="0"/>
                <a:cs typeface="Calibri" panose="020F0502020204030204" pitchFamily="34" charset="0"/>
              </a:rPr>
              <a:t>Research </a:t>
            </a:r>
            <a:r>
              <a:rPr lang="en-IN" b="1" u="sng" dirty="0">
                <a:latin typeface="Calibri" panose="020F0502020204030204" pitchFamily="34" charset="0"/>
                <a:ea typeface="Calibri" panose="020F0502020204030204" pitchFamily="34" charset="0"/>
                <a:cs typeface="Calibri" panose="020F0502020204030204" pitchFamily="34" charset="0"/>
              </a:rPr>
              <a:t>Outputs</a:t>
            </a:r>
            <a:r>
              <a:rPr lang="en-IN" b="1" u="sng" dirty="0" smtClean="0">
                <a:latin typeface="Calibri" panose="020F0502020204030204" pitchFamily="34" charset="0"/>
                <a:ea typeface="Calibri" panose="020F0502020204030204" pitchFamily="34" charset="0"/>
                <a:cs typeface="Calibri" panose="020F0502020204030204" pitchFamily="34" charset="0"/>
              </a:rPr>
              <a:t>:</a:t>
            </a:r>
          </a:p>
          <a:p>
            <a:pPr marL="285750" marR="157480" lvl="0" indent="-285750" algn="just">
              <a:lnSpc>
                <a:spcPct val="98000"/>
              </a:lnSpc>
              <a:buFont typeface="Arial" panose="020B0604020202020204" pitchFamily="34" charset="0"/>
              <a:buChar char="•"/>
              <a:tabLst>
                <a:tab pos="374015" algn="l"/>
                <a:tab pos="519430" algn="l"/>
              </a:tabLst>
            </a:pPr>
            <a:r>
              <a:rPr lang="en-IN" dirty="0">
                <a:highlight>
                  <a:srgbClr val="FFFFFF"/>
                </a:highlight>
                <a:latin typeface="Calibri" panose="020F0502020204030204" pitchFamily="34" charset="0"/>
                <a:ea typeface="Calibri" panose="020F0502020204030204" pitchFamily="34" charset="0"/>
                <a:cs typeface="Calibri" panose="020F0502020204030204" pitchFamily="34" charset="0"/>
              </a:rPr>
              <a:t>1 paper communicated</a:t>
            </a:r>
            <a:endParaRPr lang="en-IN" dirty="0">
              <a:latin typeface="Calibri" panose="020F0502020204030204" pitchFamily="34" charset="0"/>
              <a:ea typeface="Calibri" panose="020F0502020204030204" pitchFamily="34" charset="0"/>
              <a:cs typeface="Calibri" panose="020F0502020204030204" pitchFamily="34" charset="0"/>
            </a:endParaRPr>
          </a:p>
          <a:p>
            <a:pPr marL="285750" marR="157480" lvl="0" indent="-285750" algn="just">
              <a:lnSpc>
                <a:spcPct val="98000"/>
              </a:lnSpc>
              <a:buFont typeface="Arial" panose="020B0604020202020204" pitchFamily="34" charset="0"/>
              <a:buChar char="•"/>
              <a:tabLst>
                <a:tab pos="374015" algn="l"/>
                <a:tab pos="519430" algn="l"/>
              </a:tabLst>
            </a:pPr>
            <a:r>
              <a:rPr lang="en-IN" dirty="0">
                <a:highlight>
                  <a:srgbClr val="FFFFFF"/>
                </a:highlight>
                <a:latin typeface="Calibri" panose="020F0502020204030204" pitchFamily="34" charset="0"/>
                <a:ea typeface="Calibri" panose="020F0502020204030204" pitchFamily="34" charset="0"/>
                <a:cs typeface="Calibri" panose="020F0502020204030204" pitchFamily="34" charset="0"/>
              </a:rPr>
              <a:t>2 papers presented</a:t>
            </a:r>
            <a:endParaRPr lang="en-IN" dirty="0">
              <a:latin typeface="Calibri" panose="020F0502020204030204" pitchFamily="34" charset="0"/>
              <a:ea typeface="Calibri" panose="020F0502020204030204" pitchFamily="34" charset="0"/>
              <a:cs typeface="Calibri" panose="020F0502020204030204" pitchFamily="34" charset="0"/>
            </a:endParaRPr>
          </a:p>
          <a:p>
            <a:pPr marL="9049" marR="3810" lvl="0">
              <a:lnSpc>
                <a:spcPct val="136800"/>
              </a:lnSpc>
              <a:spcBef>
                <a:spcPts val="75"/>
              </a:spcBef>
              <a:buSzPct val="94736"/>
              <a:tabLst>
                <a:tab pos="114776" algn="l"/>
              </a:tabLst>
            </a:pPr>
            <a:endParaRPr lang="en-IN" dirty="0" smtClean="0">
              <a:latin typeface="Cambria" panose="02040503050406030204" pitchFamily="18" charset="0"/>
              <a:ea typeface="Cambria" panose="02040503050406030204" pitchFamily="18" charset="0"/>
            </a:endParaRPr>
          </a:p>
          <a:p>
            <a:pPr marL="9049" marR="3810">
              <a:lnSpc>
                <a:spcPct val="136800"/>
              </a:lnSpc>
              <a:spcBef>
                <a:spcPts val="75"/>
              </a:spcBef>
              <a:buSzPct val="94736"/>
              <a:tabLst>
                <a:tab pos="114776" algn="l"/>
              </a:tabLst>
            </a:pPr>
            <a:endParaRPr lang="en-IN" dirty="0" smtClean="0">
              <a:latin typeface="Cambria" panose="02040503050406030204" pitchFamily="18" charset="0"/>
              <a:ea typeface="Cambria" panose="02040503050406030204" pitchFamily="18" charset="0"/>
            </a:endParaRPr>
          </a:p>
          <a:p>
            <a:pPr marL="113824" marR="3810" indent="-104775">
              <a:lnSpc>
                <a:spcPct val="136800"/>
              </a:lnSpc>
              <a:spcBef>
                <a:spcPts val="75"/>
              </a:spcBef>
              <a:buSzPct val="94736"/>
              <a:buFont typeface="Arial"/>
              <a:buChar char="•"/>
              <a:tabLst>
                <a:tab pos="114776" algn="l"/>
              </a:tabLst>
            </a:pPr>
            <a:endParaRPr sz="1425" dirty="0">
              <a:latin typeface="Cambria"/>
              <a:cs typeface="Cambria"/>
            </a:endParaRPr>
          </a:p>
        </p:txBody>
      </p:sp>
      <p:sp>
        <p:nvSpPr>
          <p:cNvPr id="10" name="object 10"/>
          <p:cNvSpPr txBox="1"/>
          <p:nvPr/>
        </p:nvSpPr>
        <p:spPr>
          <a:xfrm>
            <a:off x="583615" y="2501742"/>
            <a:ext cx="315754" cy="286617"/>
          </a:xfrm>
          <a:prstGeom prst="rect">
            <a:avLst/>
          </a:prstGeom>
        </p:spPr>
        <p:txBody>
          <a:bodyPr vert="horz" wrap="square" lIns="0" tIns="9525" rIns="0" bIns="0" rtlCol="0">
            <a:spAutoFit/>
          </a:bodyPr>
          <a:lstStyle/>
          <a:p>
            <a:pPr marL="9525">
              <a:spcBef>
                <a:spcPts val="75"/>
              </a:spcBef>
            </a:pPr>
            <a:r>
              <a:rPr sz="1800" b="1" spc="-19" dirty="0">
                <a:latin typeface="Cambria"/>
                <a:cs typeface="Cambria"/>
              </a:rPr>
              <a:t>D1</a:t>
            </a:r>
            <a:endParaRPr sz="1800" dirty="0">
              <a:latin typeface="Cambria"/>
              <a:cs typeface="Cambria"/>
            </a:endParaRPr>
          </a:p>
        </p:txBody>
      </p:sp>
      <p:sp>
        <p:nvSpPr>
          <p:cNvPr id="11" name="object 11"/>
          <p:cNvSpPr/>
          <p:nvPr/>
        </p:nvSpPr>
        <p:spPr>
          <a:xfrm>
            <a:off x="0" y="107156"/>
            <a:ext cx="191928" cy="4835843"/>
          </a:xfrm>
          <a:custGeom>
            <a:avLst/>
            <a:gdLst/>
            <a:ahLst/>
            <a:cxnLst/>
            <a:rect l="l" t="t" r="r" b="b"/>
            <a:pathLst>
              <a:path w="255904" h="6447790">
                <a:moveTo>
                  <a:pt x="255899" y="6447299"/>
                </a:moveTo>
                <a:lnTo>
                  <a:pt x="0" y="6447299"/>
                </a:lnTo>
                <a:lnTo>
                  <a:pt x="0" y="0"/>
                </a:lnTo>
                <a:lnTo>
                  <a:pt x="255899" y="0"/>
                </a:lnTo>
                <a:lnTo>
                  <a:pt x="255899" y="6447299"/>
                </a:lnTo>
                <a:close/>
              </a:path>
            </a:pathLst>
          </a:custGeom>
          <a:solidFill>
            <a:srgbClr val="A71901"/>
          </a:solidFill>
        </p:spPr>
        <p:txBody>
          <a:bodyPr wrap="square" lIns="0" tIns="0" rIns="0" bIns="0" rtlCol="0"/>
          <a:lstStyle/>
          <a:p>
            <a:endParaRPr sz="1050"/>
          </a:p>
        </p:txBody>
      </p:sp>
      <p:sp>
        <p:nvSpPr>
          <p:cNvPr id="12" name="object 12"/>
          <p:cNvSpPr txBox="1">
            <a:spLocks noGrp="1"/>
          </p:cNvSpPr>
          <p:nvPr>
            <p:ph type="sldNum" sz="quarter" idx="4294967295"/>
          </p:nvPr>
        </p:nvSpPr>
        <p:spPr>
          <a:xfrm>
            <a:off x="0" y="0"/>
            <a:ext cx="0" cy="346249"/>
          </a:xfrm>
          <a:prstGeom prst="rect">
            <a:avLst/>
          </a:prstGeom>
        </p:spPr>
        <p:txBody>
          <a:bodyPr vert="horz" wrap="square" lIns="0" tIns="0" rIns="0" bIns="0" rtlCol="0">
            <a:spAutoFit/>
          </a:bodyPr>
          <a:lstStyle/>
          <a:p>
            <a:pPr marL="53816">
              <a:lnSpc>
                <a:spcPts val="930"/>
              </a:lnSpc>
            </a:pPr>
            <a:fld id="{81D60167-4931-47E6-BA6A-407CBD079E47}" type="slidenum">
              <a:rPr spc="-19" dirty="0"/>
              <a:pPr marL="53816">
                <a:lnSpc>
                  <a:spcPts val="930"/>
                </a:lnSpc>
              </a:pPr>
              <a:t>10</a:t>
            </a:fld>
            <a:endParaRPr spc="-19" dirty="0"/>
          </a:p>
        </p:txBody>
      </p:sp>
    </p:spTree>
    <p:extLst>
      <p:ext uri="{BB962C8B-B14F-4D97-AF65-F5344CB8AC3E}">
        <p14:creationId xmlns:p14="http://schemas.microsoft.com/office/powerpoint/2010/main" val="2248678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hevron 9"/>
          <p:cNvSpPr/>
          <p:nvPr/>
        </p:nvSpPr>
        <p:spPr>
          <a:xfrm>
            <a:off x="164492" y="3468696"/>
            <a:ext cx="5316189" cy="709512"/>
          </a:xfrm>
          <a:prstGeom prst="chevron">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Chevron 8"/>
          <p:cNvSpPr/>
          <p:nvPr/>
        </p:nvSpPr>
        <p:spPr>
          <a:xfrm>
            <a:off x="164492" y="2747855"/>
            <a:ext cx="5316189" cy="662789"/>
          </a:xfrm>
          <a:prstGeom prst="chevron">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Chevron 6"/>
          <p:cNvSpPr/>
          <p:nvPr/>
        </p:nvSpPr>
        <p:spPr>
          <a:xfrm>
            <a:off x="172683" y="1971033"/>
            <a:ext cx="5316189" cy="702835"/>
          </a:xfrm>
          <a:prstGeom prst="chevron">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Chevron 4"/>
          <p:cNvSpPr/>
          <p:nvPr/>
        </p:nvSpPr>
        <p:spPr>
          <a:xfrm>
            <a:off x="133489" y="1281494"/>
            <a:ext cx="5316189" cy="647423"/>
          </a:xfrm>
          <a:prstGeom prst="chevron">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itle 1"/>
          <p:cNvSpPr>
            <a:spLocks noGrp="1"/>
          </p:cNvSpPr>
          <p:nvPr>
            <p:ph type="title"/>
          </p:nvPr>
        </p:nvSpPr>
        <p:spPr>
          <a:xfrm>
            <a:off x="311700" y="635841"/>
            <a:ext cx="8520600" cy="516254"/>
          </a:xfrm>
        </p:spPr>
        <p:txBody>
          <a:bodyPr>
            <a:normAutofit fontScale="90000"/>
          </a:bodyPr>
          <a:lstStyle/>
          <a:p>
            <a:r>
              <a:rPr lang="en-IN" dirty="0" smtClean="0"/>
              <a:t>AQM v3</a:t>
            </a:r>
            <a:endParaRPr lang="en-IN" dirty="0"/>
          </a:p>
        </p:txBody>
      </p:sp>
      <p:sp>
        <p:nvSpPr>
          <p:cNvPr id="3" name="Text Placeholder 2"/>
          <p:cNvSpPr>
            <a:spLocks noGrp="1"/>
          </p:cNvSpPr>
          <p:nvPr>
            <p:ph idx="1"/>
          </p:nvPr>
        </p:nvSpPr>
        <p:spPr>
          <a:xfrm>
            <a:off x="311700" y="1152475"/>
            <a:ext cx="4785739" cy="3416400"/>
          </a:xfrm>
        </p:spPr>
        <p:txBody>
          <a:bodyPr/>
          <a:lstStyle/>
          <a:p>
            <a:pPr lvl="0"/>
            <a:r>
              <a:rPr lang="en-IN" sz="1400" b="1" dirty="0">
                <a:solidFill>
                  <a:schemeClr val="tx1"/>
                </a:solidFill>
                <a:latin typeface="Calibri" panose="020F0502020204030204" pitchFamily="34" charset="0"/>
                <a:ea typeface="Calibri" panose="020F0502020204030204" pitchFamily="34" charset="0"/>
                <a:cs typeface="Calibri" panose="020F0502020204030204" pitchFamily="34" charset="0"/>
              </a:rPr>
              <a:t>Expanded Sensing:</a:t>
            </a:r>
            <a:r>
              <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rPr>
              <a:t> It now measures key pollutant gases </a:t>
            </a:r>
            <a:r>
              <a:rPr lang="en-IN"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PM</a:t>
            </a:r>
            <a:r>
              <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rPr>
              <a:t>₂.₅, PM</a:t>
            </a:r>
            <a:r>
              <a:rPr lang="en-IN"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₁₀ </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using high-precision laser dispersion </a:t>
            </a:r>
            <a:r>
              <a:rPr lang="en-US"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sensors </a:t>
            </a:r>
            <a:r>
              <a:rPr lang="en-IN"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and </a:t>
            </a:r>
            <a:r>
              <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rPr>
              <a:t>standard weather data</a:t>
            </a:r>
            <a:r>
              <a:rPr lang="en-IN"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a:t>
            </a:r>
          </a:p>
          <a:p>
            <a:pPr lvl="0"/>
            <a:r>
              <a:rPr lang="en-IN" sz="1400" b="1" dirty="0" smtClean="0">
                <a:solidFill>
                  <a:schemeClr val="tx1"/>
                </a:solidFill>
                <a:latin typeface="Calibri" panose="020F0502020204030204" pitchFamily="34" charset="0"/>
                <a:ea typeface="Calibri" panose="020F0502020204030204" pitchFamily="34" charset="0"/>
                <a:cs typeface="Calibri" panose="020F0502020204030204" pitchFamily="34" charset="0"/>
              </a:rPr>
              <a:t>Temperature Sensing: </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Utilizes </a:t>
            </a:r>
            <a:r>
              <a:rPr lang="en-US"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NTC thermistor </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provided by CMET for accurate and reliable temperature measurements</a:t>
            </a:r>
            <a:r>
              <a:rPr lang="en-US"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a:t>
            </a:r>
          </a:p>
          <a:p>
            <a:pPr lvl="0"/>
            <a:r>
              <a:rPr lang="en-IN" sz="1400" b="1" dirty="0" smtClean="0">
                <a:solidFill>
                  <a:schemeClr val="tx1"/>
                </a:solidFill>
                <a:latin typeface="Calibri" panose="020F0502020204030204" pitchFamily="34" charset="0"/>
                <a:ea typeface="Calibri" panose="020F0502020204030204" pitchFamily="34" charset="0"/>
                <a:cs typeface="Calibri" panose="020F0502020204030204" pitchFamily="34" charset="0"/>
              </a:rPr>
              <a:t>Constant Connection:</a:t>
            </a:r>
            <a:r>
              <a:rPr lang="en-IN"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We added a dual LoRa and cellular (GSM) system, so it has a backup connection to ensure no data is ever lost.</a:t>
            </a:r>
          </a:p>
          <a:p>
            <a:pPr lvl="0"/>
            <a:r>
              <a:rPr lang="en-IN" sz="1400" b="1" dirty="0" smtClean="0">
                <a:solidFill>
                  <a:schemeClr val="tx1"/>
                </a:solidFill>
                <a:latin typeface="Calibri" panose="020F0502020204030204" pitchFamily="34" charset="0"/>
                <a:ea typeface="Calibri" panose="020F0502020204030204" pitchFamily="34" charset="0"/>
                <a:cs typeface="Calibri" panose="020F0502020204030204" pitchFamily="34" charset="0"/>
              </a:rPr>
              <a:t>Rugged </a:t>
            </a:r>
            <a:r>
              <a:rPr lang="en-IN" sz="1400" b="1" dirty="0">
                <a:solidFill>
                  <a:schemeClr val="tx1"/>
                </a:solidFill>
                <a:latin typeface="Calibri" panose="020F0502020204030204" pitchFamily="34" charset="0"/>
                <a:ea typeface="Calibri" panose="020F0502020204030204" pitchFamily="34" charset="0"/>
                <a:cs typeface="Calibri" panose="020F0502020204030204" pitchFamily="34" charset="0"/>
              </a:rPr>
              <a:t>Build:</a:t>
            </a:r>
            <a:r>
              <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rPr>
              <a:t> The entire system is housed in a compact, IP65 weatherproof case with a 24+ hour battery to handle power cuts.</a:t>
            </a:r>
          </a:p>
          <a:p>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r="13878"/>
          <a:stretch/>
        </p:blipFill>
        <p:spPr>
          <a:xfrm>
            <a:off x="6193281" y="635841"/>
            <a:ext cx="1630581" cy="2298428"/>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3377" y="3063668"/>
            <a:ext cx="2639019" cy="1827347"/>
          </a:xfrm>
          <a:prstGeom prst="rect">
            <a:avLst/>
          </a:prstGeom>
        </p:spPr>
      </p:pic>
      <p:sp>
        <p:nvSpPr>
          <p:cNvPr id="6" name="Rectangle 5"/>
          <p:cNvSpPr/>
          <p:nvPr/>
        </p:nvSpPr>
        <p:spPr>
          <a:xfrm>
            <a:off x="311700" y="198665"/>
            <a:ext cx="3629840" cy="307777"/>
          </a:xfrm>
          <a:prstGeom prst="rect">
            <a:avLst/>
          </a:prstGeom>
        </p:spPr>
        <p:txBody>
          <a:bodyPr wrap="none">
            <a:spAutoFit/>
          </a:bodyPr>
          <a:lstStyle/>
          <a:p>
            <a:r>
              <a:rPr lang="en-US" spc="-20" dirty="0" smtClean="0">
                <a:solidFill>
                  <a:srgbClr val="A71901"/>
                </a:solidFill>
                <a:latin typeface="Cambria"/>
                <a:cs typeface="Cambria"/>
              </a:rPr>
              <a:t>Hardware</a:t>
            </a:r>
            <a:r>
              <a:rPr lang="en-US" spc="-75" dirty="0" smtClean="0">
                <a:solidFill>
                  <a:srgbClr val="A71901"/>
                </a:solidFill>
                <a:latin typeface="Cambria"/>
                <a:cs typeface="Cambria"/>
              </a:rPr>
              <a:t> </a:t>
            </a:r>
            <a:r>
              <a:rPr lang="en-US" dirty="0" smtClean="0">
                <a:solidFill>
                  <a:srgbClr val="A71901"/>
                </a:solidFill>
                <a:latin typeface="Cambria"/>
                <a:cs typeface="Cambria"/>
              </a:rPr>
              <a:t>Design</a:t>
            </a:r>
            <a:r>
              <a:rPr lang="en-US" spc="-70" dirty="0" smtClean="0">
                <a:solidFill>
                  <a:srgbClr val="A71901"/>
                </a:solidFill>
                <a:latin typeface="Cambria"/>
                <a:cs typeface="Cambria"/>
              </a:rPr>
              <a:t> </a:t>
            </a:r>
            <a:r>
              <a:rPr lang="en-US" dirty="0">
                <a:solidFill>
                  <a:srgbClr val="A71901"/>
                </a:solidFill>
                <a:latin typeface="Cambria"/>
                <a:cs typeface="Cambria"/>
              </a:rPr>
              <a:t>and</a:t>
            </a:r>
            <a:r>
              <a:rPr lang="en-US" spc="-75" dirty="0">
                <a:solidFill>
                  <a:srgbClr val="A71901"/>
                </a:solidFill>
                <a:latin typeface="Cambria"/>
                <a:cs typeface="Cambria"/>
              </a:rPr>
              <a:t> </a:t>
            </a:r>
            <a:r>
              <a:rPr lang="en-US" dirty="0">
                <a:solidFill>
                  <a:srgbClr val="A71901"/>
                </a:solidFill>
                <a:latin typeface="Cambria"/>
                <a:cs typeface="Cambria"/>
              </a:rPr>
              <a:t>Prototype</a:t>
            </a:r>
            <a:r>
              <a:rPr lang="en-US" spc="-70" dirty="0">
                <a:solidFill>
                  <a:srgbClr val="A71901"/>
                </a:solidFill>
                <a:latin typeface="Cambria"/>
                <a:cs typeface="Cambria"/>
              </a:rPr>
              <a:t> </a:t>
            </a:r>
            <a:r>
              <a:rPr lang="en-US" spc="-10" dirty="0">
                <a:solidFill>
                  <a:srgbClr val="A71901"/>
                </a:solidFill>
                <a:latin typeface="Cambria"/>
                <a:cs typeface="Cambria"/>
              </a:rPr>
              <a:t>development</a:t>
            </a:r>
            <a:endParaRPr lang="en-IN" dirty="0"/>
          </a:p>
        </p:txBody>
      </p:sp>
    </p:spTree>
    <p:extLst>
      <p:ext uri="{BB962C8B-B14F-4D97-AF65-F5344CB8AC3E}">
        <p14:creationId xmlns:p14="http://schemas.microsoft.com/office/powerpoint/2010/main" val="40117983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AWS v1 &amp; </a:t>
            </a:r>
            <a:r>
              <a:rPr lang="en-US" dirty="0" smtClean="0"/>
              <a:t>AWS v2</a:t>
            </a:r>
            <a:r>
              <a:rPr lang="en-US" dirty="0"/>
              <a:t>: Field-Ready Meteorological Stations</a:t>
            </a:r>
            <a:endParaRPr lang="en-IN" dirty="0"/>
          </a:p>
        </p:txBody>
      </p:sp>
      <p:sp>
        <p:nvSpPr>
          <p:cNvPr id="5" name="Round Diagonal Corner Rectangle 4"/>
          <p:cNvSpPr/>
          <p:nvPr/>
        </p:nvSpPr>
        <p:spPr>
          <a:xfrm>
            <a:off x="381000" y="1631950"/>
            <a:ext cx="4057650" cy="977900"/>
          </a:xfrm>
          <a:prstGeom prst="round2Diag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6" name="Round Diagonal Corner Rectangle 5"/>
          <p:cNvSpPr/>
          <p:nvPr/>
        </p:nvSpPr>
        <p:spPr>
          <a:xfrm>
            <a:off x="346350" y="3238500"/>
            <a:ext cx="4092300" cy="1181100"/>
          </a:xfrm>
          <a:prstGeom prst="round2Diag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 name="Rectangle 1"/>
          <p:cNvSpPr>
            <a:spLocks noGrp="1" noChangeArrowheads="1"/>
          </p:cNvSpPr>
          <p:nvPr>
            <p:ph idx="1"/>
          </p:nvPr>
        </p:nvSpPr>
        <p:spPr bwMode="auto">
          <a:xfrm>
            <a:off x="311700" y="1121738"/>
            <a:ext cx="412695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Comprehensive Sensing &amp; Data Integrity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Core Metrics:</a:t>
            </a:r>
            <a:r>
              <a:rPr kumimoji="0" lang="en-US" altLang="en-US" sz="1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Measures temperature, humidity, wind speed, wind direction, and rainfall.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Onboard Systems:</a:t>
            </a:r>
            <a:r>
              <a:rPr kumimoji="0" lang="en-US" altLang="en-US" sz="1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Features an RTC for precise timestamping, local storage for data redundancy, and an OLED display for on-site diagnostics.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Robust Design for Autonomous Operation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Dual Connectivity:</a:t>
            </a:r>
            <a:r>
              <a:rPr kumimoji="0" lang="en-US" altLang="en-US" sz="1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Equipped with both </a:t>
            </a:r>
            <a:r>
              <a:rPr kumimoji="0" lang="en-US" altLang="en-US" sz="12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LoRaWAN</a:t>
            </a:r>
            <a:r>
              <a:rPr kumimoji="0" lang="en-US" altLang="en-US" sz="1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GSM modules, featuring automatic network failover.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Uninterrupted Power:</a:t>
            </a:r>
            <a:r>
              <a:rPr kumimoji="0" lang="en-US" altLang="en-US" sz="1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Includes a high-capacity UPS backup supply for operational continuity.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All-Weather Durability:</a:t>
            </a:r>
            <a:r>
              <a:rPr kumimoji="0" lang="en-US" altLang="en-US" sz="1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Housed in a rugged, IP67-rated waterproof enclosure built to withstand monsoon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5700" y="1190429"/>
            <a:ext cx="1252685" cy="1670246"/>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371850"/>
            <a:ext cx="2842638" cy="76200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5700" y="3033379"/>
            <a:ext cx="1223963" cy="1631951"/>
          </a:xfrm>
          <a:prstGeom prst="rect">
            <a:avLst/>
          </a:prstGeom>
        </p:spPr>
      </p:pic>
      <p:graphicFrame>
        <p:nvGraphicFramePr>
          <p:cNvPr id="13" name="Diagram 12"/>
          <p:cNvGraphicFramePr/>
          <p:nvPr>
            <p:extLst>
              <p:ext uri="{D42A27DB-BD31-4B8C-83A1-F6EECF244321}">
                <p14:modId xmlns:p14="http://schemas.microsoft.com/office/powerpoint/2010/main" val="1775246173"/>
              </p:ext>
            </p:extLst>
          </p:nvPr>
        </p:nvGraphicFramePr>
        <p:xfrm>
          <a:off x="5645150" y="2609850"/>
          <a:ext cx="685800" cy="30777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2" name="Diagram 11"/>
          <p:cNvGraphicFramePr/>
          <p:nvPr>
            <p:extLst>
              <p:ext uri="{D42A27DB-BD31-4B8C-83A1-F6EECF244321}">
                <p14:modId xmlns:p14="http://schemas.microsoft.com/office/powerpoint/2010/main" val="1176619741"/>
              </p:ext>
            </p:extLst>
          </p:nvPr>
        </p:nvGraphicFramePr>
        <p:xfrm>
          <a:off x="5645150" y="4198074"/>
          <a:ext cx="755650" cy="30777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14" name="Picture 13"/>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356225" y="1411569"/>
            <a:ext cx="1231900" cy="1180227"/>
          </a:xfrm>
          <a:prstGeom prst="rect">
            <a:avLst/>
          </a:prstGeom>
        </p:spPr>
      </p:pic>
    </p:spTree>
    <p:extLst>
      <p:ext uri="{BB962C8B-B14F-4D97-AF65-F5344CB8AC3E}">
        <p14:creationId xmlns:p14="http://schemas.microsoft.com/office/powerpoint/2010/main" val="38904473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sldNum" sz="quarter" idx="12"/>
          </p:nvPr>
        </p:nvSpPr>
        <p:spPr>
          <a:xfrm>
            <a:off x="6457950" y="4767263"/>
            <a:ext cx="2057400" cy="273825"/>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 sz="1100"/>
              <a:t>13</a:t>
            </a:fld>
            <a:endParaRPr sz="1100"/>
          </a:p>
        </p:txBody>
      </p:sp>
      <p:sp>
        <p:nvSpPr>
          <p:cNvPr id="130" name="Google Shape;130;p25"/>
          <p:cNvSpPr/>
          <p:nvPr/>
        </p:nvSpPr>
        <p:spPr>
          <a:xfrm>
            <a:off x="0" y="107156"/>
            <a:ext cx="191925" cy="4835475"/>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31" name="Google Shape;131;p25"/>
          <p:cNvSpPr txBox="1"/>
          <p:nvPr/>
        </p:nvSpPr>
        <p:spPr>
          <a:xfrm>
            <a:off x="401335" y="107156"/>
            <a:ext cx="7647600" cy="400200"/>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1700"/>
              <a:buFont typeface="Arial"/>
              <a:buNone/>
            </a:pPr>
            <a:endParaRPr sz="1700" b="1" i="0" u="none" strike="noStrike" cap="none">
              <a:solidFill>
                <a:srgbClr val="A71901"/>
              </a:solidFill>
              <a:latin typeface="Cambria"/>
              <a:ea typeface="Cambria"/>
              <a:cs typeface="Cambria"/>
              <a:sym typeface="Cambria"/>
            </a:endParaRPr>
          </a:p>
        </p:txBody>
      </p:sp>
      <p:sp>
        <p:nvSpPr>
          <p:cNvPr id="132" name="Google Shape;132;p25"/>
          <p:cNvSpPr txBox="1"/>
          <p:nvPr/>
        </p:nvSpPr>
        <p:spPr>
          <a:xfrm>
            <a:off x="709650" y="202150"/>
            <a:ext cx="7944300" cy="1047969"/>
          </a:xfrm>
          <a:prstGeom prst="rect">
            <a:avLst/>
          </a:prstGeom>
          <a:noFill/>
          <a:ln>
            <a:noFill/>
          </a:ln>
        </p:spPr>
        <p:txBody>
          <a:bodyPr spcFirstLastPara="1" wrap="square" lIns="68575" tIns="68575" rIns="68575" bIns="68575" anchor="t" anchorCtr="0">
            <a:spAutoFit/>
          </a:bodyPr>
          <a:lstStyle/>
          <a:p>
            <a:pPr marL="0" lvl="0" indent="0" algn="ctr" rtl="0">
              <a:lnSpc>
                <a:spcPct val="115000"/>
              </a:lnSpc>
              <a:spcBef>
                <a:spcPts val="1200"/>
              </a:spcBef>
              <a:spcAft>
                <a:spcPts val="1200"/>
              </a:spcAft>
              <a:buClr>
                <a:schemeClr val="dk1"/>
              </a:buClr>
              <a:buSzPts val="1100"/>
              <a:buFont typeface="Arial"/>
              <a:buNone/>
            </a:pPr>
            <a:r>
              <a:rPr lang="en-US" sz="1700" b="1" u="sng" dirty="0" smtClean="0">
                <a:solidFill>
                  <a:srgbClr val="065381"/>
                </a:solidFill>
                <a:latin typeface="Times New Roman" panose="02020603050405020304" pitchFamily="18" charset="0"/>
                <a:cs typeface="Times New Roman" panose="02020603050405020304" pitchFamily="18" charset="0"/>
              </a:rPr>
              <a:t>PREDICTING WATER LEVELS 6 HOURS AHEAD USING DEEP LEARNING FOR NEELESWARAM, KERALA</a:t>
            </a:r>
            <a:endParaRPr lang="en-US" sz="1700" b="1" u="sng" dirty="0">
              <a:solidFill>
                <a:srgbClr val="065381"/>
              </a:solidFill>
              <a:latin typeface="Times New Roman" panose="02020603050405020304" pitchFamily="18" charset="0"/>
              <a:cs typeface="Times New Roman" panose="02020603050405020304" pitchFamily="18" charset="0"/>
            </a:endParaRPr>
          </a:p>
        </p:txBody>
      </p:sp>
      <p:sp>
        <p:nvSpPr>
          <p:cNvPr id="133" name="Google Shape;133;p25"/>
          <p:cNvSpPr txBox="1"/>
          <p:nvPr/>
        </p:nvSpPr>
        <p:spPr>
          <a:xfrm>
            <a:off x="1517831" y="4736625"/>
            <a:ext cx="5682150" cy="328050"/>
          </a:xfrm>
          <a:prstGeom prst="rect">
            <a:avLst/>
          </a:prstGeom>
          <a:no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mbria"/>
              <a:ea typeface="Cambria"/>
              <a:cs typeface="Cambria"/>
              <a:sym typeface="Cambria"/>
            </a:endParaRPr>
          </a:p>
        </p:txBody>
      </p:sp>
      <p:sp>
        <p:nvSpPr>
          <p:cNvPr id="134" name="Google Shape;134;p25"/>
          <p:cNvSpPr txBox="1"/>
          <p:nvPr/>
        </p:nvSpPr>
        <p:spPr>
          <a:xfrm>
            <a:off x="826650" y="707997"/>
            <a:ext cx="3000000" cy="976391"/>
          </a:xfrm>
          <a:prstGeom prst="rect">
            <a:avLst/>
          </a:prstGeom>
          <a:noFill/>
          <a:ln>
            <a:noFill/>
          </a:ln>
        </p:spPr>
        <p:txBody>
          <a:bodyPr spcFirstLastPara="1" wrap="square" lIns="91425" tIns="91425" rIns="91425" bIns="91425" anchor="t" anchorCtr="0">
            <a:spAutoFit/>
          </a:bodyPr>
          <a:lstStyle/>
          <a:p>
            <a:pPr marL="0" lvl="0" indent="0" rtl="0">
              <a:lnSpc>
                <a:spcPct val="115000"/>
              </a:lnSpc>
              <a:spcBef>
                <a:spcPts val="2400"/>
              </a:spcBef>
              <a:spcAft>
                <a:spcPts val="600"/>
              </a:spcAft>
              <a:buNone/>
            </a:pPr>
            <a:r>
              <a:rPr lang="en" sz="2300" b="1" u="sng" dirty="0">
                <a:solidFill>
                  <a:srgbClr val="990000"/>
                </a:solidFill>
                <a:latin typeface="Times New Roman" panose="02020603050405020304" pitchFamily="18" charset="0"/>
                <a:cs typeface="Times New Roman" panose="02020603050405020304" pitchFamily="18" charset="0"/>
              </a:rPr>
              <a:t>The </a:t>
            </a:r>
            <a:r>
              <a:rPr lang="en" sz="2300" b="1" u="sng" dirty="0" smtClean="0">
                <a:solidFill>
                  <a:srgbClr val="990000"/>
                </a:solidFill>
                <a:latin typeface="Times New Roman" panose="02020603050405020304" pitchFamily="18" charset="0"/>
                <a:cs typeface="Times New Roman" panose="02020603050405020304" pitchFamily="18" charset="0"/>
              </a:rPr>
              <a:t>Challenges</a:t>
            </a:r>
            <a:endParaRPr sz="2300" b="1" u="sng" dirty="0">
              <a:solidFill>
                <a:srgbClr val="990000"/>
              </a:solidFill>
              <a:latin typeface="Times New Roman" panose="02020603050405020304" pitchFamily="18" charset="0"/>
              <a:cs typeface="Times New Roman" panose="02020603050405020304" pitchFamily="18" charset="0"/>
            </a:endParaRPr>
          </a:p>
        </p:txBody>
      </p:sp>
      <p:sp>
        <p:nvSpPr>
          <p:cNvPr id="135" name="Google Shape;135;p25"/>
          <p:cNvSpPr/>
          <p:nvPr/>
        </p:nvSpPr>
        <p:spPr>
          <a:xfrm>
            <a:off x="872400" y="1707812"/>
            <a:ext cx="2908500" cy="1463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500" b="1" dirty="0">
                <a:solidFill>
                  <a:srgbClr val="274E13"/>
                </a:solidFill>
                <a:latin typeface="Times New Roman"/>
                <a:ea typeface="Times New Roman"/>
                <a:cs typeface="Times New Roman"/>
                <a:sym typeface="Times New Roman"/>
              </a:rPr>
              <a:t>6-Hour Prediction</a:t>
            </a:r>
            <a:endParaRPr sz="1500" b="1" dirty="0">
              <a:solidFill>
                <a:srgbClr val="274E13"/>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 dirty="0">
                <a:solidFill>
                  <a:schemeClr val="dk1"/>
                </a:solidFill>
                <a:latin typeface="Times New Roman"/>
                <a:ea typeface="Times New Roman"/>
                <a:cs typeface="Times New Roman"/>
                <a:sym typeface="Times New Roman"/>
              </a:rPr>
              <a:t>Accurate river level forecasting up to 6 hours in advance for flood prevention</a:t>
            </a:r>
            <a:endParaRPr dirty="0">
              <a:solidFill>
                <a:schemeClr val="dk1"/>
              </a:solidFill>
              <a:latin typeface="Times New Roman"/>
              <a:ea typeface="Times New Roman"/>
              <a:cs typeface="Times New Roman"/>
              <a:sym typeface="Times New Roman"/>
            </a:endParaRPr>
          </a:p>
        </p:txBody>
      </p:sp>
      <p:sp>
        <p:nvSpPr>
          <p:cNvPr id="136" name="Google Shape;136;p25"/>
          <p:cNvSpPr/>
          <p:nvPr/>
        </p:nvSpPr>
        <p:spPr>
          <a:xfrm>
            <a:off x="4798372" y="1691619"/>
            <a:ext cx="3042900" cy="1508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500" b="1" dirty="0">
                <a:solidFill>
                  <a:srgbClr val="274E13"/>
                </a:solidFill>
              </a:rPr>
              <a:t>Multi-Source Data</a:t>
            </a:r>
            <a:endParaRPr sz="1500" b="1" dirty="0">
              <a:solidFill>
                <a:srgbClr val="274E13"/>
              </a:solidFill>
            </a:endParaRPr>
          </a:p>
          <a:p>
            <a:pPr marL="0" lvl="0" indent="0" algn="l" rtl="0">
              <a:lnSpc>
                <a:spcPct val="115000"/>
              </a:lnSpc>
              <a:spcBef>
                <a:spcPts val="1200"/>
              </a:spcBef>
              <a:spcAft>
                <a:spcPts val="1200"/>
              </a:spcAft>
              <a:buClr>
                <a:schemeClr val="dk1"/>
              </a:buClr>
              <a:buSzPts val="1100"/>
              <a:buFont typeface="Arial"/>
              <a:buNone/>
            </a:pPr>
            <a:r>
              <a:rPr lang="en" dirty="0">
                <a:solidFill>
                  <a:schemeClr val="dk1"/>
                </a:solidFill>
              </a:rPr>
              <a:t>Integrating dam operations, rainfall patterns, and historical river measurements</a:t>
            </a:r>
            <a:endParaRPr dirty="0">
              <a:solidFill>
                <a:schemeClr val="dk1"/>
              </a:solidFill>
            </a:endParaRPr>
          </a:p>
        </p:txBody>
      </p:sp>
      <p:sp>
        <p:nvSpPr>
          <p:cNvPr id="137" name="Google Shape;137;p25"/>
          <p:cNvSpPr/>
          <p:nvPr/>
        </p:nvSpPr>
        <p:spPr>
          <a:xfrm>
            <a:off x="1686356" y="3464456"/>
            <a:ext cx="5345100" cy="837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500" b="1" dirty="0">
                <a:solidFill>
                  <a:srgbClr val="274E13"/>
                </a:solidFill>
                <a:latin typeface="Times New Roman"/>
                <a:ea typeface="Times New Roman"/>
                <a:cs typeface="Times New Roman"/>
                <a:sym typeface="Times New Roman"/>
              </a:rPr>
              <a:t>Real-Time Operation</a:t>
            </a:r>
            <a:endParaRPr sz="1500" b="1" dirty="0">
              <a:solidFill>
                <a:srgbClr val="274E13"/>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 dirty="0">
                <a:solidFill>
                  <a:schemeClr val="dk1"/>
                </a:solidFill>
                <a:latin typeface="Times New Roman"/>
                <a:ea typeface="Times New Roman"/>
                <a:cs typeface="Times New Roman"/>
                <a:sym typeface="Times New Roman"/>
              </a:rPr>
              <a:t>Continuous data updates and instant predictions for emergency response</a:t>
            </a:r>
            <a:endParaRPr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sldNum" sz="quarter" idx="12"/>
          </p:nvPr>
        </p:nvSpPr>
        <p:spPr>
          <a:xfrm>
            <a:off x="6457950" y="4767263"/>
            <a:ext cx="2057400" cy="273825"/>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 sz="1100"/>
              <a:t>14</a:t>
            </a:fld>
            <a:endParaRPr sz="1100"/>
          </a:p>
        </p:txBody>
      </p:sp>
      <p:sp>
        <p:nvSpPr>
          <p:cNvPr id="143" name="Google Shape;143;p26"/>
          <p:cNvSpPr/>
          <p:nvPr/>
        </p:nvSpPr>
        <p:spPr>
          <a:xfrm>
            <a:off x="0" y="107156"/>
            <a:ext cx="191925" cy="4835475"/>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44" name="Google Shape;144;p26"/>
          <p:cNvSpPr txBox="1"/>
          <p:nvPr/>
        </p:nvSpPr>
        <p:spPr>
          <a:xfrm>
            <a:off x="487133" y="-103512"/>
            <a:ext cx="7647600" cy="976500"/>
          </a:xfrm>
          <a:prstGeom prst="rect">
            <a:avLst/>
          </a:prstGeom>
          <a:noFill/>
          <a:ln>
            <a:noFill/>
          </a:ln>
        </p:spPr>
        <p:txBody>
          <a:bodyPr spcFirstLastPara="1" wrap="square" lIns="68575" tIns="68575" rIns="68575" bIns="68575" anchor="t" anchorCtr="0">
            <a:spAutoFit/>
          </a:bodyPr>
          <a:lstStyle/>
          <a:p>
            <a:pPr marL="0" lvl="0" indent="0" algn="l" rtl="0">
              <a:lnSpc>
                <a:spcPct val="115000"/>
              </a:lnSpc>
              <a:spcBef>
                <a:spcPts val="2400"/>
              </a:spcBef>
              <a:spcAft>
                <a:spcPts val="0"/>
              </a:spcAft>
              <a:buClr>
                <a:schemeClr val="dk1"/>
              </a:buClr>
              <a:buSzPts val="1100"/>
              <a:buFont typeface="Arial"/>
              <a:buNone/>
            </a:pPr>
            <a:r>
              <a:rPr lang="en" sz="2300" b="1" dirty="0">
                <a:solidFill>
                  <a:srgbClr val="A71901"/>
                </a:solidFill>
              </a:rPr>
              <a:t>Why LSTM Networks?</a:t>
            </a:r>
            <a:endParaRPr sz="2300" b="1" dirty="0">
              <a:solidFill>
                <a:srgbClr val="A71901"/>
              </a:solidFill>
            </a:endParaRPr>
          </a:p>
          <a:p>
            <a:pPr marL="0" marR="0" lvl="0" indent="0" algn="l" rtl="0">
              <a:lnSpc>
                <a:spcPct val="100000"/>
              </a:lnSpc>
              <a:spcBef>
                <a:spcPts val="600"/>
              </a:spcBef>
              <a:spcAft>
                <a:spcPts val="0"/>
              </a:spcAft>
              <a:buClr>
                <a:srgbClr val="000000"/>
              </a:buClr>
              <a:buSzPts val="2400"/>
              <a:buFont typeface="Arial"/>
              <a:buNone/>
            </a:pPr>
            <a:endParaRPr sz="2300" b="1" dirty="0">
              <a:solidFill>
                <a:srgbClr val="A71901"/>
              </a:solidFill>
              <a:latin typeface="Cambria"/>
              <a:ea typeface="Cambria"/>
              <a:cs typeface="Cambria"/>
              <a:sym typeface="Cambria"/>
            </a:endParaRPr>
          </a:p>
        </p:txBody>
      </p:sp>
      <p:sp>
        <p:nvSpPr>
          <p:cNvPr id="145" name="Google Shape;145;p26"/>
          <p:cNvSpPr/>
          <p:nvPr/>
        </p:nvSpPr>
        <p:spPr>
          <a:xfrm>
            <a:off x="588900" y="890525"/>
            <a:ext cx="3483000" cy="87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endParaRPr sz="11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b="1" dirty="0">
                <a:solidFill>
                  <a:schemeClr val="dk1"/>
                </a:solidFill>
                <a:latin typeface="Times New Roman"/>
                <a:ea typeface="Times New Roman"/>
                <a:cs typeface="Times New Roman"/>
                <a:sym typeface="Times New Roman"/>
              </a:rPr>
              <a:t>Long-Term Memory:</a:t>
            </a:r>
            <a:r>
              <a:rPr lang="en" sz="1200" dirty="0">
                <a:solidFill>
                  <a:schemeClr val="dk1"/>
                </a:solidFill>
                <a:latin typeface="Times New Roman"/>
                <a:ea typeface="Times New Roman"/>
                <a:cs typeface="Times New Roman"/>
                <a:sym typeface="Times New Roman"/>
              </a:rPr>
              <a:t>Captures complex temporal dependencies in water flow patterns over extended periods</a:t>
            </a:r>
            <a:endParaRPr sz="1200" dirty="0">
              <a:solidFill>
                <a:schemeClr val="dk1"/>
              </a:solidFill>
              <a:latin typeface="Times New Roman"/>
              <a:ea typeface="Times New Roman"/>
              <a:cs typeface="Times New Roman"/>
              <a:sym typeface="Times New Roman"/>
            </a:endParaRPr>
          </a:p>
          <a:p>
            <a:pPr marL="0" lvl="0" indent="0" algn="ctr" rtl="0">
              <a:spcBef>
                <a:spcPts val="200"/>
              </a:spcBef>
              <a:spcAft>
                <a:spcPts val="0"/>
              </a:spcAft>
              <a:buNone/>
            </a:pPr>
            <a:endParaRPr dirty="0">
              <a:latin typeface="Calibri"/>
              <a:ea typeface="Calibri"/>
              <a:cs typeface="Calibri"/>
              <a:sym typeface="Calibri"/>
            </a:endParaRPr>
          </a:p>
        </p:txBody>
      </p:sp>
      <p:sp>
        <p:nvSpPr>
          <p:cNvPr id="146" name="Google Shape;146;p26"/>
          <p:cNvSpPr/>
          <p:nvPr/>
        </p:nvSpPr>
        <p:spPr>
          <a:xfrm>
            <a:off x="566400" y="2865475"/>
            <a:ext cx="3528000" cy="71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200"/>
              </a:spcAft>
              <a:buClr>
                <a:schemeClr val="dk1"/>
              </a:buClr>
              <a:buSzPts val="1100"/>
              <a:buFont typeface="Arial"/>
              <a:buNone/>
            </a:pPr>
            <a:r>
              <a:rPr lang="en" sz="1200" b="1">
                <a:solidFill>
                  <a:schemeClr val="dk1"/>
                </a:solidFill>
                <a:latin typeface="Times New Roman"/>
                <a:ea typeface="Times New Roman"/>
                <a:cs typeface="Times New Roman"/>
                <a:sym typeface="Times New Roman"/>
              </a:rPr>
              <a:t>Sequence Prediction:</a:t>
            </a:r>
            <a:r>
              <a:rPr lang="en" sz="1200">
                <a:solidFill>
                  <a:schemeClr val="dk1"/>
                </a:solidFill>
                <a:latin typeface="Times New Roman"/>
                <a:ea typeface="Times New Roman"/>
                <a:cs typeface="Times New Roman"/>
                <a:sym typeface="Times New Roman"/>
              </a:rPr>
              <a:t>Excels at forecasting future values based on historical sequences</a:t>
            </a:r>
            <a:endParaRPr sz="1200">
              <a:solidFill>
                <a:schemeClr val="dk1"/>
              </a:solidFill>
              <a:latin typeface="Times New Roman"/>
              <a:ea typeface="Times New Roman"/>
              <a:cs typeface="Times New Roman"/>
              <a:sym typeface="Times New Roman"/>
            </a:endParaRPr>
          </a:p>
        </p:txBody>
      </p:sp>
      <p:sp>
        <p:nvSpPr>
          <p:cNvPr id="147" name="Google Shape;147;p26"/>
          <p:cNvSpPr/>
          <p:nvPr/>
        </p:nvSpPr>
        <p:spPr>
          <a:xfrm>
            <a:off x="611250" y="1882350"/>
            <a:ext cx="3483000" cy="749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200"/>
              </a:spcAft>
              <a:buClr>
                <a:schemeClr val="dk1"/>
              </a:buClr>
              <a:buSzPts val="1100"/>
              <a:buFont typeface="Arial"/>
              <a:buNone/>
            </a:pPr>
            <a:r>
              <a:rPr lang="en" sz="1200" b="1">
                <a:solidFill>
                  <a:schemeClr val="dk1"/>
                </a:solidFill>
                <a:latin typeface="Times New Roman"/>
                <a:ea typeface="Times New Roman"/>
                <a:cs typeface="Times New Roman"/>
                <a:sym typeface="Times New Roman"/>
              </a:rPr>
              <a:t>Multi-Variable Input:</a:t>
            </a:r>
            <a:r>
              <a:rPr lang="en" sz="1200">
                <a:solidFill>
                  <a:schemeClr val="dk1"/>
                </a:solidFill>
                <a:latin typeface="Times New Roman"/>
                <a:ea typeface="Times New Roman"/>
                <a:cs typeface="Times New Roman"/>
                <a:sym typeface="Times New Roman"/>
              </a:rPr>
              <a:t>Processes multiple data streams simultaneously for comprehensive analysis</a:t>
            </a:r>
            <a:endParaRPr sz="1200">
              <a:solidFill>
                <a:schemeClr val="dk1"/>
              </a:solidFill>
              <a:latin typeface="Times New Roman"/>
              <a:ea typeface="Times New Roman"/>
              <a:cs typeface="Times New Roman"/>
              <a:sym typeface="Times New Roman"/>
            </a:endParaRPr>
          </a:p>
        </p:txBody>
      </p:sp>
      <p:sp>
        <p:nvSpPr>
          <p:cNvPr id="148" name="Google Shape;148;p26"/>
          <p:cNvSpPr/>
          <p:nvPr/>
        </p:nvSpPr>
        <p:spPr>
          <a:xfrm>
            <a:off x="566400" y="3809000"/>
            <a:ext cx="3483000" cy="749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200"/>
              </a:spcAft>
              <a:buClr>
                <a:schemeClr val="dk1"/>
              </a:buClr>
              <a:buSzPts val="1100"/>
              <a:buFont typeface="Arial"/>
              <a:buNone/>
            </a:pPr>
            <a:r>
              <a:rPr lang="en" sz="1200" b="1">
                <a:solidFill>
                  <a:schemeClr val="dk1"/>
                </a:solidFill>
                <a:latin typeface="Times New Roman"/>
                <a:ea typeface="Times New Roman"/>
                <a:cs typeface="Times New Roman"/>
                <a:sym typeface="Times New Roman"/>
              </a:rPr>
              <a:t>Real-Time Ready:</a:t>
            </a:r>
            <a:r>
              <a:rPr lang="en" sz="1200">
                <a:solidFill>
                  <a:schemeClr val="dk1"/>
                </a:solidFill>
                <a:latin typeface="Times New Roman"/>
                <a:ea typeface="Times New Roman"/>
                <a:cs typeface="Times New Roman"/>
                <a:sym typeface="Times New Roman"/>
              </a:rPr>
              <a:t>Optimized for continuous operation with streaming data updates</a:t>
            </a:r>
            <a:endParaRPr sz="1200">
              <a:solidFill>
                <a:schemeClr val="dk1"/>
              </a:solidFill>
              <a:latin typeface="Times New Roman"/>
              <a:ea typeface="Times New Roman"/>
              <a:cs typeface="Times New Roman"/>
              <a:sym typeface="Times New Roman"/>
            </a:endParaRPr>
          </a:p>
        </p:txBody>
      </p:sp>
      <p:sp>
        <p:nvSpPr>
          <p:cNvPr id="149" name="Google Shape;149;p26"/>
          <p:cNvSpPr txBox="1"/>
          <p:nvPr/>
        </p:nvSpPr>
        <p:spPr>
          <a:xfrm>
            <a:off x="4885125" y="-137612"/>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r>
              <a:rPr lang="en" sz="2300" b="1" dirty="0">
                <a:solidFill>
                  <a:srgbClr val="A71901"/>
                </a:solidFill>
              </a:rPr>
              <a:t>Data Sources &amp; Architecture</a:t>
            </a:r>
            <a:endParaRPr sz="2300" b="1" dirty="0">
              <a:solidFill>
                <a:srgbClr val="A71901"/>
              </a:solidFill>
            </a:endParaRPr>
          </a:p>
        </p:txBody>
      </p:sp>
      <p:sp>
        <p:nvSpPr>
          <p:cNvPr id="150" name="Google Shape;150;p26"/>
          <p:cNvSpPr txBox="1"/>
          <p:nvPr/>
        </p:nvSpPr>
        <p:spPr>
          <a:xfrm>
            <a:off x="5170425" y="890525"/>
            <a:ext cx="36453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151" name="Google Shape;151;p26"/>
          <p:cNvSpPr/>
          <p:nvPr/>
        </p:nvSpPr>
        <p:spPr>
          <a:xfrm>
            <a:off x="5226825" y="768250"/>
            <a:ext cx="3719700" cy="87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200" b="1" dirty="0">
                <a:solidFill>
                  <a:schemeClr val="dk1"/>
                </a:solidFill>
                <a:latin typeface="Times New Roman"/>
                <a:ea typeface="Times New Roman"/>
                <a:cs typeface="Times New Roman"/>
                <a:sym typeface="Times New Roman"/>
              </a:rPr>
              <a:t>Dam Operations</a:t>
            </a:r>
            <a:endParaRPr sz="1200" b="1"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 sz="1200" dirty="0">
                <a:solidFill>
                  <a:schemeClr val="dk1"/>
                </a:solidFill>
                <a:latin typeface="Times New Roman"/>
                <a:ea typeface="Times New Roman"/>
                <a:cs typeface="Times New Roman"/>
                <a:sym typeface="Times New Roman"/>
              </a:rPr>
              <a:t>Water levels and release rates from upstream dam facilities</a:t>
            </a:r>
            <a:endParaRPr sz="1500" dirty="0">
              <a:latin typeface="Times New Roman"/>
              <a:ea typeface="Times New Roman"/>
              <a:cs typeface="Times New Roman"/>
              <a:sym typeface="Times New Roman"/>
            </a:endParaRPr>
          </a:p>
        </p:txBody>
      </p:sp>
      <p:sp>
        <p:nvSpPr>
          <p:cNvPr id="152" name="Google Shape;152;p26"/>
          <p:cNvSpPr/>
          <p:nvPr/>
        </p:nvSpPr>
        <p:spPr>
          <a:xfrm>
            <a:off x="5238825" y="1761125"/>
            <a:ext cx="3719700" cy="821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200" b="1">
                <a:solidFill>
                  <a:schemeClr val="dk1"/>
                </a:solidFill>
                <a:latin typeface="Times New Roman"/>
                <a:ea typeface="Times New Roman"/>
                <a:cs typeface="Times New Roman"/>
                <a:sym typeface="Times New Roman"/>
              </a:rPr>
              <a:t>Rainfall Data</a:t>
            </a:r>
            <a:endParaRPr sz="12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Precipitation measurements from upstream weather stations</a:t>
            </a:r>
            <a:endParaRPr sz="1200">
              <a:solidFill>
                <a:schemeClr val="dk1"/>
              </a:solidFill>
              <a:latin typeface="Times New Roman"/>
              <a:ea typeface="Times New Roman"/>
              <a:cs typeface="Times New Roman"/>
              <a:sym typeface="Times New Roman"/>
            </a:endParaRPr>
          </a:p>
        </p:txBody>
      </p:sp>
      <p:sp>
        <p:nvSpPr>
          <p:cNvPr id="153" name="Google Shape;153;p26"/>
          <p:cNvSpPr/>
          <p:nvPr/>
        </p:nvSpPr>
        <p:spPr>
          <a:xfrm>
            <a:off x="5238825" y="2698575"/>
            <a:ext cx="3645300" cy="821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200" b="1" dirty="0">
                <a:solidFill>
                  <a:schemeClr val="dk1"/>
                </a:solidFill>
                <a:latin typeface="Times New Roman"/>
                <a:ea typeface="Times New Roman"/>
                <a:cs typeface="Times New Roman"/>
                <a:sym typeface="Times New Roman"/>
              </a:rPr>
              <a:t>River Levels</a:t>
            </a:r>
            <a:endParaRPr sz="1200" b="1"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 sz="1200" dirty="0">
                <a:solidFill>
                  <a:schemeClr val="dk1"/>
                </a:solidFill>
                <a:latin typeface="Times New Roman"/>
                <a:ea typeface="Times New Roman"/>
                <a:cs typeface="Times New Roman"/>
                <a:sym typeface="Times New Roman"/>
              </a:rPr>
              <a:t>Historical water level measurements from Neeleswaram monitoring station</a:t>
            </a:r>
            <a:endParaRPr sz="1200" dirty="0">
              <a:solidFill>
                <a:schemeClr val="dk1"/>
              </a:solidFill>
              <a:latin typeface="Times New Roman"/>
              <a:ea typeface="Times New Roman"/>
              <a:cs typeface="Times New Roman"/>
              <a:sym typeface="Times New Roman"/>
            </a:endParaRPr>
          </a:p>
        </p:txBody>
      </p:sp>
      <p:sp>
        <p:nvSpPr>
          <p:cNvPr id="154" name="Google Shape;154;p26"/>
          <p:cNvSpPr/>
          <p:nvPr/>
        </p:nvSpPr>
        <p:spPr>
          <a:xfrm>
            <a:off x="5220700" y="3764725"/>
            <a:ext cx="3663300" cy="870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200" b="1">
                <a:solidFill>
                  <a:schemeClr val="dk1"/>
                </a:solidFill>
                <a:latin typeface="Times New Roman"/>
                <a:ea typeface="Times New Roman"/>
                <a:cs typeface="Times New Roman"/>
                <a:sym typeface="Times New Roman"/>
              </a:rPr>
              <a:t>Temporal Patterns</a:t>
            </a:r>
            <a:endParaRPr sz="12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Seasonal, daily, and hourly patterns for comprehensive forecasting</a:t>
            </a:r>
            <a:endParaRPr sz="12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7"/>
          <p:cNvSpPr txBox="1">
            <a:spLocks noGrp="1"/>
          </p:cNvSpPr>
          <p:nvPr>
            <p:ph type="sldNum" sz="quarter" idx="12"/>
          </p:nvPr>
        </p:nvSpPr>
        <p:spPr>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 sz="1100"/>
              <a:t>15</a:t>
            </a:fld>
            <a:endParaRPr sz="1100"/>
          </a:p>
        </p:txBody>
      </p:sp>
      <p:sp>
        <p:nvSpPr>
          <p:cNvPr id="160" name="Google Shape;160;p27"/>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61" name="Google Shape;161;p27"/>
          <p:cNvSpPr txBox="1"/>
          <p:nvPr/>
        </p:nvSpPr>
        <p:spPr>
          <a:xfrm>
            <a:off x="360319" y="107138"/>
            <a:ext cx="7647600" cy="492600"/>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300" b="1">
              <a:solidFill>
                <a:srgbClr val="A71901"/>
              </a:solidFill>
              <a:latin typeface="Cambria"/>
              <a:ea typeface="Cambria"/>
              <a:cs typeface="Cambria"/>
              <a:sym typeface="Cambria"/>
            </a:endParaRPr>
          </a:p>
        </p:txBody>
      </p:sp>
      <p:sp>
        <p:nvSpPr>
          <p:cNvPr id="162" name="Google Shape;162;p27"/>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r>
              <a:rPr lang="en" sz="2300" b="1">
                <a:solidFill>
                  <a:schemeClr val="dk1"/>
                </a:solidFill>
              </a:rPr>
              <a:t>LSTM Network Architecture</a:t>
            </a:r>
            <a:endParaRPr sz="2300" b="1">
              <a:solidFill>
                <a:srgbClr val="A71901"/>
              </a:solidFill>
            </a:endParaRPr>
          </a:p>
        </p:txBody>
      </p:sp>
      <p:sp>
        <p:nvSpPr>
          <p:cNvPr id="163" name="Google Shape;163;p27"/>
          <p:cNvSpPr txBox="1"/>
          <p:nvPr/>
        </p:nvSpPr>
        <p:spPr>
          <a:xfrm>
            <a:off x="5170425" y="890525"/>
            <a:ext cx="36453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164" name="Google Shape;164;p27"/>
          <p:cNvSpPr txBox="1"/>
          <p:nvPr/>
        </p:nvSpPr>
        <p:spPr>
          <a:xfrm>
            <a:off x="727100" y="107150"/>
            <a:ext cx="42645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r>
              <a:rPr lang="en" sz="2300" b="1">
                <a:solidFill>
                  <a:srgbClr val="A71901"/>
                </a:solidFill>
              </a:rPr>
              <a:t>Data Quality Pipeline</a:t>
            </a:r>
            <a:endParaRPr sz="2300" b="1">
              <a:solidFill>
                <a:srgbClr val="A71901"/>
              </a:solidFill>
            </a:endParaRPr>
          </a:p>
        </p:txBody>
      </p:sp>
      <p:sp>
        <p:nvSpPr>
          <p:cNvPr id="165" name="Google Shape;165;p27"/>
          <p:cNvSpPr/>
          <p:nvPr/>
        </p:nvSpPr>
        <p:spPr>
          <a:xfrm>
            <a:off x="646700" y="978425"/>
            <a:ext cx="888600" cy="4299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6" name="Google Shape;166;p27"/>
          <p:cNvSpPr/>
          <p:nvPr/>
        </p:nvSpPr>
        <p:spPr>
          <a:xfrm>
            <a:off x="646700" y="1875725"/>
            <a:ext cx="888600" cy="4299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7" name="Google Shape;167;p27"/>
          <p:cNvSpPr/>
          <p:nvPr/>
        </p:nvSpPr>
        <p:spPr>
          <a:xfrm>
            <a:off x="575300" y="2841500"/>
            <a:ext cx="888600" cy="4299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8" name="Google Shape;168;p27"/>
          <p:cNvSpPr/>
          <p:nvPr/>
        </p:nvSpPr>
        <p:spPr>
          <a:xfrm>
            <a:off x="575300" y="3807275"/>
            <a:ext cx="888600" cy="4299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9" name="Google Shape;169;p27"/>
          <p:cNvSpPr txBox="1"/>
          <p:nvPr/>
        </p:nvSpPr>
        <p:spPr>
          <a:xfrm>
            <a:off x="2394825" y="978425"/>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170" name="Google Shape;170;p27"/>
          <p:cNvSpPr txBox="1"/>
          <p:nvPr/>
        </p:nvSpPr>
        <p:spPr>
          <a:xfrm>
            <a:off x="834775" y="1898425"/>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171" name="Google Shape;171;p27"/>
          <p:cNvSpPr txBox="1"/>
          <p:nvPr/>
        </p:nvSpPr>
        <p:spPr>
          <a:xfrm>
            <a:off x="1777300" y="2852850"/>
            <a:ext cx="30987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172" name="Google Shape;172;p27"/>
          <p:cNvSpPr txBox="1"/>
          <p:nvPr/>
        </p:nvSpPr>
        <p:spPr>
          <a:xfrm>
            <a:off x="1736925" y="3845225"/>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173" name="Google Shape;173;p27"/>
          <p:cNvSpPr/>
          <p:nvPr/>
        </p:nvSpPr>
        <p:spPr>
          <a:xfrm>
            <a:off x="1687575" y="893163"/>
            <a:ext cx="3098700" cy="789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Raw Data Ingestion</a:t>
            </a:r>
            <a:endParaRPr sz="1100" b="1">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sz="1100">
                <a:solidFill>
                  <a:schemeClr val="dk1"/>
                </a:solidFill>
              </a:rPr>
              <a:t>Multi-source data collection from sensors and monitoring stations</a:t>
            </a:r>
            <a:endParaRPr>
              <a:latin typeface="Calibri"/>
              <a:ea typeface="Calibri"/>
              <a:cs typeface="Calibri"/>
              <a:sym typeface="Calibri"/>
            </a:endParaRPr>
          </a:p>
        </p:txBody>
      </p:sp>
      <p:sp>
        <p:nvSpPr>
          <p:cNvPr id="174" name="Google Shape;174;p27"/>
          <p:cNvSpPr txBox="1"/>
          <p:nvPr/>
        </p:nvSpPr>
        <p:spPr>
          <a:xfrm>
            <a:off x="5907625" y="177870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175" name="Google Shape;175;p27"/>
          <p:cNvSpPr/>
          <p:nvPr/>
        </p:nvSpPr>
        <p:spPr>
          <a:xfrm>
            <a:off x="1687575" y="1976500"/>
            <a:ext cx="3098700" cy="701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Quality Checks</a:t>
            </a:r>
            <a:endParaRPr sz="1100" b="1">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sz="1100">
                <a:solidFill>
                  <a:schemeClr val="dk1"/>
                </a:solidFill>
              </a:rPr>
              <a:t>Missing value imputation and outlier detection algorithms</a:t>
            </a:r>
            <a:endParaRPr>
              <a:latin typeface="Calibri"/>
              <a:ea typeface="Calibri"/>
              <a:cs typeface="Calibri"/>
              <a:sym typeface="Calibri"/>
            </a:endParaRPr>
          </a:p>
        </p:txBody>
      </p:sp>
      <p:sp>
        <p:nvSpPr>
          <p:cNvPr id="176" name="Google Shape;176;p27"/>
          <p:cNvSpPr/>
          <p:nvPr/>
        </p:nvSpPr>
        <p:spPr>
          <a:xfrm>
            <a:off x="1656675" y="2866750"/>
            <a:ext cx="3160500" cy="789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100" b="1" dirty="0">
                <a:solidFill>
                  <a:schemeClr val="dk1"/>
                </a:solidFill>
              </a:rPr>
              <a:t>Feature Engineering</a:t>
            </a:r>
            <a:endParaRPr sz="1100" b="1" dirty="0">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sz="1100" dirty="0">
                <a:solidFill>
                  <a:schemeClr val="dk1"/>
                </a:solidFill>
              </a:rPr>
              <a:t>Temporal alignment and transformation for model input</a:t>
            </a:r>
            <a:endParaRPr dirty="0">
              <a:latin typeface="Calibri"/>
              <a:ea typeface="Calibri"/>
              <a:cs typeface="Calibri"/>
              <a:sym typeface="Calibri"/>
            </a:endParaRPr>
          </a:p>
        </p:txBody>
      </p:sp>
      <p:sp>
        <p:nvSpPr>
          <p:cNvPr id="177" name="Google Shape;177;p27"/>
          <p:cNvSpPr txBox="1"/>
          <p:nvPr/>
        </p:nvSpPr>
        <p:spPr>
          <a:xfrm>
            <a:off x="6514900" y="827700"/>
            <a:ext cx="27138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solidFill>
                  <a:schemeClr val="dk1"/>
                </a:solidFill>
                <a:latin typeface="Times New Roman"/>
                <a:ea typeface="Times New Roman"/>
                <a:cs typeface="Times New Roman"/>
                <a:sym typeface="Times New Roman"/>
              </a:rPr>
              <a:t>Input Layer</a:t>
            </a: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solidFill>
                  <a:schemeClr val="dk1"/>
                </a:solidFill>
                <a:latin typeface="Times New Roman"/>
                <a:ea typeface="Times New Roman"/>
                <a:cs typeface="Times New Roman"/>
                <a:sym typeface="Times New Roman"/>
              </a:rPr>
              <a:t>24-hour sequences of multivariate time series data</a:t>
            </a:r>
            <a:endParaRPr sz="1000">
              <a:solidFill>
                <a:schemeClr val="dk1"/>
              </a:solidFill>
            </a:endParaRPr>
          </a:p>
        </p:txBody>
      </p:sp>
      <p:sp>
        <p:nvSpPr>
          <p:cNvPr id="178" name="Google Shape;178;p27"/>
          <p:cNvSpPr/>
          <p:nvPr/>
        </p:nvSpPr>
        <p:spPr>
          <a:xfrm>
            <a:off x="1712175" y="3807275"/>
            <a:ext cx="3049500" cy="789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Prediction Ready</a:t>
            </a:r>
            <a:endParaRPr sz="1100" b="1">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sz="1100">
                <a:solidFill>
                  <a:schemeClr val="dk1"/>
                </a:solidFill>
              </a:rPr>
              <a:t>Processed data fed into LSTM network for forecasting</a:t>
            </a:r>
            <a:endParaRPr>
              <a:latin typeface="Calibri"/>
              <a:ea typeface="Calibri"/>
              <a:cs typeface="Calibri"/>
              <a:sym typeface="Calibri"/>
            </a:endParaRPr>
          </a:p>
        </p:txBody>
      </p:sp>
      <p:sp>
        <p:nvSpPr>
          <p:cNvPr id="179" name="Google Shape;179;p27"/>
          <p:cNvSpPr/>
          <p:nvPr/>
        </p:nvSpPr>
        <p:spPr>
          <a:xfrm>
            <a:off x="5099425" y="947025"/>
            <a:ext cx="1247700" cy="682200"/>
          </a:xfrm>
          <a:prstGeom prst="homePlate">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80" name="Google Shape;180;p27"/>
          <p:cNvSpPr/>
          <p:nvPr/>
        </p:nvSpPr>
        <p:spPr>
          <a:xfrm>
            <a:off x="5099425" y="1930300"/>
            <a:ext cx="1247700" cy="682200"/>
          </a:xfrm>
          <a:prstGeom prst="homePlate">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81" name="Google Shape;181;p27"/>
          <p:cNvSpPr/>
          <p:nvPr/>
        </p:nvSpPr>
        <p:spPr>
          <a:xfrm>
            <a:off x="5099425" y="3035500"/>
            <a:ext cx="1247700" cy="682200"/>
          </a:xfrm>
          <a:prstGeom prst="homePlate">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82" name="Google Shape;182;p27"/>
          <p:cNvSpPr/>
          <p:nvPr/>
        </p:nvSpPr>
        <p:spPr>
          <a:xfrm>
            <a:off x="5099425" y="4022700"/>
            <a:ext cx="1247700" cy="682200"/>
          </a:xfrm>
          <a:prstGeom prst="homePlate">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83" name="Google Shape;183;p27"/>
          <p:cNvSpPr/>
          <p:nvPr/>
        </p:nvSpPr>
        <p:spPr>
          <a:xfrm>
            <a:off x="5207150" y="1111125"/>
            <a:ext cx="341100" cy="354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sp>
        <p:nvSpPr>
          <p:cNvPr id="184" name="Google Shape;184;p27"/>
          <p:cNvSpPr/>
          <p:nvPr/>
        </p:nvSpPr>
        <p:spPr>
          <a:xfrm>
            <a:off x="5176400" y="2155363"/>
            <a:ext cx="341100" cy="354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sp>
        <p:nvSpPr>
          <p:cNvPr id="185" name="Google Shape;185;p27"/>
          <p:cNvSpPr/>
          <p:nvPr/>
        </p:nvSpPr>
        <p:spPr>
          <a:xfrm>
            <a:off x="5176400" y="3210375"/>
            <a:ext cx="341100" cy="354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sp>
        <p:nvSpPr>
          <p:cNvPr id="186" name="Google Shape;186;p27"/>
          <p:cNvSpPr/>
          <p:nvPr/>
        </p:nvSpPr>
        <p:spPr>
          <a:xfrm>
            <a:off x="5207150" y="4186800"/>
            <a:ext cx="341100" cy="354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187" name="Google Shape;187;p27"/>
          <p:cNvSpPr txBox="1"/>
          <p:nvPr/>
        </p:nvSpPr>
        <p:spPr>
          <a:xfrm>
            <a:off x="6562600" y="1807523"/>
            <a:ext cx="2581500" cy="104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dirty="0">
                <a:solidFill>
                  <a:schemeClr val="dk1"/>
                </a:solidFill>
                <a:latin typeface="Times New Roman"/>
                <a:ea typeface="Times New Roman"/>
                <a:cs typeface="Times New Roman"/>
                <a:sym typeface="Times New Roman"/>
              </a:rPr>
              <a:t>LSTM Stack</a:t>
            </a:r>
            <a:endParaRPr b="1"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dirty="0">
                <a:solidFill>
                  <a:schemeClr val="dk1"/>
                </a:solidFill>
                <a:latin typeface="Times New Roman"/>
                <a:ea typeface="Times New Roman"/>
                <a:cs typeface="Times New Roman"/>
                <a:sym typeface="Times New Roman"/>
              </a:rPr>
              <a:t>3 stacked layers: 128→64→32 units with memory cells</a:t>
            </a:r>
            <a:endParaRPr dirty="0"/>
          </a:p>
        </p:txBody>
      </p:sp>
      <p:sp>
        <p:nvSpPr>
          <p:cNvPr id="188" name="Google Shape;188;p27"/>
          <p:cNvSpPr txBox="1"/>
          <p:nvPr/>
        </p:nvSpPr>
        <p:spPr>
          <a:xfrm>
            <a:off x="6570550" y="2950488"/>
            <a:ext cx="25815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solidFill>
                  <a:schemeClr val="dk1"/>
                </a:solidFill>
                <a:latin typeface="Times New Roman"/>
                <a:ea typeface="Times New Roman"/>
                <a:cs typeface="Times New Roman"/>
                <a:sym typeface="Times New Roman"/>
              </a:rPr>
              <a:t>Dense Layers</a:t>
            </a: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solidFill>
                  <a:schemeClr val="dk1"/>
                </a:solidFill>
                <a:latin typeface="Times New Roman"/>
                <a:ea typeface="Times New Roman"/>
                <a:cs typeface="Times New Roman"/>
                <a:sym typeface="Times New Roman"/>
              </a:rPr>
              <a:t>Fully connected layers with dropout regularization</a:t>
            </a:r>
            <a:endParaRPr/>
          </a:p>
        </p:txBody>
      </p:sp>
      <p:sp>
        <p:nvSpPr>
          <p:cNvPr id="189" name="Google Shape;189;p27"/>
          <p:cNvSpPr txBox="1"/>
          <p:nvPr/>
        </p:nvSpPr>
        <p:spPr>
          <a:xfrm>
            <a:off x="6606650" y="4042775"/>
            <a:ext cx="3000000" cy="76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a:solidFill>
                  <a:schemeClr val="dk1"/>
                </a:solidFill>
              </a:rPr>
              <a:t>O</a:t>
            </a:r>
            <a:r>
              <a:rPr lang="en" sz="1300" b="1">
                <a:solidFill>
                  <a:schemeClr val="dk1"/>
                </a:solidFill>
                <a:latin typeface="Times New Roman"/>
                <a:ea typeface="Times New Roman"/>
                <a:cs typeface="Times New Roman"/>
                <a:sym typeface="Times New Roman"/>
              </a:rPr>
              <a:t>utput</a:t>
            </a: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solidFill>
                  <a:schemeClr val="dk1"/>
                </a:solidFill>
                <a:latin typeface="Times New Roman"/>
                <a:ea typeface="Times New Roman"/>
                <a:cs typeface="Times New Roman"/>
                <a:sym typeface="Times New Roman"/>
              </a:rPr>
              <a:t>6-hour ahead river level predictions</a:t>
            </a:r>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8"/>
          <p:cNvSpPr txBox="1">
            <a:spLocks noGrp="1"/>
          </p:cNvSpPr>
          <p:nvPr>
            <p:ph type="sldNum" sz="quarter" idx="12"/>
          </p:nvPr>
        </p:nvSpPr>
        <p:spPr>
          <a:xfrm>
            <a:off x="4876000" y="474931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 sz="1100"/>
              <a:t>16</a:t>
            </a:fld>
            <a:endParaRPr sz="1100"/>
          </a:p>
        </p:txBody>
      </p:sp>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6" name="Google Shape;196;p28"/>
          <p:cNvSpPr txBox="1"/>
          <p:nvPr/>
        </p:nvSpPr>
        <p:spPr>
          <a:xfrm>
            <a:off x="360319" y="107138"/>
            <a:ext cx="7647600" cy="492600"/>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300" b="1">
              <a:solidFill>
                <a:srgbClr val="A71901"/>
              </a:solidFill>
              <a:latin typeface="Cambria"/>
              <a:ea typeface="Cambria"/>
              <a:cs typeface="Cambria"/>
              <a:sym typeface="Cambria"/>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sp>
        <p:nvSpPr>
          <p:cNvPr id="198" name="Google Shape;198;p28"/>
          <p:cNvSpPr txBox="1"/>
          <p:nvPr/>
        </p:nvSpPr>
        <p:spPr>
          <a:xfrm>
            <a:off x="5170425" y="890525"/>
            <a:ext cx="36453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199" name="Google Shape;199;p28"/>
          <p:cNvSpPr txBox="1"/>
          <p:nvPr/>
        </p:nvSpPr>
        <p:spPr>
          <a:xfrm>
            <a:off x="834825" y="161575"/>
            <a:ext cx="39144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r>
              <a:rPr lang="en" sz="2300" b="1" dirty="0">
                <a:solidFill>
                  <a:srgbClr val="A71901"/>
                </a:solidFill>
              </a:rPr>
              <a:t>Training Configuration</a:t>
            </a:r>
            <a:endParaRPr sz="2300" b="1" dirty="0">
              <a:solidFill>
                <a:srgbClr val="A71901"/>
              </a:solidFill>
            </a:endParaRPr>
          </a:p>
        </p:txBody>
      </p:sp>
      <p:sp>
        <p:nvSpPr>
          <p:cNvPr id="200" name="Google Shape;200;p28"/>
          <p:cNvSpPr txBox="1"/>
          <p:nvPr/>
        </p:nvSpPr>
        <p:spPr>
          <a:xfrm>
            <a:off x="655275" y="890525"/>
            <a:ext cx="3000000" cy="2272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solidFill>
                  <a:srgbClr val="274E13"/>
                </a:solidFill>
                <a:latin typeface="Times New Roman"/>
                <a:ea typeface="Times New Roman"/>
                <a:cs typeface="Times New Roman"/>
                <a:sym typeface="Times New Roman"/>
              </a:rPr>
              <a:t>Optimization Strategy</a:t>
            </a:r>
            <a:endParaRPr sz="1300" b="1">
              <a:solidFill>
                <a:srgbClr val="274E13"/>
              </a:solidFill>
              <a:latin typeface="Times New Roman"/>
              <a:ea typeface="Times New Roman"/>
              <a:cs typeface="Times New Roman"/>
              <a:sym typeface="Times New Roman"/>
            </a:endParaRPr>
          </a:p>
          <a:p>
            <a:pPr marL="457200" lvl="0" indent="-311150" algn="l" rtl="0">
              <a:lnSpc>
                <a:spcPct val="115000"/>
              </a:lnSpc>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Adam optimizer with 0.001 learning rate</a:t>
            </a:r>
            <a:endParaRPr sz="1300">
              <a:solidFill>
                <a:schemeClr val="dk1"/>
              </a:solidFill>
              <a:latin typeface="Times New Roman"/>
              <a:ea typeface="Times New Roman"/>
              <a:cs typeface="Times New Roman"/>
              <a:sym typeface="Times New Roman"/>
            </a:endParaRPr>
          </a:p>
          <a:p>
            <a:pPr marL="457200" lvl="0" indent="-311150" algn="l" rtl="0">
              <a:lnSpc>
                <a:spcPct val="115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Adaptive learning rate scheduling</a:t>
            </a:r>
            <a:endParaRPr sz="1300">
              <a:solidFill>
                <a:schemeClr val="dk1"/>
              </a:solidFill>
              <a:latin typeface="Times New Roman"/>
              <a:ea typeface="Times New Roman"/>
              <a:cs typeface="Times New Roman"/>
              <a:sym typeface="Times New Roman"/>
            </a:endParaRPr>
          </a:p>
          <a:p>
            <a:pPr marL="457200" lvl="0" indent="-311150" algn="l" rtl="0">
              <a:lnSpc>
                <a:spcPct val="115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Early stopping to prevent overtraining</a:t>
            </a:r>
            <a:endParaRPr sz="1300">
              <a:solidFill>
                <a:schemeClr val="dk1"/>
              </a:solidFill>
              <a:latin typeface="Times New Roman"/>
              <a:ea typeface="Times New Roman"/>
              <a:cs typeface="Times New Roman"/>
              <a:sym typeface="Times New Roman"/>
            </a:endParaRPr>
          </a:p>
          <a:p>
            <a:pPr marL="457200" lvl="0" indent="-311150" algn="l" rtl="0">
              <a:lnSpc>
                <a:spcPct val="115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Dropout layers for regularization</a:t>
            </a: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1100">
              <a:solidFill>
                <a:schemeClr val="dk1"/>
              </a:solidFill>
            </a:endParaRPr>
          </a:p>
        </p:txBody>
      </p:sp>
      <p:sp>
        <p:nvSpPr>
          <p:cNvPr id="201" name="Google Shape;201;p28"/>
          <p:cNvSpPr txBox="1"/>
          <p:nvPr/>
        </p:nvSpPr>
        <p:spPr>
          <a:xfrm>
            <a:off x="691200" y="3232175"/>
            <a:ext cx="3000000" cy="1229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solidFill>
                  <a:srgbClr val="274E13"/>
                </a:solidFill>
                <a:latin typeface="Times New Roman"/>
                <a:ea typeface="Times New Roman"/>
                <a:cs typeface="Times New Roman"/>
                <a:sym typeface="Times New Roman"/>
              </a:rPr>
              <a:t>Data Split</a:t>
            </a:r>
            <a:endParaRPr sz="1300" b="1">
              <a:solidFill>
                <a:srgbClr val="274E13"/>
              </a:solidFill>
              <a:latin typeface="Times New Roman"/>
              <a:ea typeface="Times New Roman"/>
              <a:cs typeface="Times New Roman"/>
              <a:sym typeface="Times New Roman"/>
            </a:endParaRPr>
          </a:p>
          <a:p>
            <a:pPr marL="457200" lvl="0" indent="-311150" algn="l" rtl="0">
              <a:lnSpc>
                <a:spcPct val="115000"/>
              </a:lnSpc>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Training: 60% of historical data</a:t>
            </a:r>
            <a:endParaRPr sz="1300">
              <a:solidFill>
                <a:schemeClr val="dk1"/>
              </a:solidFill>
              <a:latin typeface="Times New Roman"/>
              <a:ea typeface="Times New Roman"/>
              <a:cs typeface="Times New Roman"/>
              <a:sym typeface="Times New Roman"/>
            </a:endParaRPr>
          </a:p>
          <a:p>
            <a:pPr marL="457200" lvl="0" indent="-311150" algn="l" rtl="0">
              <a:lnSpc>
                <a:spcPct val="115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Validation: 20% for model tuning</a:t>
            </a:r>
            <a:endParaRPr sz="1300">
              <a:solidFill>
                <a:schemeClr val="dk1"/>
              </a:solidFill>
              <a:latin typeface="Times New Roman"/>
              <a:ea typeface="Times New Roman"/>
              <a:cs typeface="Times New Roman"/>
              <a:sym typeface="Times New Roman"/>
            </a:endParaRPr>
          </a:p>
          <a:p>
            <a:pPr marL="457200" lvl="0" indent="-311150" algn="l" rtl="0">
              <a:lnSpc>
                <a:spcPct val="115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Testing: 20% for final evaluation</a:t>
            </a:r>
            <a:endParaRPr sz="1300">
              <a:solidFill>
                <a:schemeClr val="dk1"/>
              </a:solidFill>
              <a:latin typeface="Times New Roman"/>
              <a:ea typeface="Times New Roman"/>
              <a:cs typeface="Times New Roman"/>
              <a:sym typeface="Times New Roman"/>
            </a:endParaRPr>
          </a:p>
        </p:txBody>
      </p:sp>
      <p:sp>
        <p:nvSpPr>
          <p:cNvPr id="202" name="Google Shape;202;p28"/>
          <p:cNvSpPr txBox="1"/>
          <p:nvPr/>
        </p:nvSpPr>
        <p:spPr>
          <a:xfrm>
            <a:off x="5493075" y="1193850"/>
            <a:ext cx="3000000" cy="1051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a:solidFill>
                  <a:schemeClr val="dk1"/>
                </a:solidFill>
              </a:rPr>
              <a:t>100</a:t>
            </a:r>
            <a:endParaRPr sz="1100" b="1">
              <a:solidFill>
                <a:schemeClr val="dk1"/>
              </a:solidFill>
            </a:endParaRPr>
          </a:p>
          <a:p>
            <a:pPr marL="0" lvl="0" indent="0" algn="l" rtl="0">
              <a:lnSpc>
                <a:spcPct val="115000"/>
              </a:lnSpc>
              <a:spcBef>
                <a:spcPts val="1200"/>
              </a:spcBef>
              <a:spcAft>
                <a:spcPts val="0"/>
              </a:spcAft>
              <a:buNone/>
            </a:pPr>
            <a:r>
              <a:rPr lang="en" sz="1100" b="1">
                <a:solidFill>
                  <a:schemeClr val="dk1"/>
                </a:solidFill>
              </a:rPr>
              <a:t>Max Epochs</a:t>
            </a:r>
            <a:endParaRPr sz="1100" b="1">
              <a:solidFill>
                <a:schemeClr val="dk1"/>
              </a:solidFill>
            </a:endParaRPr>
          </a:p>
          <a:p>
            <a:pPr marL="0" lvl="0" indent="0" algn="l" rtl="0">
              <a:lnSpc>
                <a:spcPct val="115000"/>
              </a:lnSpc>
              <a:spcBef>
                <a:spcPts val="1200"/>
              </a:spcBef>
              <a:spcAft>
                <a:spcPts val="1200"/>
              </a:spcAft>
              <a:buNone/>
            </a:pPr>
            <a:r>
              <a:rPr lang="en" sz="1100">
                <a:solidFill>
                  <a:schemeClr val="dk1"/>
                </a:solidFill>
              </a:rPr>
              <a:t>With early stopping</a:t>
            </a:r>
            <a:endParaRPr sz="1100">
              <a:solidFill>
                <a:schemeClr val="dk1"/>
              </a:solidFill>
            </a:endParaRPr>
          </a:p>
        </p:txBody>
      </p:sp>
      <p:sp>
        <p:nvSpPr>
          <p:cNvPr id="203" name="Google Shape;203;p28"/>
          <p:cNvSpPr/>
          <p:nvPr/>
        </p:nvSpPr>
        <p:spPr>
          <a:xfrm>
            <a:off x="5449525" y="700375"/>
            <a:ext cx="1885200" cy="21594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 sz="2300" b="1">
                <a:solidFill>
                  <a:schemeClr val="dk1"/>
                </a:solidFill>
              </a:rPr>
              <a:t>      100</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          </a:t>
            </a:r>
            <a:r>
              <a:rPr lang="en" b="1">
                <a:solidFill>
                  <a:schemeClr val="dk1"/>
                </a:solidFill>
                <a:latin typeface="Times New Roman"/>
                <a:ea typeface="Times New Roman"/>
                <a:cs typeface="Times New Roman"/>
                <a:sym typeface="Times New Roman"/>
              </a:rPr>
              <a:t>Max Epochs</a:t>
            </a:r>
            <a:endParaRPr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
                <a:solidFill>
                  <a:schemeClr val="dk1"/>
                </a:solidFill>
                <a:latin typeface="Times New Roman"/>
                <a:ea typeface="Times New Roman"/>
                <a:cs typeface="Times New Roman"/>
                <a:sym typeface="Times New Roman"/>
              </a:rPr>
              <a:t>      With early stopping</a:t>
            </a:r>
            <a:endParaRPr>
              <a:solidFill>
                <a:schemeClr val="dk1"/>
              </a:solidFill>
              <a:latin typeface="Times New Roman"/>
              <a:ea typeface="Times New Roman"/>
              <a:cs typeface="Times New Roman"/>
              <a:sym typeface="Times New Roman"/>
            </a:endParaRPr>
          </a:p>
        </p:txBody>
      </p:sp>
      <p:sp>
        <p:nvSpPr>
          <p:cNvPr id="204" name="Google Shape;204;p28"/>
          <p:cNvSpPr txBox="1"/>
          <p:nvPr/>
        </p:nvSpPr>
        <p:spPr>
          <a:xfrm>
            <a:off x="152400" y="15240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100">
              <a:solidFill>
                <a:schemeClr val="dk1"/>
              </a:solidFill>
            </a:endParaRPr>
          </a:p>
        </p:txBody>
      </p:sp>
      <p:sp>
        <p:nvSpPr>
          <p:cNvPr id="205" name="Google Shape;205;p28"/>
          <p:cNvSpPr txBox="1"/>
          <p:nvPr/>
        </p:nvSpPr>
        <p:spPr>
          <a:xfrm>
            <a:off x="2998125" y="291420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a:p>
        </p:txBody>
      </p:sp>
      <p:sp>
        <p:nvSpPr>
          <p:cNvPr id="206" name="Google Shape;206;p28"/>
          <p:cNvSpPr/>
          <p:nvPr/>
        </p:nvSpPr>
        <p:spPr>
          <a:xfrm>
            <a:off x="5493075" y="3089750"/>
            <a:ext cx="1885200" cy="18528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 sz="1100" b="1">
                <a:solidFill>
                  <a:schemeClr val="dk1"/>
                </a:solidFill>
              </a:rPr>
              <a:t>          </a:t>
            </a:r>
            <a:r>
              <a:rPr lang="en" sz="2200" b="1">
                <a:solidFill>
                  <a:schemeClr val="dk1"/>
                </a:solidFill>
                <a:latin typeface="Times New Roman"/>
                <a:ea typeface="Times New Roman"/>
                <a:cs typeface="Times New Roman"/>
                <a:sym typeface="Times New Roman"/>
              </a:rPr>
              <a:t> </a:t>
            </a:r>
            <a:endParaRPr sz="22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2400" b="1">
                <a:solidFill>
                  <a:schemeClr val="dk1"/>
                </a:solidFill>
                <a:latin typeface="Times New Roman"/>
                <a:ea typeface="Times New Roman"/>
                <a:cs typeface="Times New Roman"/>
                <a:sym typeface="Times New Roman"/>
              </a:rPr>
              <a:t>       32</a:t>
            </a:r>
            <a:endParaRPr sz="24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300" b="1">
                <a:solidFill>
                  <a:schemeClr val="dk1"/>
                </a:solidFill>
                <a:latin typeface="Times New Roman"/>
                <a:ea typeface="Times New Roman"/>
                <a:cs typeface="Times New Roman"/>
                <a:sym typeface="Times New Roman"/>
              </a:rPr>
              <a:t>          Batch Size</a:t>
            </a: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700" b="1">
                <a:solidFill>
                  <a:schemeClr val="dk1"/>
                </a:solidFill>
                <a:latin typeface="Times New Roman"/>
                <a:ea typeface="Times New Roman"/>
                <a:cs typeface="Times New Roman"/>
                <a:sym typeface="Times New Roman"/>
              </a:rPr>
              <a:t>Training samples</a:t>
            </a:r>
            <a:endParaRPr sz="17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5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C00000"/>
                </a:solidFill>
              </a:rPr>
              <a:t>Results</a:t>
            </a:r>
            <a:br>
              <a:rPr lang="en-IN" dirty="0" smtClean="0">
                <a:solidFill>
                  <a:srgbClr val="C00000"/>
                </a:solidFill>
              </a:rPr>
            </a:br>
            <a:r>
              <a:rPr lang="en-IN" dirty="0">
                <a:solidFill>
                  <a:srgbClr val="C00000"/>
                </a:solidFill>
              </a:rPr>
              <a:t/>
            </a:r>
            <a:br>
              <a:rPr lang="en-IN" dirty="0">
                <a:solidFill>
                  <a:srgbClr val="C00000"/>
                </a:solidFill>
              </a:rPr>
            </a:br>
            <a:endParaRPr lang="en-IN" dirty="0">
              <a:solidFill>
                <a:srgbClr val="C00000"/>
              </a:solidFill>
            </a:endParaRPr>
          </a:p>
        </p:txBody>
      </p:sp>
      <p:pic>
        <p:nvPicPr>
          <p:cNvPr id="6" name="Content Placeholder 5"/>
          <p:cNvPicPr>
            <a:picLocks noGrp="1" noChangeAspect="1"/>
          </p:cNvPicPr>
          <p:nvPr>
            <p:ph idx="1"/>
          </p:nvPr>
        </p:nvPicPr>
        <p:blipFill>
          <a:blip r:embed="rId2"/>
          <a:stretch>
            <a:fillRect/>
          </a:stretch>
        </p:blipFill>
        <p:spPr>
          <a:xfrm>
            <a:off x="3466542" y="3386677"/>
            <a:ext cx="2412765" cy="1756823"/>
          </a:xfrm>
          <a:prstGeom prst="rect">
            <a:avLst/>
          </a:prstGeom>
        </p:spPr>
      </p:pic>
      <p:sp>
        <p:nvSpPr>
          <p:cNvPr id="11" name="Oval 10"/>
          <p:cNvSpPr/>
          <p:nvPr/>
        </p:nvSpPr>
        <p:spPr>
          <a:xfrm>
            <a:off x="978693" y="1212534"/>
            <a:ext cx="1500187" cy="20879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latin typeface="Times New Roman" panose="02020603050405020304" pitchFamily="18" charset="0"/>
                <a:cs typeface="Times New Roman" panose="02020603050405020304" pitchFamily="18" charset="0"/>
              </a:rPr>
              <a:t>MAE(</a:t>
            </a:r>
            <a:r>
              <a:rPr lang="en-IN" dirty="0">
                <a:solidFill>
                  <a:schemeClr val="tx1"/>
                </a:solidFill>
                <a:latin typeface="Times New Roman" panose="02020603050405020304" pitchFamily="18" charset="0"/>
                <a:cs typeface="Times New Roman" panose="02020603050405020304" pitchFamily="18" charset="0"/>
              </a:rPr>
              <a:t>Mean Absolute </a:t>
            </a:r>
            <a:r>
              <a:rPr lang="en-IN" dirty="0" smtClean="0">
                <a:solidFill>
                  <a:schemeClr val="tx1"/>
                </a:solidFill>
                <a:latin typeface="Times New Roman" panose="02020603050405020304" pitchFamily="18" charset="0"/>
                <a:cs typeface="Times New Roman" panose="02020603050405020304" pitchFamily="18" charset="0"/>
              </a:rPr>
              <a:t>Error)</a:t>
            </a:r>
          </a:p>
          <a:p>
            <a:pPr algn="ctr"/>
            <a:r>
              <a:rPr lang="en-IN" dirty="0" smtClean="0">
                <a:solidFill>
                  <a:schemeClr val="tx1"/>
                </a:solidFill>
                <a:latin typeface="Times New Roman" panose="02020603050405020304" pitchFamily="18" charset="0"/>
                <a:cs typeface="Times New Roman" panose="02020603050405020304" pitchFamily="18" charset="0"/>
              </a:rPr>
              <a:t>0.09</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2" name="Oval 11"/>
          <p:cNvSpPr/>
          <p:nvPr/>
        </p:nvSpPr>
        <p:spPr>
          <a:xfrm>
            <a:off x="3625452" y="1298765"/>
            <a:ext cx="1428750" cy="20016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latin typeface="Times New Roman" panose="02020603050405020304" pitchFamily="18" charset="0"/>
                <a:cs typeface="Times New Roman" panose="02020603050405020304" pitchFamily="18" charset="0"/>
              </a:rPr>
              <a:t>RMSE</a:t>
            </a:r>
          </a:p>
          <a:p>
            <a:pPr algn="ctr"/>
            <a:r>
              <a:rPr lang="en-IN" i="1" dirty="0" smtClean="0">
                <a:solidFill>
                  <a:schemeClr val="tx1"/>
                </a:solidFill>
                <a:latin typeface="Times New Roman" panose="02020603050405020304" pitchFamily="18" charset="0"/>
                <a:cs typeface="Times New Roman" panose="02020603050405020304" pitchFamily="18" charset="0"/>
              </a:rPr>
              <a:t>(Root </a:t>
            </a:r>
            <a:r>
              <a:rPr lang="en-IN" i="1" dirty="0">
                <a:solidFill>
                  <a:schemeClr val="tx1"/>
                </a:solidFill>
                <a:latin typeface="Times New Roman" panose="02020603050405020304" pitchFamily="18" charset="0"/>
                <a:cs typeface="Times New Roman" panose="02020603050405020304" pitchFamily="18" charset="0"/>
              </a:rPr>
              <a:t>Mean Square </a:t>
            </a:r>
            <a:r>
              <a:rPr lang="en-IN" i="1" dirty="0" smtClean="0">
                <a:solidFill>
                  <a:schemeClr val="tx1"/>
                </a:solidFill>
                <a:latin typeface="Times New Roman" panose="02020603050405020304" pitchFamily="18" charset="0"/>
                <a:cs typeface="Times New Roman" panose="02020603050405020304" pitchFamily="18" charset="0"/>
              </a:rPr>
              <a:t>Error)</a:t>
            </a: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smtClean="0">
                <a:solidFill>
                  <a:schemeClr val="tx1"/>
                </a:solidFill>
                <a:latin typeface="Times New Roman" panose="02020603050405020304" pitchFamily="18" charset="0"/>
                <a:cs typeface="Times New Roman" panose="02020603050405020304" pitchFamily="18" charset="0"/>
              </a:rPr>
              <a:t> 0.3</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3" name="Oval 12"/>
          <p:cNvSpPr/>
          <p:nvPr/>
        </p:nvSpPr>
        <p:spPr>
          <a:xfrm>
            <a:off x="6115050" y="1298764"/>
            <a:ext cx="1521619" cy="200168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latin typeface="Times New Roman" panose="02020603050405020304" pitchFamily="18" charset="0"/>
                <a:cs typeface="Times New Roman" panose="02020603050405020304" pitchFamily="18" charset="0"/>
              </a:rPr>
              <a:t>R²</a:t>
            </a:r>
          </a:p>
          <a:p>
            <a:pPr algn="ctr"/>
            <a:r>
              <a:rPr lang="en-IN" dirty="0" smtClean="0">
                <a:solidFill>
                  <a:schemeClr val="tx1"/>
                </a:solidFill>
                <a:latin typeface="Times New Roman" panose="02020603050405020304" pitchFamily="18" charset="0"/>
                <a:cs typeface="Times New Roman" panose="02020603050405020304" pitchFamily="18" charset="0"/>
              </a:rPr>
              <a:t>(Coefficient </a:t>
            </a:r>
            <a:r>
              <a:rPr lang="en-IN" dirty="0">
                <a:solidFill>
                  <a:schemeClr val="tx1"/>
                </a:solidFill>
                <a:latin typeface="Times New Roman" panose="02020603050405020304" pitchFamily="18" charset="0"/>
                <a:cs typeface="Times New Roman" panose="02020603050405020304" pitchFamily="18" charset="0"/>
              </a:rPr>
              <a:t>of </a:t>
            </a:r>
            <a:r>
              <a:rPr lang="en-IN" dirty="0" smtClean="0">
                <a:solidFill>
                  <a:schemeClr val="tx1"/>
                </a:solidFill>
                <a:latin typeface="Times New Roman" panose="02020603050405020304" pitchFamily="18" charset="0"/>
                <a:cs typeface="Times New Roman" panose="02020603050405020304" pitchFamily="18" charset="0"/>
              </a:rPr>
              <a:t>Determination)</a:t>
            </a:r>
          </a:p>
          <a:p>
            <a:pPr algn="ctr"/>
            <a:r>
              <a:rPr lang="en-IN" dirty="0" smtClean="0">
                <a:solidFill>
                  <a:schemeClr val="tx1"/>
                </a:solidFill>
                <a:latin typeface="Times New Roman" panose="02020603050405020304" pitchFamily="18" charset="0"/>
                <a:cs typeface="Times New Roman" panose="02020603050405020304" pitchFamily="18" charset="0"/>
              </a:rPr>
              <a:t>0.8</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28831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6" name="Google Shape;196;p28"/>
          <p:cNvSpPr txBox="1"/>
          <p:nvPr/>
        </p:nvSpPr>
        <p:spPr>
          <a:xfrm>
            <a:off x="765564" y="407312"/>
            <a:ext cx="7647600" cy="661710"/>
          </a:xfrm>
          <a:prstGeom prst="rect">
            <a:avLst/>
          </a:prstGeom>
          <a:noFill/>
          <a:ln>
            <a:noFill/>
          </a:ln>
        </p:spPr>
        <p:txBody>
          <a:bodyPr spcFirstLastPara="1" wrap="square" lIns="68575" tIns="68575" rIns="68575" bIns="68575" anchor="t" anchorCtr="0">
            <a:spAutoFit/>
          </a:bodyPr>
          <a:lstStyle/>
          <a:p>
            <a:pPr lvl="0" algn="ctr">
              <a:buSzPts val="2400"/>
            </a:pPr>
            <a:r>
              <a:rPr lang="en-US" sz="1700" b="1" u="sng" dirty="0">
                <a:solidFill>
                  <a:schemeClr val="accent5">
                    <a:lumMod val="75000"/>
                  </a:schemeClr>
                </a:solidFill>
                <a:latin typeface="Times New Roman" panose="02020603050405020304" pitchFamily="18" charset="0"/>
                <a:cs typeface="Times New Roman" panose="02020603050405020304" pitchFamily="18" charset="0"/>
              </a:rPr>
              <a:t>HYDROLOGICAL MODELLING FOR FLOOD FORECASTING USING HEC-HMS AND QGIS</a:t>
            </a:r>
            <a:endParaRPr sz="1700" b="1" dirty="0">
              <a:solidFill>
                <a:schemeClr val="accent5">
                  <a:lumMod val="75000"/>
                </a:schemeClr>
              </a:solidFill>
              <a:latin typeface="Cambria"/>
              <a:ea typeface="Cambria"/>
              <a:cs typeface="Cambria"/>
              <a:sym typeface="Cambria"/>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pic>
        <p:nvPicPr>
          <p:cNvPr id="15" name="Content Placeholder 5"/>
          <p:cNvPicPr>
            <a:picLocks noChangeAspect="1"/>
          </p:cNvPicPr>
          <p:nvPr/>
        </p:nvPicPr>
        <p:blipFill rotWithShape="1">
          <a:blip r:embed="rId3">
            <a:extLst>
              <a:ext uri="{28A0092B-C50C-407E-A947-70E740481C1C}">
                <a14:useLocalDpi xmlns:a14="http://schemas.microsoft.com/office/drawing/2010/main" val="0"/>
              </a:ext>
            </a:extLst>
          </a:blip>
          <a:srcRect b="6263"/>
          <a:stretch/>
        </p:blipFill>
        <p:spPr>
          <a:xfrm>
            <a:off x="571501" y="1198582"/>
            <a:ext cx="5999539" cy="3171102"/>
          </a:xfrm>
          <a:prstGeom prst="rect">
            <a:avLst/>
          </a:prstGeom>
          <a:noFill/>
          <a:ln>
            <a:noFill/>
          </a:ln>
        </p:spPr>
      </p:pic>
      <p:sp>
        <p:nvSpPr>
          <p:cNvPr id="16" name="TextBox 15"/>
          <p:cNvSpPr txBox="1"/>
          <p:nvPr/>
        </p:nvSpPr>
        <p:spPr>
          <a:xfrm>
            <a:off x="2164232" y="4368439"/>
            <a:ext cx="4052195"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Figure. 1: Clipped </a:t>
            </a:r>
            <a:r>
              <a:rPr lang="en-US" sz="1100" dirty="0" err="1">
                <a:latin typeface="Times New Roman" panose="02020603050405020304" pitchFamily="18" charset="0"/>
                <a:cs typeface="Times New Roman" panose="02020603050405020304" pitchFamily="18" charset="0"/>
              </a:rPr>
              <a:t>Kalady</a:t>
            </a:r>
            <a:r>
              <a:rPr lang="en-US" sz="1100" dirty="0">
                <a:latin typeface="Times New Roman" panose="02020603050405020304" pitchFamily="18" charset="0"/>
                <a:cs typeface="Times New Roman" panose="02020603050405020304" pitchFamily="18" charset="0"/>
              </a:rPr>
              <a:t> from QGIS with layers</a:t>
            </a:r>
            <a:endParaRPr lang="en-IN" sz="1100" dirty="0">
              <a:latin typeface="Times New Roman" panose="02020603050405020304" pitchFamily="18" charset="0"/>
              <a:cs typeface="Times New Roman" panose="02020603050405020304" pitchFamily="18" charset="0"/>
            </a:endParaRPr>
          </a:p>
        </p:txBody>
      </p:sp>
      <p:sp>
        <p:nvSpPr>
          <p:cNvPr id="2" name="Rectangle 1"/>
          <p:cNvSpPr/>
          <p:nvPr/>
        </p:nvSpPr>
        <p:spPr>
          <a:xfrm>
            <a:off x="6923310" y="1363285"/>
            <a:ext cx="1992559" cy="284169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18" name="TextBox 17"/>
          <p:cNvSpPr txBox="1"/>
          <p:nvPr/>
        </p:nvSpPr>
        <p:spPr>
          <a:xfrm>
            <a:off x="6974214" y="1352972"/>
            <a:ext cx="1890750" cy="2862322"/>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For the </a:t>
            </a:r>
            <a:r>
              <a:rPr lang="en-US" sz="1200" dirty="0" err="1">
                <a:latin typeface="Times New Roman" panose="02020603050405020304" pitchFamily="18" charset="0"/>
                <a:cs typeface="Times New Roman" panose="02020603050405020304" pitchFamily="18" charset="0"/>
              </a:rPr>
              <a:t>Kalady</a:t>
            </a:r>
            <a:r>
              <a:rPr lang="en-US" sz="1200" dirty="0">
                <a:latin typeface="Times New Roman" panose="02020603050405020304" pitchFamily="18" charset="0"/>
                <a:cs typeface="Times New Roman" panose="02020603050405020304" pitchFamily="18" charset="0"/>
              </a:rPr>
              <a:t> region, flood forecasting was carried out using the HEC-HMS model with inputs prepared in QGIS. A DEM derived from USGS SRTM data was processed to delineate the watershed and </a:t>
            </a:r>
            <a:r>
              <a:rPr lang="en-US" sz="1200" dirty="0" err="1">
                <a:latin typeface="Times New Roman" panose="02020603050405020304" pitchFamily="18" charset="0"/>
                <a:cs typeface="Times New Roman" panose="02020603050405020304" pitchFamily="18" charset="0"/>
              </a:rPr>
              <a:t>subbasins</a:t>
            </a:r>
            <a:r>
              <a:rPr lang="en-US" sz="1200" dirty="0">
                <a:latin typeface="Times New Roman" panose="02020603050405020304" pitchFamily="18" charset="0"/>
                <a:cs typeface="Times New Roman" panose="02020603050405020304" pitchFamily="18" charset="0"/>
              </a:rPr>
              <a:t>. Using QGIS tools as shown Figure.1, stream networks and reaches were extracted and clipped to the </a:t>
            </a:r>
            <a:r>
              <a:rPr lang="en-US" sz="1200" dirty="0" err="1">
                <a:latin typeface="Times New Roman" panose="02020603050405020304" pitchFamily="18" charset="0"/>
                <a:cs typeface="Times New Roman" panose="02020603050405020304" pitchFamily="18" charset="0"/>
              </a:rPr>
              <a:t>Kalady</a:t>
            </a:r>
            <a:r>
              <a:rPr lang="en-US" sz="1200" dirty="0">
                <a:latin typeface="Times New Roman" panose="02020603050405020304" pitchFamily="18" charset="0"/>
                <a:cs typeface="Times New Roman" panose="02020603050405020304" pitchFamily="18" charset="0"/>
              </a:rPr>
              <a:t> boundary to provide basin inputs for HEC-HMS. </a:t>
            </a:r>
            <a:endParaRPr lang="en-US" sz="1200" b="0" dirty="0" smtClean="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65063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sp>
        <p:nvSpPr>
          <p:cNvPr id="2" name="Rectangle 1"/>
          <p:cNvSpPr/>
          <p:nvPr/>
        </p:nvSpPr>
        <p:spPr>
          <a:xfrm>
            <a:off x="427941" y="1519148"/>
            <a:ext cx="1992559" cy="166047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9" name="TextBox 8"/>
          <p:cNvSpPr txBox="1"/>
          <p:nvPr/>
        </p:nvSpPr>
        <p:spPr>
          <a:xfrm>
            <a:off x="478845" y="1609958"/>
            <a:ext cx="1890750" cy="1569660"/>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The Basin Model in HEC-HMS shows </a:t>
            </a:r>
            <a:r>
              <a:rPr lang="en-US" sz="1200" dirty="0" err="1">
                <a:latin typeface="Times New Roman" panose="02020603050405020304" pitchFamily="18" charset="0"/>
                <a:cs typeface="Times New Roman" panose="02020603050405020304" pitchFamily="18" charset="0"/>
              </a:rPr>
              <a:t>subbasins</a:t>
            </a:r>
            <a:r>
              <a:rPr lang="en-US" sz="1200" dirty="0">
                <a:latin typeface="Times New Roman" panose="02020603050405020304" pitchFamily="18" charset="0"/>
                <a:cs typeface="Times New Roman" panose="02020603050405020304" pitchFamily="18" charset="0"/>
              </a:rPr>
              <a:t> (SB_1, SB_2, etc.) as shown in Figure.2, and their corresponding reaches, representing how rainfall from each area contributes to streamflow. </a:t>
            </a:r>
          </a:p>
        </p:txBody>
      </p:sp>
      <p:pic>
        <p:nvPicPr>
          <p:cNvPr id="10"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441" y="797008"/>
            <a:ext cx="6010372" cy="3195560"/>
          </a:xfrm>
          <a:prstGeom prst="rect">
            <a:avLst/>
          </a:prstGeom>
          <a:noFill/>
          <a:ln>
            <a:noFill/>
          </a:ln>
        </p:spPr>
      </p:pic>
      <p:sp>
        <p:nvSpPr>
          <p:cNvPr id="11" name="TextBox 10"/>
          <p:cNvSpPr txBox="1"/>
          <p:nvPr/>
        </p:nvSpPr>
        <p:spPr>
          <a:xfrm>
            <a:off x="4643772" y="4375854"/>
            <a:ext cx="2560320" cy="430887"/>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Figure.2: Basin Model</a:t>
            </a:r>
          </a:p>
          <a:p>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7736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sp>
        <p:nvSpPr>
          <p:cNvPr id="2" name="Rectangle 1"/>
          <p:cNvSpPr/>
          <p:nvPr/>
        </p:nvSpPr>
        <p:spPr>
          <a:xfrm>
            <a:off x="6203372" y="690793"/>
            <a:ext cx="2493237" cy="366812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r>
              <a:rPr lang="en-US" sz="1200" dirty="0">
                <a:latin typeface="Times New Roman" panose="02020603050405020304" pitchFamily="18" charset="0"/>
                <a:cs typeface="Times New Roman" panose="02020603050405020304" pitchFamily="18" charset="0"/>
              </a:rPr>
              <a:t>Simulations produced hydrographs and time-series tables that describe rainfall, losses, runoff, </a:t>
            </a:r>
            <a:r>
              <a:rPr lang="en-US" sz="1200" dirty="0" err="1">
                <a:latin typeface="Times New Roman" panose="02020603050405020304" pitchFamily="18" charset="0"/>
                <a:cs typeface="Times New Roman" panose="02020603050405020304" pitchFamily="18" charset="0"/>
              </a:rPr>
              <a:t>baseflow</a:t>
            </a:r>
            <a:r>
              <a:rPr lang="en-US" sz="1200" dirty="0">
                <a:latin typeface="Times New Roman" panose="02020603050405020304" pitchFamily="18" charset="0"/>
                <a:cs typeface="Times New Roman" panose="02020603050405020304" pitchFamily="18" charset="0"/>
              </a:rPr>
              <a:t>, and peak discharge values as shown in Figure. 3-6. These outputs help identify when and where peak flows occur, supporting early warning and flood management decisions in </a:t>
            </a:r>
            <a:r>
              <a:rPr lang="en-US" sz="1200" dirty="0" err="1">
                <a:latin typeface="Times New Roman" panose="02020603050405020304" pitchFamily="18" charset="0"/>
                <a:cs typeface="Times New Roman" panose="02020603050405020304" pitchFamily="18" charset="0"/>
              </a:rPr>
              <a:t>Kalady</a:t>
            </a:r>
            <a:r>
              <a:rPr lang="en-US" sz="1200" dirty="0">
                <a:latin typeface="Times New Roman" panose="02020603050405020304" pitchFamily="18" charset="0"/>
                <a:cs typeface="Times New Roman" panose="02020603050405020304" pitchFamily="18" charset="0"/>
              </a:rPr>
              <a:t>.</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Together, the maps, graphs, and tables provide a clear picture of when, where, and how much water flows through the watershed, enabling the identification of peak flows and supporting effective flood forecasting and management strategies for </a:t>
            </a:r>
            <a:r>
              <a:rPr lang="en-US" sz="1200" dirty="0" err="1">
                <a:latin typeface="Times New Roman" panose="02020603050405020304" pitchFamily="18" charset="0"/>
                <a:cs typeface="Times New Roman" panose="02020603050405020304" pitchFamily="18" charset="0"/>
              </a:rPr>
              <a:t>Kalady</a:t>
            </a:r>
            <a:r>
              <a:rPr lang="en-US" sz="1200" dirty="0" smtClean="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p:txBody>
      </p:sp>
      <p:pic>
        <p:nvPicPr>
          <p:cNvPr id="8" name="Content Placeholder 3"/>
          <p:cNvPicPr>
            <a:picLocks noChangeAspect="1"/>
          </p:cNvPicPr>
          <p:nvPr/>
        </p:nvPicPr>
        <p:blipFill rotWithShape="1">
          <a:blip r:embed="rId3">
            <a:extLst>
              <a:ext uri="{28A0092B-C50C-407E-A947-70E740481C1C}">
                <a14:useLocalDpi xmlns:a14="http://schemas.microsoft.com/office/drawing/2010/main" val="0"/>
              </a:ext>
            </a:extLst>
          </a:blip>
          <a:srcRect b="6864"/>
          <a:stretch/>
        </p:blipFill>
        <p:spPr>
          <a:xfrm>
            <a:off x="483136" y="742002"/>
            <a:ext cx="5429100" cy="2842862"/>
          </a:xfrm>
          <a:prstGeom prst="rect">
            <a:avLst/>
          </a:prstGeom>
          <a:noFill/>
          <a:ln>
            <a:noFill/>
          </a:ln>
        </p:spPr>
      </p:pic>
      <p:sp>
        <p:nvSpPr>
          <p:cNvPr id="12" name="TextBox 11"/>
          <p:cNvSpPr txBox="1"/>
          <p:nvPr/>
        </p:nvSpPr>
        <p:spPr>
          <a:xfrm>
            <a:off x="2493776" y="3680916"/>
            <a:ext cx="1802674"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Figure.3: Hydrographs</a:t>
            </a:r>
          </a:p>
        </p:txBody>
      </p:sp>
    </p:spTree>
    <p:extLst>
      <p:ext uri="{BB962C8B-B14F-4D97-AF65-F5344CB8AC3E}">
        <p14:creationId xmlns:p14="http://schemas.microsoft.com/office/powerpoint/2010/main" val="41278697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pic>
        <p:nvPicPr>
          <p:cNvPr id="14"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2773" r="4198" b="2950"/>
          <a:stretch/>
        </p:blipFill>
        <p:spPr>
          <a:xfrm>
            <a:off x="591672" y="496720"/>
            <a:ext cx="2838079" cy="3980200"/>
          </a:xfrm>
          <a:prstGeom prst="rect">
            <a:avLst/>
          </a:prstGeom>
        </p:spPr>
      </p:pic>
      <p:pic>
        <p:nvPicPr>
          <p:cNvPr id="15" name="Content Placeholder 4"/>
          <p:cNvPicPr>
            <a:picLocks noChangeAspect="1"/>
          </p:cNvPicPr>
          <p:nvPr/>
        </p:nvPicPr>
        <p:blipFill rotWithShape="1">
          <a:blip r:embed="rId4">
            <a:extLst>
              <a:ext uri="{28A0092B-C50C-407E-A947-70E740481C1C}">
                <a14:useLocalDpi xmlns:a14="http://schemas.microsoft.com/office/drawing/2010/main" val="0"/>
              </a:ext>
            </a:extLst>
          </a:blip>
          <a:srcRect b="9444"/>
          <a:stretch/>
        </p:blipFill>
        <p:spPr>
          <a:xfrm>
            <a:off x="4028912" y="496720"/>
            <a:ext cx="4824632" cy="1461763"/>
          </a:xfrm>
          <a:prstGeom prst="rect">
            <a:avLst/>
          </a:prstGeom>
          <a:noFill/>
          <a:ln>
            <a:noFill/>
          </a:ln>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28911" y="2383262"/>
            <a:ext cx="4824632" cy="2064165"/>
          </a:xfrm>
          <a:prstGeom prst="rect">
            <a:avLst/>
          </a:prstGeom>
        </p:spPr>
      </p:pic>
      <p:sp>
        <p:nvSpPr>
          <p:cNvPr id="18" name="Rectangle 17"/>
          <p:cNvSpPr/>
          <p:nvPr/>
        </p:nvSpPr>
        <p:spPr>
          <a:xfrm>
            <a:off x="4008130" y="1964670"/>
            <a:ext cx="4866195" cy="261610"/>
          </a:xfrm>
          <a:prstGeom prst="rect">
            <a:avLst/>
          </a:prstGeom>
        </p:spPr>
        <p:txBody>
          <a:bodyPr wrap="square">
            <a:spAutoFit/>
          </a:bodyPr>
          <a:lstStyle/>
          <a:p>
            <a:pPr marL="472440" marR="784225" algn="ctr"/>
            <a:r>
              <a:rPr lang="en-US" sz="1100" dirty="0">
                <a:solidFill>
                  <a:srgbClr val="000000"/>
                </a:solidFill>
                <a:latin typeface="Times New Roman" panose="02020603050405020304" pitchFamily="18" charset="0"/>
              </a:rPr>
              <a:t>Figure. 5: Summary Results for </a:t>
            </a:r>
            <a:r>
              <a:rPr lang="en-US" sz="1100" dirty="0" err="1">
                <a:solidFill>
                  <a:srgbClr val="000000"/>
                </a:solidFill>
                <a:latin typeface="Times New Roman" panose="02020603050405020304" pitchFamily="18" charset="0"/>
              </a:rPr>
              <a:t>Subbasin</a:t>
            </a:r>
            <a:r>
              <a:rPr lang="en-US" sz="1100" dirty="0">
                <a:solidFill>
                  <a:srgbClr val="000000"/>
                </a:solidFill>
                <a:latin typeface="Times New Roman" panose="02020603050405020304" pitchFamily="18" charset="0"/>
              </a:rPr>
              <a:t> “SB_1</a:t>
            </a:r>
            <a:r>
              <a:rPr lang="en-US" sz="1100" dirty="0" smtClean="0">
                <a:solidFill>
                  <a:srgbClr val="000000"/>
                </a:solidFill>
                <a:latin typeface="Times New Roman" panose="02020603050405020304" pitchFamily="18" charset="0"/>
              </a:rPr>
              <a:t>”</a:t>
            </a:r>
            <a:endParaRPr lang="en-US" sz="1100" b="0" dirty="0" smtClean="0">
              <a:effectLst/>
            </a:endParaRPr>
          </a:p>
        </p:txBody>
      </p:sp>
      <p:sp>
        <p:nvSpPr>
          <p:cNvPr id="19" name="Rectangle 18"/>
          <p:cNvSpPr/>
          <p:nvPr/>
        </p:nvSpPr>
        <p:spPr>
          <a:xfrm>
            <a:off x="5307658" y="4476920"/>
            <a:ext cx="2641387" cy="261610"/>
          </a:xfrm>
          <a:prstGeom prst="rect">
            <a:avLst/>
          </a:prstGeom>
        </p:spPr>
        <p:txBody>
          <a:bodyPr wrap="square">
            <a:spAutoFit/>
          </a:bodyPr>
          <a:lstStyle/>
          <a:p>
            <a:r>
              <a:rPr lang="en-IN" sz="1100" dirty="0">
                <a:latin typeface="Times New Roman" panose="02020603050405020304" pitchFamily="18" charset="0"/>
                <a:cs typeface="Times New Roman" panose="02020603050405020304" pitchFamily="18" charset="0"/>
              </a:rPr>
              <a:t>Figure.6: Global Summary Results </a:t>
            </a:r>
            <a:endParaRPr lang="en-IN" sz="1100" dirty="0"/>
          </a:p>
        </p:txBody>
      </p:sp>
      <p:sp>
        <p:nvSpPr>
          <p:cNvPr id="20" name="Rectangle 19"/>
          <p:cNvSpPr/>
          <p:nvPr/>
        </p:nvSpPr>
        <p:spPr>
          <a:xfrm>
            <a:off x="459874" y="4615419"/>
            <a:ext cx="3301164" cy="261610"/>
          </a:xfrm>
          <a:prstGeom prst="rect">
            <a:avLst/>
          </a:prstGeom>
        </p:spPr>
        <p:txBody>
          <a:bodyPr wrap="square">
            <a:spAutoFit/>
          </a:bodyPr>
          <a:lstStyle/>
          <a:p>
            <a:r>
              <a:rPr lang="en-US" sz="1100" dirty="0">
                <a:latin typeface="Times New Roman" panose="02020603050405020304" pitchFamily="18" charset="0"/>
                <a:cs typeface="Times New Roman" panose="02020603050405020304" pitchFamily="18" charset="0"/>
              </a:rPr>
              <a:t>Figure. 4: Time-Series Results for </a:t>
            </a:r>
            <a:r>
              <a:rPr lang="en-US" sz="1100" dirty="0" err="1">
                <a:latin typeface="Times New Roman" panose="02020603050405020304" pitchFamily="18" charset="0"/>
                <a:cs typeface="Times New Roman" panose="02020603050405020304" pitchFamily="18" charset="0"/>
              </a:rPr>
              <a:t>Subbasin</a:t>
            </a:r>
            <a:r>
              <a:rPr lang="en-US" sz="1100" dirty="0">
                <a:latin typeface="Times New Roman" panose="02020603050405020304" pitchFamily="18" charset="0"/>
                <a:cs typeface="Times New Roman" panose="02020603050405020304" pitchFamily="18" charset="0"/>
              </a:rPr>
              <a:t> “SB_1</a:t>
            </a:r>
            <a:r>
              <a:rPr lang="en-US" sz="1100" dirty="0" smtClean="0">
                <a:latin typeface="Times New Roman" panose="02020603050405020304" pitchFamily="18" charset="0"/>
                <a:cs typeface="Times New Roman" panose="02020603050405020304" pitchFamily="18" charset="0"/>
              </a:rPr>
              <a:t>”</a:t>
            </a:r>
            <a:endParaRPr lang="en-US" sz="1100" b="0" dirty="0" smtClean="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81832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600" b="1" dirty="0">
                <a:solidFill>
                  <a:srgbClr val="002060"/>
                </a:solidFill>
                <a:highlight>
                  <a:schemeClr val="lt1"/>
                </a:highlight>
                <a:latin typeface="Times New Roman" panose="02020603050405020304" pitchFamily="18" charset="0"/>
                <a:ea typeface="Cambria"/>
                <a:cs typeface="Times New Roman" panose="02020603050405020304" pitchFamily="18" charset="0"/>
                <a:sym typeface="Cambria"/>
              </a:rPr>
              <a:t>Web Application </a:t>
            </a:r>
            <a:endParaRPr lang="en-IN" dirty="0">
              <a:solidFill>
                <a:srgbClr val="002060"/>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565150" y="958850"/>
            <a:ext cx="8077200" cy="3999976"/>
          </a:xfrm>
        </p:spPr>
        <p:txBody>
          <a:bodyPr/>
          <a:lstStyle/>
          <a:p>
            <a:pPr marL="139700" indent="0">
              <a:buNone/>
            </a:pPr>
            <a:endParaRPr lang="en-US" sz="1600" dirty="0"/>
          </a:p>
          <a:p>
            <a:pPr marL="139700" indent="0">
              <a:buNone/>
            </a:pPr>
            <a:r>
              <a:rPr lang="en-US" sz="1600" b="1" dirty="0" smtClean="0">
                <a:solidFill>
                  <a:srgbClr val="C00000"/>
                </a:solidFill>
              </a:rPr>
              <a:t>1.Air Quality Monitoring System – </a:t>
            </a:r>
            <a:r>
              <a:rPr lang="en-US" sz="1600" b="1" dirty="0" err="1" smtClean="0">
                <a:solidFill>
                  <a:srgbClr val="C00000"/>
                </a:solidFill>
              </a:rPr>
              <a:t>AirAware</a:t>
            </a:r>
            <a:r>
              <a:rPr lang="en-US" sz="1600" b="1" dirty="0" smtClean="0">
                <a:solidFill>
                  <a:schemeClr val="tx1"/>
                </a:solidFill>
              </a:rPr>
              <a:t> (</a:t>
            </a:r>
            <a:r>
              <a:rPr lang="en-US" sz="1600" b="1" dirty="0" smtClean="0"/>
              <a:t>🌐 </a:t>
            </a:r>
            <a:r>
              <a:rPr lang="en-US" sz="1400" b="1" dirty="0" smtClean="0">
                <a:hlinkClick r:id="rId2"/>
              </a:rPr>
              <a:t>https://airaware.it.com</a:t>
            </a:r>
            <a:r>
              <a:rPr lang="en-US" sz="1400" b="1" dirty="0" smtClean="0"/>
              <a:t>)</a:t>
            </a:r>
            <a:endParaRPr lang="en-US" sz="1400" dirty="0" smtClean="0"/>
          </a:p>
          <a:p>
            <a:pPr lvl="1">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Displays live air quality data collected from </a:t>
            </a:r>
            <a:r>
              <a:rPr lang="en-US" dirty="0" err="1">
                <a:solidFill>
                  <a:schemeClr val="tx1"/>
                </a:solidFill>
                <a:latin typeface="Times New Roman" panose="02020603050405020304" pitchFamily="18" charset="0"/>
                <a:cs typeface="Times New Roman" panose="02020603050405020304" pitchFamily="18" charset="0"/>
              </a:rPr>
              <a:t>IoT</a:t>
            </a:r>
            <a:r>
              <a:rPr lang="en-US" dirty="0">
                <a:solidFill>
                  <a:schemeClr val="tx1"/>
                </a:solidFill>
                <a:latin typeface="Times New Roman" panose="02020603050405020304" pitchFamily="18" charset="0"/>
                <a:cs typeface="Times New Roman" panose="02020603050405020304" pitchFamily="18" charset="0"/>
              </a:rPr>
              <a:t>-based environmental sensors.</a:t>
            </a:r>
            <a:r>
              <a:rPr lang="en-US" dirty="0" smtClean="0">
                <a:solidFill>
                  <a:schemeClr val="tx1"/>
                </a:solidFill>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Predicts air quality trends for the next 4 days using advanced machine </a:t>
            </a:r>
            <a:r>
              <a:rPr lang="en-US" dirty="0" smtClean="0">
                <a:solidFill>
                  <a:schemeClr val="tx1"/>
                </a:solidFill>
                <a:latin typeface="Times New Roman" panose="02020603050405020304" pitchFamily="18" charset="0"/>
                <a:cs typeface="Times New Roman" panose="02020603050405020304" pitchFamily="18" charset="0"/>
              </a:rPr>
              <a:t>learning.</a:t>
            </a:r>
          </a:p>
          <a:p>
            <a:pPr lvl="1">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Detects the user’s current geolocation and calculates AQI using interpolation from nearby monitoring </a:t>
            </a:r>
            <a:r>
              <a:rPr lang="en-US" dirty="0" smtClean="0">
                <a:solidFill>
                  <a:schemeClr val="tx1"/>
                </a:solidFill>
                <a:latin typeface="Times New Roman" panose="02020603050405020304" pitchFamily="18" charset="0"/>
                <a:cs typeface="Times New Roman" panose="02020603050405020304" pitchFamily="18" charset="0"/>
              </a:rPr>
              <a:t>stations.</a:t>
            </a:r>
          </a:p>
          <a:p>
            <a:pPr lvl="1">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Provides personalized health risk assessments and recommendations based on the user’s current AQI</a:t>
            </a:r>
            <a:r>
              <a:rPr lang="en-US" dirty="0" smtClean="0">
                <a:solidFill>
                  <a:schemeClr val="tx1"/>
                </a:solidFill>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Publicly deployed on Render at </a:t>
            </a:r>
            <a:r>
              <a:rPr lang="en-US" dirty="0">
                <a:solidFill>
                  <a:schemeClr val="tx1"/>
                </a:solidFill>
                <a:latin typeface="Times New Roman" panose="02020603050405020304" pitchFamily="18" charset="0"/>
                <a:cs typeface="Times New Roman" panose="02020603050405020304" pitchFamily="18" charset="0"/>
                <a:hlinkClick r:id="rId2"/>
              </a:rPr>
              <a:t>https://airaware.it.com</a:t>
            </a:r>
            <a:r>
              <a:rPr lang="en-US" dirty="0">
                <a:solidFill>
                  <a:schemeClr val="tx1"/>
                </a:solidFill>
                <a:latin typeface="Times New Roman" panose="02020603050405020304" pitchFamily="18" charset="0"/>
                <a:cs typeface="Times New Roman" panose="02020603050405020304" pitchFamily="18" charset="0"/>
              </a:rPr>
              <a:t> for global access and real-time updates.</a:t>
            </a:r>
            <a:endParaRPr lang="en-US" dirty="0" smtClean="0">
              <a:solidFill>
                <a:schemeClr val="tx1"/>
              </a:solidFill>
              <a:latin typeface="Times New Roman" panose="02020603050405020304" pitchFamily="18" charset="0"/>
              <a:cs typeface="Times New Roman" panose="02020603050405020304" pitchFamily="18" charset="0"/>
            </a:endParaRPr>
          </a:p>
          <a:p>
            <a:pPr marL="139700" indent="0">
              <a:buNone/>
            </a:pPr>
            <a:endParaRPr lang="en-US" sz="1400" dirty="0"/>
          </a:p>
        </p:txBody>
      </p:sp>
      <p:pic>
        <p:nvPicPr>
          <p:cNvPr id="4" name="Picture 3"/>
          <p:cNvPicPr>
            <a:picLocks noChangeAspect="1"/>
          </p:cNvPicPr>
          <p:nvPr/>
        </p:nvPicPr>
        <p:blipFill>
          <a:blip r:embed="rId3"/>
          <a:stretch>
            <a:fillRect/>
          </a:stretch>
        </p:blipFill>
        <p:spPr>
          <a:xfrm>
            <a:off x="3765551" y="3390843"/>
            <a:ext cx="3035299" cy="1422904"/>
          </a:xfrm>
          <a:prstGeom prst="rect">
            <a:avLst/>
          </a:prstGeom>
        </p:spPr>
      </p:pic>
      <p:sp>
        <p:nvSpPr>
          <p:cNvPr id="10"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4" name="Rectangle 13"/>
          <p:cNvSpPr/>
          <p:nvPr/>
        </p:nvSpPr>
        <p:spPr>
          <a:xfrm>
            <a:off x="3765551" y="4850052"/>
            <a:ext cx="3035299" cy="25116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200" dirty="0" smtClean="0">
                <a:latin typeface="Calibri" panose="020F0502020204030204" pitchFamily="34" charset="0"/>
                <a:ea typeface="Calibri" panose="020F0502020204030204" pitchFamily="34" charset="0"/>
                <a:cs typeface="Calibri" panose="020F0502020204030204" pitchFamily="34" charset="0"/>
              </a:rPr>
              <a:t>Fig 7:Air </a:t>
            </a:r>
            <a:r>
              <a:rPr lang="en-IN" sz="1200" dirty="0">
                <a:latin typeface="Calibri" panose="020F0502020204030204" pitchFamily="34" charset="0"/>
                <a:ea typeface="Calibri" panose="020F0502020204030204" pitchFamily="34" charset="0"/>
                <a:cs typeface="Calibri" panose="020F0502020204030204" pitchFamily="34" charset="0"/>
              </a:rPr>
              <a:t>Quality Monitoring User Profile </a:t>
            </a:r>
            <a:r>
              <a:rPr lang="en-IN" sz="1200" dirty="0" smtClean="0">
                <a:latin typeface="Calibri" panose="020F0502020204030204" pitchFamily="34" charset="0"/>
                <a:ea typeface="Calibri" panose="020F0502020204030204" pitchFamily="34" charset="0"/>
                <a:cs typeface="Calibri" panose="020F0502020204030204" pitchFamily="34" charset="0"/>
              </a:rPr>
              <a:t>Page</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54605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1700" y="445024"/>
            <a:ext cx="8520600" cy="4497531"/>
          </a:xfrm>
        </p:spPr>
        <p:txBody>
          <a:bodyPr>
            <a:normAutofit/>
          </a:bodyPr>
          <a:lstStyle/>
          <a:p>
            <a:r>
              <a:rPr lang="en-IN" sz="1600" b="1" dirty="0">
                <a:solidFill>
                  <a:schemeClr val="tx1"/>
                </a:solidFill>
                <a:latin typeface="Times New Roman" panose="02020603050405020304" pitchFamily="18" charset="0"/>
                <a:cs typeface="Times New Roman" panose="02020603050405020304" pitchFamily="18" charset="0"/>
              </a:rPr>
              <a:t> </a:t>
            </a:r>
            <a:endParaRPr lang="en-IN" dirty="0"/>
          </a:p>
        </p:txBody>
      </p:sp>
      <p:sp>
        <p:nvSpPr>
          <p:cNvPr id="3" name="Text Placeholder 2"/>
          <p:cNvSpPr>
            <a:spLocks noGrp="1"/>
          </p:cNvSpPr>
          <p:nvPr>
            <p:ph idx="1"/>
          </p:nvPr>
        </p:nvSpPr>
        <p:spPr>
          <a:xfrm>
            <a:off x="192000" y="107156"/>
            <a:ext cx="8952000" cy="4953794"/>
          </a:xfrm>
        </p:spPr>
        <p:txBody>
          <a:bodyPr>
            <a:normAutofit/>
          </a:bodyPr>
          <a:lstStyle/>
          <a:p>
            <a:pPr marL="114300" indent="0">
              <a:buNone/>
            </a:pPr>
            <a:r>
              <a:rPr lang="en-US" dirty="0" smtClean="0">
                <a:solidFill>
                  <a:srgbClr val="C00000"/>
                </a:solidFill>
              </a:rPr>
              <a:t>Admin Features</a:t>
            </a:r>
            <a:endPar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a:buFont typeface="Arial" panose="020B0604020202020204" pitchFamily="34" charset="0"/>
              <a:buChar char="•"/>
            </a:pPr>
            <a:r>
              <a:rPr lang="en-US" sz="14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User </a:t>
            </a: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Management – Admin can view, manage, and update all registered user details.</a:t>
            </a:r>
          </a:p>
          <a:p>
            <a:pPr algn="just">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Health Assessments – Admin has access to health risk assessment records of users.</a:t>
            </a:r>
          </a:p>
          <a:p>
            <a:pPr algn="just">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Real-Time Monitoring – Admin can track real-time air quality parameters from all connected sensors.</a:t>
            </a:r>
          </a:p>
          <a:p>
            <a:pPr algn="just">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Activity Logs – Admin can monitor logged-in users and their system activities</a:t>
            </a:r>
            <a:r>
              <a:rPr lang="en-US" sz="14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endPar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875610" y="1582018"/>
            <a:ext cx="3516179" cy="1334096"/>
          </a:xfrm>
          <a:prstGeom prst="rect">
            <a:avLst/>
          </a:prstGeom>
          <a:solidFill>
            <a:schemeClr val="bg2"/>
          </a:solidFill>
          <a:ln>
            <a:solidFill>
              <a:schemeClr val="accent1">
                <a:lumMod val="50000"/>
              </a:schemeClr>
            </a:solidFill>
          </a:ln>
        </p:spPr>
      </p:pic>
      <p:sp>
        <p:nvSpPr>
          <p:cNvPr id="6"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7" name="Rectangle 6"/>
          <p:cNvSpPr/>
          <p:nvPr/>
        </p:nvSpPr>
        <p:spPr>
          <a:xfrm>
            <a:off x="4875610" y="2968232"/>
            <a:ext cx="3516179" cy="28575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200" dirty="0" smtClean="0">
                <a:latin typeface="Calibri" panose="020F0502020204030204" pitchFamily="34" charset="0"/>
                <a:ea typeface="Calibri" panose="020F0502020204030204" pitchFamily="34" charset="0"/>
                <a:cs typeface="Calibri" panose="020F0502020204030204" pitchFamily="34" charset="0"/>
              </a:rPr>
              <a:t>Fig 8: Admin </a:t>
            </a:r>
            <a:r>
              <a:rPr lang="en-IN" sz="1200" dirty="0">
                <a:latin typeface="Calibri" panose="020F0502020204030204" pitchFamily="34" charset="0"/>
                <a:ea typeface="Calibri" panose="020F0502020204030204" pitchFamily="34" charset="0"/>
                <a:cs typeface="Calibri" panose="020F0502020204030204" pitchFamily="34" charset="0"/>
              </a:rPr>
              <a:t>Control &amp; Monitoring Panel</a:t>
            </a:r>
          </a:p>
        </p:txBody>
      </p:sp>
      <p:sp>
        <p:nvSpPr>
          <p:cNvPr id="5" name="Rectangle 4"/>
          <p:cNvSpPr/>
          <p:nvPr/>
        </p:nvSpPr>
        <p:spPr>
          <a:xfrm>
            <a:off x="384000" y="3360610"/>
            <a:ext cx="7721050" cy="1384995"/>
          </a:xfrm>
          <a:prstGeom prst="rect">
            <a:avLst/>
          </a:prstGeom>
        </p:spPr>
        <p:txBody>
          <a:bodyPr wrap="square">
            <a:spAutoFit/>
          </a:bodyPr>
          <a:lstStyle/>
          <a:p>
            <a:r>
              <a:rPr lang="en-IN" b="1" dirty="0" err="1">
                <a:solidFill>
                  <a:srgbClr val="C00000"/>
                </a:solidFill>
                <a:latin typeface="Segoe UI Variable Text Semibold" pitchFamily="2" charset="0"/>
                <a:cs typeface="Times New Roman" panose="02020603050405020304" pitchFamily="18" charset="0"/>
              </a:rPr>
              <a:t>AirAware</a:t>
            </a:r>
            <a:r>
              <a:rPr lang="en-IN" b="1" dirty="0">
                <a:solidFill>
                  <a:srgbClr val="C00000"/>
                </a:solidFill>
                <a:latin typeface="Segoe UI Variable Text Semibold" pitchFamily="2" charset="0"/>
                <a:cs typeface="Times New Roman" panose="02020603050405020304" pitchFamily="18" charset="0"/>
              </a:rPr>
              <a:t> Mobile </a:t>
            </a:r>
            <a:r>
              <a:rPr lang="en-IN" b="1" dirty="0" smtClean="0">
                <a:solidFill>
                  <a:srgbClr val="C00000"/>
                </a:solidFill>
                <a:latin typeface="Segoe UI Variable Text Semibold" pitchFamily="2" charset="0"/>
                <a:cs typeface="Times New Roman" panose="02020603050405020304" pitchFamily="18" charset="0"/>
              </a:rPr>
              <a:t>Application</a:t>
            </a:r>
          </a:p>
          <a:p>
            <a:endParaRPr lang="en-IN" b="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 a Flutter application replicating the </a:t>
            </a:r>
            <a:r>
              <a:rPr lang="en-US" dirty="0" err="1">
                <a:latin typeface="Times New Roman" panose="02020603050405020304" pitchFamily="18" charset="0"/>
                <a:cs typeface="Times New Roman" panose="02020603050405020304" pitchFamily="18" charset="0"/>
              </a:rPr>
              <a:t>AirAware</a:t>
            </a:r>
            <a:r>
              <a:rPr lang="en-US" dirty="0">
                <a:latin typeface="Times New Roman" panose="02020603050405020304" pitchFamily="18" charset="0"/>
                <a:cs typeface="Times New Roman" panose="02020603050405020304" pitchFamily="18" charset="0"/>
              </a:rPr>
              <a:t> web system, offering real-time AQI monitoring, AI-based 4-day forecasts, and personalized health insights. </a:t>
            </a:r>
            <a:endParaRPr lang="en-US"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app is in development, aiming to extend </a:t>
            </a:r>
            <a:r>
              <a:rPr lang="en-US" dirty="0" err="1">
                <a:latin typeface="Times New Roman" panose="02020603050405020304" pitchFamily="18" charset="0"/>
                <a:cs typeface="Times New Roman" panose="02020603050405020304" pitchFamily="18" charset="0"/>
              </a:rPr>
              <a:t>AirAware’s</a:t>
            </a:r>
            <a:r>
              <a:rPr lang="en-US" dirty="0">
                <a:latin typeface="Times New Roman" panose="02020603050405020304" pitchFamily="18" charset="0"/>
                <a:cs typeface="Times New Roman" panose="02020603050405020304" pitchFamily="18" charset="0"/>
              </a:rPr>
              <a:t> web functionalities to mobile devices </a:t>
            </a:r>
            <a:r>
              <a:rPr lang="en-US" dirty="0" smtClean="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wider accessibility</a:t>
            </a:r>
            <a:r>
              <a:rPr lang="en-US" dirty="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6323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33350"/>
            <a:ext cx="7886700" cy="1162049"/>
          </a:xfrm>
        </p:spPr>
        <p:txBody>
          <a:bodyPr>
            <a:normAutofit fontScale="90000"/>
          </a:bodyPr>
          <a:lstStyle/>
          <a:p>
            <a:pPr lvl="0"/>
            <a:r>
              <a:rPr lang="en-US" sz="2700" dirty="0" smtClean="0"/>
              <a:t/>
            </a:r>
            <a:br>
              <a:rPr lang="en-US" sz="2700" dirty="0" smtClean="0"/>
            </a:br>
            <a:r>
              <a:rPr lang="en-US" sz="2700" b="1" dirty="0" smtClean="0">
                <a:solidFill>
                  <a:srgbClr val="C00000"/>
                </a:solidFill>
              </a:rPr>
              <a:t>2.Weather </a:t>
            </a:r>
            <a:r>
              <a:rPr lang="en-US" sz="2700" b="1" dirty="0">
                <a:solidFill>
                  <a:srgbClr val="C00000"/>
                </a:solidFill>
              </a:rPr>
              <a:t>Monitoring </a:t>
            </a:r>
            <a:r>
              <a:rPr lang="en-US" sz="2700" b="1" dirty="0" smtClean="0">
                <a:solidFill>
                  <a:srgbClr val="C00000"/>
                </a:solidFill>
              </a:rPr>
              <a:t>System</a:t>
            </a:r>
            <a:r>
              <a:rPr lang="en-US" dirty="0">
                <a:solidFill>
                  <a:srgbClr val="C00000"/>
                </a:solidFill>
              </a:rPr>
              <a:t/>
            </a:r>
            <a:br>
              <a:rPr lang="en-US" dirty="0">
                <a:solidFill>
                  <a:srgbClr val="C00000"/>
                </a:solidFill>
              </a:rPr>
            </a:br>
            <a:r>
              <a:rPr lang="en-US" b="1" dirty="0"/>
              <a:t/>
            </a:r>
            <a:br>
              <a:rPr lang="en-US" b="1" dirty="0"/>
            </a:br>
            <a:r>
              <a:rPr lang="en-US" sz="2000" u="sng" dirty="0" smtClean="0">
                <a:solidFill>
                  <a:schemeClr val="tx1"/>
                </a:solidFill>
                <a:highlight>
                  <a:srgbClr val="FFFFFF"/>
                </a:highlight>
                <a:latin typeface="Cambria"/>
                <a:ea typeface="Cambria"/>
                <a:cs typeface="Cambria"/>
                <a:sym typeface="Cambria"/>
              </a:rPr>
              <a:t>Overview</a:t>
            </a:r>
            <a:r>
              <a:rPr lang="en-US" sz="3600" b="1" dirty="0">
                <a:solidFill>
                  <a:srgbClr val="C04089"/>
                </a:solidFill>
                <a:highlight>
                  <a:srgbClr val="FFFFFF"/>
                </a:highlight>
                <a:latin typeface="Cambria"/>
                <a:ea typeface="Cambria"/>
                <a:cs typeface="Cambria"/>
                <a:sym typeface="Cambria"/>
              </a:rPr>
              <a:t/>
            </a:r>
            <a:br>
              <a:rPr lang="en-US" sz="3600" b="1" dirty="0">
                <a:solidFill>
                  <a:srgbClr val="C04089"/>
                </a:solidFill>
                <a:highlight>
                  <a:srgbClr val="FFFFFF"/>
                </a:highlight>
                <a:latin typeface="Cambria"/>
                <a:ea typeface="Cambria"/>
                <a:cs typeface="Cambria"/>
                <a:sym typeface="Cambria"/>
              </a:rPr>
            </a:br>
            <a:endParaRPr lang="en-IN" b="1" dirty="0"/>
          </a:p>
        </p:txBody>
      </p:sp>
      <p:sp>
        <p:nvSpPr>
          <p:cNvPr id="3" name="Text Placeholder 2"/>
          <p:cNvSpPr>
            <a:spLocks noGrp="1"/>
          </p:cNvSpPr>
          <p:nvPr>
            <p:ph idx="1"/>
          </p:nvPr>
        </p:nvSpPr>
        <p:spPr>
          <a:xfrm>
            <a:off x="628650" y="1800225"/>
            <a:ext cx="7886700" cy="2832497"/>
          </a:xfrm>
        </p:spPr>
        <p:txBody>
          <a:bodyPr>
            <a:normAutofit/>
          </a:bodyPr>
          <a:lstStyle/>
          <a:p>
            <a:pPr>
              <a:buFont typeface="Arial" panose="020B0604020202020204" pitchFamily="34" charset="0"/>
              <a:buChar char="•"/>
            </a:pPr>
            <a:r>
              <a:rPr lang="en-US" sz="1400" dirty="0" smtClean="0">
                <a:solidFill>
                  <a:schemeClr val="tx1"/>
                </a:solidFill>
                <a:latin typeface="Times New Roman" panose="02020603050405020304" pitchFamily="18" charset="0"/>
                <a:cs typeface="Times New Roman" panose="02020603050405020304" pitchFamily="18" charset="0"/>
              </a:rPr>
              <a:t>The system collects data from multiple weather stations in </a:t>
            </a:r>
            <a:r>
              <a:rPr lang="en-US" sz="1400" dirty="0">
                <a:solidFill>
                  <a:schemeClr val="tx1"/>
                </a:solidFill>
                <a:latin typeface="Times New Roman" panose="02020603050405020304" pitchFamily="18" charset="0"/>
                <a:cs typeface="Times New Roman" panose="02020603050405020304" pitchFamily="18" charset="0"/>
              </a:rPr>
              <a:t>real </a:t>
            </a:r>
            <a:r>
              <a:rPr lang="en-US" sz="1400" dirty="0" smtClean="0">
                <a:solidFill>
                  <a:schemeClr val="tx1"/>
                </a:solidFill>
                <a:latin typeface="Times New Roman" panose="02020603050405020304" pitchFamily="18" charset="0"/>
                <a:cs typeface="Times New Roman" panose="02020603050405020304" pitchFamily="18" charset="0"/>
              </a:rPr>
              <a:t>time.</a:t>
            </a:r>
          </a:p>
          <a:p>
            <a:pPr>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It monitors key parameters such as temperature, humidity, pressure, wind speed, and rainfall</a:t>
            </a:r>
            <a:r>
              <a:rPr lang="en-US" sz="1400" dirty="0" smtClean="0">
                <a:solidFill>
                  <a:schemeClr val="tx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US" sz="1400" dirty="0" smtClean="0">
              <a:solidFill>
                <a:schemeClr val="tx1"/>
              </a:solidFill>
              <a:latin typeface="Times New Roman" panose="02020603050405020304" pitchFamily="18" charset="0"/>
              <a:cs typeface="Times New Roman" panose="02020603050405020304" pitchFamily="18" charset="0"/>
            </a:endParaRPr>
          </a:p>
          <a:p>
            <a:pPr marL="139700" indent="0">
              <a:buNone/>
            </a:pPr>
            <a:r>
              <a:rPr lang="en-IN" sz="1800" u="sng" dirty="0" smtClean="0">
                <a:solidFill>
                  <a:schemeClr val="tx1"/>
                </a:solidFill>
                <a:latin typeface="Times New Roman" panose="02020603050405020304" pitchFamily="18" charset="0"/>
                <a:cs typeface="Times New Roman" panose="02020603050405020304" pitchFamily="18" charset="0"/>
              </a:rPr>
              <a:t>Historical Data Management</a:t>
            </a:r>
          </a:p>
          <a:p>
            <a:pPr marL="139700" indent="0">
              <a:buNone/>
            </a:pPr>
            <a:endParaRPr lang="en-IN" sz="1800" dirty="0" smtClean="0">
              <a:solidFill>
                <a:schemeClr val="tx1"/>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Stores past weather </a:t>
            </a:r>
            <a:r>
              <a:rPr lang="en-US" altLang="en-US" sz="14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records.</a:t>
            </a:r>
          </a:p>
          <a:p>
            <a:pPr>
              <a:buFont typeface="Arial" panose="020B0604020202020204" pitchFamily="34" charset="0"/>
              <a:buChar char="•"/>
            </a:pP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Allows users to view </a:t>
            </a:r>
            <a:r>
              <a:rPr lang="en-US" altLang="en-US" sz="14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trends.</a:t>
            </a:r>
          </a:p>
          <a:p>
            <a:pPr lvl="0">
              <a:buFont typeface="Arial" panose="020B0604020202020204" pitchFamily="34" charset="0"/>
              <a:buChar char="•"/>
            </a:pP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Enables downloading datasets for offline </a:t>
            </a:r>
            <a:r>
              <a:rPr lang="en-US" altLang="en-US" sz="14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analysis.</a:t>
            </a:r>
            <a:endPar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buFont typeface="Arial" panose="020B0604020202020204" pitchFamily="34" charset="0"/>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a:p>
            <a:pPr marL="139700" lvl="0" indent="0">
              <a:buNone/>
            </a:pPr>
            <a:endParaRPr lang="en-US" altLang="en-US" sz="2000" b="1" dirty="0" smtClean="0">
              <a:solidFill>
                <a:schemeClr val="tx1"/>
              </a:solidFill>
              <a:latin typeface="Times New Roman" panose="02020603050405020304" pitchFamily="18" charset="0"/>
              <a:cs typeface="Times New Roman" panose="02020603050405020304" pitchFamily="18" charset="0"/>
            </a:endParaRPr>
          </a:p>
          <a:p>
            <a:pPr marL="139700" lvl="0" indent="0">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marL="139700" indent="0">
              <a:buNone/>
            </a:pP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5006522" y="2572649"/>
            <a:ext cx="3396343" cy="2089407"/>
          </a:xfrm>
          <a:prstGeom prst="rect">
            <a:avLst/>
          </a:prstGeom>
          <a:solidFill>
            <a:schemeClr val="accent1">
              <a:lumMod val="50000"/>
            </a:schemeClr>
          </a:solidFill>
          <a:ln>
            <a:solidFill>
              <a:schemeClr val="accent1">
                <a:lumMod val="50000"/>
              </a:schemeClr>
            </a:solidFill>
          </a:ln>
        </p:spPr>
      </p:pic>
      <p:sp>
        <p:nvSpPr>
          <p:cNvPr id="8"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9" name="Rectangle 8"/>
          <p:cNvSpPr/>
          <p:nvPr/>
        </p:nvSpPr>
        <p:spPr>
          <a:xfrm>
            <a:off x="4961618" y="4691390"/>
            <a:ext cx="3441247" cy="25116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200" dirty="0" smtClean="0">
                <a:latin typeface="Calibri" panose="020F0502020204030204" pitchFamily="34" charset="0"/>
                <a:ea typeface="Calibri" panose="020F0502020204030204" pitchFamily="34" charset="0"/>
                <a:cs typeface="Calibri" panose="020F0502020204030204" pitchFamily="34" charset="0"/>
              </a:rPr>
              <a:t>Fig 9:Live </a:t>
            </a:r>
            <a:r>
              <a:rPr lang="en-IN" sz="1200" dirty="0">
                <a:latin typeface="Calibri" panose="020F0502020204030204" pitchFamily="34" charset="0"/>
                <a:ea typeface="Calibri" panose="020F0502020204030204" pitchFamily="34" charset="0"/>
                <a:cs typeface="Calibri" panose="020F0502020204030204" pitchFamily="34" charset="0"/>
              </a:rPr>
              <a:t>Weather Monitoring Portal</a:t>
            </a:r>
          </a:p>
        </p:txBody>
      </p:sp>
    </p:spTree>
    <p:extLst>
      <p:ext uri="{BB962C8B-B14F-4D97-AF65-F5344CB8AC3E}">
        <p14:creationId xmlns:p14="http://schemas.microsoft.com/office/powerpoint/2010/main" val="30892745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273844"/>
            <a:ext cx="8115300" cy="878681"/>
          </a:xfrm>
        </p:spPr>
        <p:txBody>
          <a:bodyPr>
            <a:normAutofit fontScale="90000"/>
          </a:bodyPr>
          <a:lstStyle/>
          <a:p>
            <a:r>
              <a:rPr lang="en-IN" sz="2700" dirty="0" smtClean="0"/>
              <a:t/>
            </a:r>
            <a:br>
              <a:rPr lang="en-IN" sz="2700" dirty="0" smtClean="0"/>
            </a:br>
            <a:r>
              <a:rPr lang="en-IN" sz="2700" dirty="0" smtClean="0"/>
              <a:t>Data </a:t>
            </a:r>
            <a:r>
              <a:rPr lang="en-IN" sz="2700" dirty="0"/>
              <a:t>Request &amp; Delivery</a:t>
            </a:r>
            <a:r>
              <a:rPr lang="en-IN" dirty="0"/>
              <a:t/>
            </a:r>
            <a:br>
              <a:rPr lang="en-IN" dirty="0"/>
            </a:br>
            <a:endParaRPr lang="en-IN" dirty="0"/>
          </a:p>
        </p:txBody>
      </p:sp>
      <p:sp>
        <p:nvSpPr>
          <p:cNvPr id="3" name="Text Placeholder 2"/>
          <p:cNvSpPr>
            <a:spLocks noGrp="1"/>
          </p:cNvSpPr>
          <p:nvPr>
            <p:ph idx="1"/>
          </p:nvPr>
        </p:nvSpPr>
        <p:spPr>
          <a:xfrm>
            <a:off x="311699" y="1152475"/>
            <a:ext cx="8736933" cy="3416400"/>
          </a:xfrm>
        </p:spPr>
        <p:txBody>
          <a:bodyPr>
            <a:normAutofit/>
          </a:bodyPr>
          <a:lstStyle/>
          <a:p>
            <a:pPr>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Users can request specific historical weather data.</a:t>
            </a:r>
          </a:p>
          <a:p>
            <a:pPr>
              <a:buFont typeface="Arial" panose="020B0604020202020204" pitchFamily="34" charset="0"/>
              <a:buChar char="•"/>
            </a:pPr>
            <a:r>
              <a:rPr lang="en-US" altLang="en-US"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Requests are verified by administrators</a:t>
            </a:r>
          </a:p>
          <a:p>
            <a:pPr>
              <a:buFont typeface="Arial" panose="020B0604020202020204" pitchFamily="34" charset="0"/>
              <a:buChar char="•"/>
            </a:pPr>
            <a:r>
              <a:rPr lang="en-US"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Approved data is automatically emailed in CSV format</a:t>
            </a:r>
            <a:r>
              <a:rPr lang="en-US" sz="1400" dirty="0" smtClean="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114300" indent="0">
              <a:buNone/>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139700" indent="0">
              <a:buNone/>
            </a:pPr>
            <a:r>
              <a:rPr lang="en-IN" sz="20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Benefits of the System</a:t>
            </a:r>
          </a:p>
          <a:p>
            <a:pPr marL="139700" indent="0">
              <a:buNone/>
            </a:pPr>
            <a:endParaRPr lang="en-IN" sz="1400" b="1" dirty="0" smtClean="0"/>
          </a:p>
          <a:p>
            <a:pPr>
              <a:buFont typeface="Arial" panose="020B0604020202020204" pitchFamily="34" charset="0"/>
              <a:buChar char="•"/>
            </a:pP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Provides reliable weather insights for researchers, students, and decision-makers</a:t>
            </a:r>
            <a:r>
              <a:rPr lang="en-US" altLang="en-US"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r>
              <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Combines real-time updates, historical data, and secure delivery for easy and accurate information </a:t>
            </a:r>
            <a:r>
              <a:rPr lang="en-US" altLang="en-US" sz="1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use.</a:t>
            </a:r>
            <a:endParaRPr lang="en-US" alt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IN" sz="1400" dirty="0" smtClean="0"/>
          </a:p>
        </p:txBody>
      </p:sp>
      <p:sp>
        <p:nvSpPr>
          <p:cNvPr id="4" name="Title 1"/>
          <p:cNvSpPr txBox="1">
            <a:spLocks/>
          </p:cNvSpPr>
          <p:nvPr/>
        </p:nvSpPr>
        <p:spPr>
          <a:xfrm>
            <a:off x="-1530350" y="5963444"/>
            <a:ext cx="7886700" cy="994172"/>
          </a:xfrm>
          <a:prstGeom prst="rect">
            <a:avLst/>
          </a:prstGeom>
          <a:noFill/>
          <a:ln>
            <a:noFill/>
          </a:ln>
        </p:spPr>
        <p:txBody>
          <a:bodyPr spcFirstLastPara="1" wrap="square" lIns="68575" tIns="34275" rIns="68575" bIns="34275"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4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lang="en-IN" dirty="0"/>
          </a:p>
        </p:txBody>
      </p:sp>
      <p:pic>
        <p:nvPicPr>
          <p:cNvPr id="8" name="Picture 7"/>
          <p:cNvPicPr>
            <a:picLocks noChangeAspect="1"/>
          </p:cNvPicPr>
          <p:nvPr/>
        </p:nvPicPr>
        <p:blipFill>
          <a:blip r:embed="rId3"/>
          <a:stretch>
            <a:fillRect/>
          </a:stretch>
        </p:blipFill>
        <p:spPr>
          <a:xfrm>
            <a:off x="6522537" y="168352"/>
            <a:ext cx="1643742" cy="2646971"/>
          </a:xfrm>
          <a:prstGeom prst="rect">
            <a:avLst/>
          </a:prstGeom>
          <a:solidFill>
            <a:schemeClr val="accent4"/>
          </a:solidFill>
          <a:ln>
            <a:solidFill>
              <a:schemeClr val="tx1"/>
            </a:solidFill>
          </a:ln>
        </p:spPr>
      </p:pic>
      <p:sp>
        <p:nvSpPr>
          <p:cNvPr id="10" name="Rectangle 9"/>
          <p:cNvSpPr/>
          <p:nvPr/>
        </p:nvSpPr>
        <p:spPr>
          <a:xfrm>
            <a:off x="5640183" y="2860675"/>
            <a:ext cx="3408450" cy="25116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200" dirty="0" smtClean="0">
                <a:latin typeface="Calibri" panose="020F0502020204030204" pitchFamily="34" charset="0"/>
                <a:ea typeface="Calibri" panose="020F0502020204030204" pitchFamily="34" charset="0"/>
                <a:cs typeface="Calibri" panose="020F0502020204030204" pitchFamily="34" charset="0"/>
              </a:rPr>
              <a:t>Fig 10:</a:t>
            </a:r>
            <a:r>
              <a:rPr lang="en-US" sz="1200" dirty="0">
                <a:latin typeface="Calibri" panose="020F0502020204030204" pitchFamily="34" charset="0"/>
                <a:ea typeface="Calibri" panose="020F0502020204030204" pitchFamily="34" charset="0"/>
                <a:cs typeface="Calibri" panose="020F0502020204030204" pitchFamily="34" charset="0"/>
              </a:rPr>
              <a:t>User Weather Data Request Process</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
        <p:nvSpPr>
          <p:cNvPr id="11"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092779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sp>
        <p:nvSpPr>
          <p:cNvPr id="9" name="Title 1"/>
          <p:cNvSpPr>
            <a:spLocks noGrp="1"/>
          </p:cNvSpPr>
          <p:nvPr>
            <p:ph type="title"/>
          </p:nvPr>
        </p:nvSpPr>
        <p:spPr>
          <a:xfrm>
            <a:off x="628650" y="273844"/>
            <a:ext cx="7886700" cy="994172"/>
          </a:xfrm>
        </p:spPr>
        <p:txBody>
          <a:bodyPr>
            <a:normAutofit/>
          </a:bodyPr>
          <a:lstStyle/>
          <a:p>
            <a:pPr lvl="0" algn="ctr"/>
            <a:r>
              <a:rPr lang="en-US" sz="1700" b="1" u="sng" dirty="0" smtClean="0">
                <a:solidFill>
                  <a:schemeClr val="accent5">
                    <a:lumMod val="75000"/>
                  </a:schemeClr>
                </a:solidFill>
                <a:latin typeface="Times New Roman" panose="02020603050405020304" pitchFamily="18" charset="0"/>
                <a:cs typeface="Times New Roman" panose="02020603050405020304" pitchFamily="18" charset="0"/>
              </a:rPr>
              <a:t>CENTER FOR AI-IOT INNOVATION: KEY ACHIEVEMENTS (MARCH - SEPTEMBER 2025)</a:t>
            </a:r>
            <a:r>
              <a:rPr lang="en-US" sz="1700" b="1" dirty="0" smtClean="0">
                <a:solidFill>
                  <a:schemeClr val="accent5">
                    <a:lumMod val="75000"/>
                  </a:schemeClr>
                </a:solidFill>
                <a:latin typeface="Cambria"/>
                <a:ea typeface="Cambria"/>
                <a:cs typeface="Cambria"/>
                <a:sym typeface="Cambria"/>
              </a:rPr>
              <a:t/>
            </a:r>
            <a:br>
              <a:rPr lang="en-US" sz="1700" b="1" dirty="0" smtClean="0">
                <a:solidFill>
                  <a:schemeClr val="accent5">
                    <a:lumMod val="75000"/>
                  </a:schemeClr>
                </a:solidFill>
                <a:latin typeface="Cambria"/>
                <a:ea typeface="Cambria"/>
                <a:cs typeface="Cambria"/>
                <a:sym typeface="Cambria"/>
              </a:rPr>
            </a:br>
            <a:endParaRPr lang="en-IN" sz="1700" dirty="0"/>
          </a:p>
        </p:txBody>
      </p:sp>
      <p:sp>
        <p:nvSpPr>
          <p:cNvPr id="10" name="Text Placeholder 2"/>
          <p:cNvSpPr txBox="1">
            <a:spLocks/>
          </p:cNvSpPr>
          <p:nvPr/>
        </p:nvSpPr>
        <p:spPr>
          <a:xfrm>
            <a:off x="628650" y="1369219"/>
            <a:ext cx="7886700" cy="326350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39700" indent="0">
              <a:buFont typeface="Arial"/>
              <a:buNone/>
            </a:pPr>
            <a:r>
              <a:rPr lang="en-US" sz="1200" b="1" dirty="0" smtClean="0">
                <a:solidFill>
                  <a:schemeClr val="tx1"/>
                </a:solidFill>
                <a:latin typeface="Times New Roman" panose="02020603050405020304" pitchFamily="18" charset="0"/>
                <a:cs typeface="Times New Roman" panose="02020603050405020304" pitchFamily="18" charset="0"/>
              </a:rPr>
              <a:t>I. Impact &amp; Reach</a:t>
            </a:r>
          </a:p>
          <a:p>
            <a:r>
              <a:rPr lang="en-US" sz="1200" dirty="0" smtClean="0">
                <a:solidFill>
                  <a:schemeClr val="tx1"/>
                </a:solidFill>
                <a:latin typeface="Times New Roman" panose="02020603050405020304" pitchFamily="18" charset="0"/>
                <a:cs typeface="Times New Roman" panose="02020603050405020304" pitchFamily="18" charset="0"/>
              </a:rPr>
              <a:t>Total Participants: Over 450 students and faculty trained across various programs.</a:t>
            </a:r>
          </a:p>
          <a:p>
            <a:r>
              <a:rPr lang="en-US" sz="1200" dirty="0" smtClean="0">
                <a:solidFill>
                  <a:schemeClr val="tx1"/>
                </a:solidFill>
                <a:latin typeface="Times New Roman" panose="02020603050405020304" pitchFamily="18" charset="0"/>
                <a:cs typeface="Times New Roman" panose="02020603050405020304" pitchFamily="18" charset="0"/>
              </a:rPr>
              <a:t>Internship Program Success: Trained 9 interns who, in turn, independently conducted training sessions, demonstrating a successful "learn-to-teach" model.</a:t>
            </a:r>
          </a:p>
          <a:p>
            <a:pPr marL="114300" indent="0">
              <a:buNone/>
            </a:pPr>
            <a:endParaRPr lang="en-US" sz="12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200" b="1" dirty="0" smtClean="0">
                <a:solidFill>
                  <a:schemeClr val="tx1"/>
                </a:solidFill>
                <a:latin typeface="Times New Roman" panose="02020603050405020304" pitchFamily="18" charset="0"/>
                <a:cs typeface="Times New Roman" panose="02020603050405020304" pitchFamily="18" charset="0"/>
              </a:rPr>
              <a:t>II. Research </a:t>
            </a:r>
            <a:r>
              <a:rPr lang="en-IN" sz="1200" b="1" dirty="0">
                <a:solidFill>
                  <a:schemeClr val="tx1"/>
                </a:solidFill>
                <a:latin typeface="Times New Roman" panose="02020603050405020304" pitchFamily="18" charset="0"/>
                <a:cs typeface="Times New Roman" panose="02020603050405020304" pitchFamily="18" charset="0"/>
              </a:rPr>
              <a:t>Achievements </a:t>
            </a:r>
          </a:p>
          <a:p>
            <a:r>
              <a:rPr lang="en-US" sz="1200" dirty="0">
                <a:solidFill>
                  <a:schemeClr val="tx1"/>
                </a:solidFill>
                <a:latin typeface="Times New Roman" panose="02020603050405020304" pitchFamily="18" charset="0"/>
                <a:cs typeface="Times New Roman" panose="02020603050405020304" pitchFamily="18" charset="0"/>
              </a:rPr>
              <a:t>Published: “Comparative Analysis of RNN Models for Air Pollution Forecasting” – ICICDS </a:t>
            </a:r>
            <a:r>
              <a:rPr lang="en-US" sz="1200" dirty="0" smtClean="0">
                <a:solidFill>
                  <a:schemeClr val="tx1"/>
                </a:solidFill>
                <a:latin typeface="Times New Roman" panose="02020603050405020304" pitchFamily="18" charset="0"/>
                <a:cs typeface="Times New Roman" panose="02020603050405020304" pitchFamily="18" charset="0"/>
              </a:rPr>
              <a:t>2025</a:t>
            </a:r>
          </a:p>
          <a:p>
            <a:r>
              <a:rPr lang="en-US" sz="1200" dirty="0" smtClean="0">
                <a:solidFill>
                  <a:schemeClr val="tx1"/>
                </a:solidFill>
                <a:latin typeface="Times New Roman" panose="02020603050405020304" pitchFamily="18" charset="0"/>
                <a:cs typeface="Times New Roman" panose="02020603050405020304" pitchFamily="18" charset="0"/>
              </a:rPr>
              <a:t>Communicated</a:t>
            </a:r>
            <a:r>
              <a:rPr lang="en-US" sz="1200" dirty="0">
                <a:solidFill>
                  <a:schemeClr val="tx1"/>
                </a:solidFill>
                <a:latin typeface="Times New Roman" panose="02020603050405020304" pitchFamily="18" charset="0"/>
                <a:cs typeface="Times New Roman" panose="02020603050405020304" pitchFamily="18" charset="0"/>
              </a:rPr>
              <a:t>: “A Comparative Analysis of Conventional Methods for Sensor-Driven Spatial Interpolation for Air Quality Monitoring” – Engineering, Technology &amp; Applied Science Research (</a:t>
            </a:r>
            <a:r>
              <a:rPr lang="en-US" sz="1200" dirty="0" smtClean="0">
                <a:solidFill>
                  <a:schemeClr val="tx1"/>
                </a:solidFill>
                <a:latin typeface="Times New Roman" panose="02020603050405020304" pitchFamily="18" charset="0"/>
                <a:cs typeface="Times New Roman" panose="02020603050405020304" pitchFamily="18" charset="0"/>
              </a:rPr>
              <a:t>ETASR</a:t>
            </a:r>
          </a:p>
          <a:p>
            <a:r>
              <a:rPr lang="en-US" sz="1200" dirty="0" smtClean="0">
                <a:solidFill>
                  <a:schemeClr val="tx1"/>
                </a:solidFill>
                <a:latin typeface="Times New Roman" panose="02020603050405020304" pitchFamily="18" charset="0"/>
                <a:cs typeface="Times New Roman" panose="02020603050405020304" pitchFamily="18" charset="0"/>
              </a:rPr>
              <a:t>Accepted </a:t>
            </a:r>
            <a:r>
              <a:rPr lang="en-US" sz="1200" dirty="0">
                <a:solidFill>
                  <a:schemeClr val="tx1"/>
                </a:solidFill>
                <a:latin typeface="Times New Roman" panose="02020603050405020304" pitchFamily="18" charset="0"/>
                <a:cs typeface="Times New Roman" panose="02020603050405020304" pitchFamily="18" charset="0"/>
              </a:rPr>
              <a:t>for Presentation: “AI-Based Environmental Pollution Monitoring with Personalized Health Risk Assessment” – Second International Conference on Security, Surveillance and Artificial Intelligence (ICSSAI-2025)</a:t>
            </a:r>
            <a:endParaRPr lang="en-IN" sz="1200" dirty="0" smtClean="0">
              <a:solidFill>
                <a:schemeClr val="tx1"/>
              </a:solidFill>
              <a:latin typeface="Times New Roman" panose="02020603050405020304" pitchFamily="18" charset="0"/>
              <a:cs typeface="Times New Roman" panose="02020603050405020304" pitchFamily="18" charset="0"/>
            </a:endParaRPr>
          </a:p>
          <a:p>
            <a:endParaRPr lang="en-US" sz="1200" dirty="0" smtClean="0">
              <a:solidFill>
                <a:schemeClr val="tx1"/>
              </a:solidFill>
              <a:latin typeface="Times New Roman" panose="02020603050405020304" pitchFamily="18" charset="0"/>
              <a:cs typeface="Times New Roman" panose="02020603050405020304" pitchFamily="18" charset="0"/>
            </a:endParaRPr>
          </a:p>
          <a:p>
            <a:pPr marL="139700" indent="0">
              <a:buFont typeface="Arial"/>
              <a:buNone/>
            </a:pPr>
            <a:endParaRPr lang="en-IN" dirty="0" smtClean="0">
              <a:solidFill>
                <a:schemeClr val="tx1"/>
              </a:solidFill>
            </a:endParaRPr>
          </a:p>
        </p:txBody>
      </p:sp>
    </p:spTree>
    <p:extLst>
      <p:ext uri="{BB962C8B-B14F-4D97-AF65-F5344CB8AC3E}">
        <p14:creationId xmlns:p14="http://schemas.microsoft.com/office/powerpoint/2010/main" val="36891416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1018081181"/>
              </p:ext>
            </p:extLst>
          </p:nvPr>
        </p:nvGraphicFramePr>
        <p:xfrm>
          <a:off x="597867" y="645950"/>
          <a:ext cx="7824354" cy="4162773"/>
        </p:xfrm>
        <a:graphic>
          <a:graphicData uri="http://schemas.openxmlformats.org/drawingml/2006/table">
            <a:tbl>
              <a:tblPr firstRow="1" bandRow="1">
                <a:tableStyleId>{1E171933-4619-4E11-9A3F-F7608DF75F80}</a:tableStyleId>
              </a:tblPr>
              <a:tblGrid>
                <a:gridCol w="1614391">
                  <a:extLst>
                    <a:ext uri="{9D8B030D-6E8A-4147-A177-3AD203B41FA5}">
                      <a16:colId xmlns:a16="http://schemas.microsoft.com/office/drawing/2014/main" val="1603551715"/>
                    </a:ext>
                  </a:extLst>
                </a:gridCol>
                <a:gridCol w="993727">
                  <a:extLst>
                    <a:ext uri="{9D8B030D-6E8A-4147-A177-3AD203B41FA5}">
                      <a16:colId xmlns:a16="http://schemas.microsoft.com/office/drawing/2014/main" val="92619502"/>
                    </a:ext>
                  </a:extLst>
                </a:gridCol>
                <a:gridCol w="623457">
                  <a:extLst>
                    <a:ext uri="{9D8B030D-6E8A-4147-A177-3AD203B41FA5}">
                      <a16:colId xmlns:a16="http://schemas.microsoft.com/office/drawing/2014/main" val="2800890429"/>
                    </a:ext>
                  </a:extLst>
                </a:gridCol>
                <a:gridCol w="862445">
                  <a:extLst>
                    <a:ext uri="{9D8B030D-6E8A-4147-A177-3AD203B41FA5}">
                      <a16:colId xmlns:a16="http://schemas.microsoft.com/office/drawing/2014/main" val="2010166995"/>
                    </a:ext>
                  </a:extLst>
                </a:gridCol>
                <a:gridCol w="987136">
                  <a:extLst>
                    <a:ext uri="{9D8B030D-6E8A-4147-A177-3AD203B41FA5}">
                      <a16:colId xmlns:a16="http://schemas.microsoft.com/office/drawing/2014/main" val="2405784957"/>
                    </a:ext>
                  </a:extLst>
                </a:gridCol>
                <a:gridCol w="2743198">
                  <a:extLst>
                    <a:ext uri="{9D8B030D-6E8A-4147-A177-3AD203B41FA5}">
                      <a16:colId xmlns:a16="http://schemas.microsoft.com/office/drawing/2014/main" val="2490922454"/>
                    </a:ext>
                  </a:extLst>
                </a:gridCol>
              </a:tblGrid>
              <a:tr h="412577">
                <a:tc>
                  <a:txBody>
                    <a:bodyPr/>
                    <a:lstStyle/>
                    <a:p>
                      <a:pPr algn="l" rtl="0" fontAlgn="b"/>
                      <a:r>
                        <a:rPr lang="en-IN" sz="900" dirty="0">
                          <a:solidFill>
                            <a:schemeClr val="tx1"/>
                          </a:solidFill>
                          <a:effectLst/>
                          <a:latin typeface="Times New Roman" panose="02020603050405020304" pitchFamily="18" charset="0"/>
                          <a:cs typeface="Times New Roman" panose="02020603050405020304" pitchFamily="18" charset="0"/>
                        </a:rPr>
                        <a:t>Program Title</a:t>
                      </a:r>
                    </a:p>
                  </a:txBody>
                  <a:tcPr marL="28575" marR="28575" marT="19050" marB="19050" anchor="b"/>
                </a:tc>
                <a:tc>
                  <a:txBody>
                    <a:bodyPr/>
                    <a:lstStyle/>
                    <a:p>
                      <a:pPr algn="l" rtl="0" fontAlgn="b"/>
                      <a:r>
                        <a:rPr lang="en-IN" sz="900" dirty="0">
                          <a:solidFill>
                            <a:schemeClr val="tx1"/>
                          </a:solidFill>
                          <a:effectLst/>
                          <a:latin typeface="Times New Roman" panose="02020603050405020304" pitchFamily="18" charset="0"/>
                          <a:cs typeface="Times New Roman" panose="02020603050405020304" pitchFamily="18" charset="0"/>
                        </a:rPr>
                        <a:t>Type</a:t>
                      </a:r>
                    </a:p>
                  </a:txBody>
                  <a:tcPr marL="28575" marR="28575" marT="19050" marB="19050" anchor="b"/>
                </a:tc>
                <a:tc>
                  <a:txBody>
                    <a:bodyPr/>
                    <a:lstStyle/>
                    <a:p>
                      <a:pPr algn="l" rtl="0" fontAlgn="b"/>
                      <a:r>
                        <a:rPr lang="en-IN" sz="900" dirty="0">
                          <a:solidFill>
                            <a:schemeClr val="tx1"/>
                          </a:solidFill>
                          <a:effectLst/>
                          <a:latin typeface="Times New Roman" panose="02020603050405020304" pitchFamily="18" charset="0"/>
                          <a:cs typeface="Times New Roman" panose="02020603050405020304" pitchFamily="18" charset="0"/>
                        </a:rPr>
                        <a:t>Duration</a:t>
                      </a:r>
                    </a:p>
                  </a:txBody>
                  <a:tcPr marL="28575" marR="28575" marT="19050" marB="19050" anchor="b"/>
                </a:tc>
                <a:tc>
                  <a:txBody>
                    <a:bodyPr/>
                    <a:lstStyle/>
                    <a:p>
                      <a:pPr algn="l" rtl="0" fontAlgn="b"/>
                      <a:r>
                        <a:rPr lang="en-IN" sz="900" dirty="0">
                          <a:solidFill>
                            <a:schemeClr val="tx1"/>
                          </a:solidFill>
                          <a:effectLst/>
                          <a:latin typeface="Times New Roman" panose="02020603050405020304" pitchFamily="18" charset="0"/>
                          <a:cs typeface="Times New Roman" panose="02020603050405020304" pitchFamily="18" charset="0"/>
                        </a:rPr>
                        <a:t>Dates</a:t>
                      </a:r>
                    </a:p>
                  </a:txBody>
                  <a:tcPr marL="28575" marR="28575" marT="19050" marB="19050" anchor="b"/>
                </a:tc>
                <a:tc>
                  <a:txBody>
                    <a:bodyPr/>
                    <a:lstStyle/>
                    <a:p>
                      <a:pPr algn="l" rtl="0" fontAlgn="b"/>
                      <a:r>
                        <a:rPr lang="en-IN" sz="900" dirty="0">
                          <a:solidFill>
                            <a:schemeClr val="tx1"/>
                          </a:solidFill>
                          <a:effectLst/>
                          <a:latin typeface="Times New Roman" panose="02020603050405020304" pitchFamily="18" charset="0"/>
                          <a:cs typeface="Times New Roman" panose="02020603050405020304" pitchFamily="18" charset="0"/>
                        </a:rPr>
                        <a:t>Participants</a:t>
                      </a:r>
                    </a:p>
                  </a:txBody>
                  <a:tcPr marL="28575" marR="28575" marT="19050" marB="19050" anchor="b"/>
                </a:tc>
                <a:tc>
                  <a:txBody>
                    <a:bodyPr/>
                    <a:lstStyle/>
                    <a:p>
                      <a:pPr algn="l" rtl="0" fontAlgn="b"/>
                      <a:r>
                        <a:rPr lang="en-IN" sz="900" dirty="0">
                          <a:solidFill>
                            <a:schemeClr val="tx1"/>
                          </a:solidFill>
                          <a:effectLst/>
                          <a:latin typeface="Times New Roman" panose="02020603050405020304" pitchFamily="18" charset="0"/>
                          <a:cs typeface="Times New Roman" panose="02020603050405020304" pitchFamily="18" charset="0"/>
                        </a:rPr>
                        <a:t>Key Focus Areas</a:t>
                      </a:r>
                    </a:p>
                  </a:txBody>
                  <a:tcPr marL="0" marR="0" marT="19050" marB="19050" anchor="b"/>
                </a:tc>
                <a:extLst>
                  <a:ext uri="{0D108BD9-81ED-4DB2-BD59-A6C34878D82A}">
                    <a16:rowId xmlns:a16="http://schemas.microsoft.com/office/drawing/2014/main" val="2573181855"/>
                  </a:ext>
                </a:extLst>
              </a:tr>
              <a:tr h="412577">
                <a:tc>
                  <a:txBody>
                    <a:bodyPr/>
                    <a:lstStyle/>
                    <a:p>
                      <a:pPr algn="l" rtl="0" fontAlgn="b"/>
                      <a:r>
                        <a:rPr lang="it-IT" sz="900" dirty="0">
                          <a:effectLst/>
                          <a:latin typeface="Times New Roman" panose="02020603050405020304" pitchFamily="18" charset="0"/>
                          <a:cs typeface="Times New Roman" panose="02020603050405020304" pitchFamily="18" charset="0"/>
                        </a:rPr>
                        <a:t>IoT Impression – Arduino &amp; Raspberry Pi</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Hands-on Workshop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1 Day</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March 19,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40 Participants</a:t>
                      </a:r>
                    </a:p>
                  </a:txBody>
                  <a:tcPr marL="28575" marR="28575" marT="19050" marB="19050" anchor="b"/>
                </a:tc>
                <a:tc>
                  <a:txBody>
                    <a:bodyPr/>
                    <a:lstStyle/>
                    <a:p>
                      <a:pPr algn="l" rtl="0" fontAlgn="b"/>
                      <a:r>
                        <a:rPr lang="en-US" sz="900">
                          <a:effectLst/>
                          <a:latin typeface="Times New Roman" panose="02020603050405020304" pitchFamily="18" charset="0"/>
                          <a:cs typeface="Times New Roman" panose="02020603050405020304" pitchFamily="18" charset="0"/>
                        </a:rPr>
                        <a:t>Foundational understanding and practical skills in Arduino and Raspberry Pi.</a:t>
                      </a:r>
                    </a:p>
                  </a:txBody>
                  <a:tcPr marL="0" marR="0" marT="19050" marB="19050" anchor="b"/>
                </a:tc>
                <a:extLst>
                  <a:ext uri="{0D108BD9-81ED-4DB2-BD59-A6C34878D82A}">
                    <a16:rowId xmlns:a16="http://schemas.microsoft.com/office/drawing/2014/main" val="886375780"/>
                  </a:ext>
                </a:extLst>
              </a:tr>
              <a:tr h="412577">
                <a:tc>
                  <a:txBody>
                    <a:bodyPr/>
                    <a:lstStyle/>
                    <a:p>
                      <a:pPr algn="l" rtl="0" fontAlgn="b"/>
                      <a:r>
                        <a:rPr lang="en-IN" sz="900" dirty="0">
                          <a:effectLst/>
                          <a:latin typeface="Times New Roman" panose="02020603050405020304" pitchFamily="18" charset="0"/>
                          <a:cs typeface="Times New Roman" panose="02020603050405020304" pitchFamily="18" charset="0"/>
                        </a:rPr>
                        <a:t>Electronic Prototyping &amp; </a:t>
                      </a:r>
                      <a:r>
                        <a:rPr lang="en-IN" sz="900" dirty="0" err="1">
                          <a:effectLst/>
                          <a:latin typeface="Times New Roman" panose="02020603050405020304" pitchFamily="18" charset="0"/>
                          <a:cs typeface="Times New Roman" panose="02020603050405020304" pitchFamily="18" charset="0"/>
                        </a:rPr>
                        <a:t>IoT</a:t>
                      </a:r>
                      <a:r>
                        <a:rPr lang="en-IN" sz="900" dirty="0">
                          <a:effectLst/>
                          <a:latin typeface="Times New Roman" panose="02020603050405020304" pitchFamily="18" charset="0"/>
                          <a:cs typeface="Times New Roman" panose="02020603050405020304" pitchFamily="18" charset="0"/>
                        </a:rPr>
                        <a:t> Solutions</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Summer Internship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15 Days</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June 2 - 24,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49 Students (9 Teams)</a:t>
                      </a:r>
                    </a:p>
                  </a:txBody>
                  <a:tcPr marL="28575" marR="28575" marT="19050" marB="19050" anchor="b"/>
                </a:tc>
                <a:tc>
                  <a:txBody>
                    <a:bodyPr/>
                    <a:lstStyle/>
                    <a:p>
                      <a:pPr algn="l" rtl="0" fontAlgn="b"/>
                      <a:r>
                        <a:rPr lang="en-US" sz="900">
                          <a:effectLst/>
                          <a:latin typeface="Times New Roman" panose="02020603050405020304" pitchFamily="18" charset="0"/>
                          <a:cs typeface="Times New Roman" panose="02020603050405020304" pitchFamily="18" charset="0"/>
                        </a:rPr>
                        <a:t>Microcontrollers, PCB Design, IoT Development, culminating in a Project Expo.</a:t>
                      </a:r>
                    </a:p>
                  </a:txBody>
                  <a:tcPr marL="0" marR="0" marT="19050" marB="19050" anchor="b"/>
                </a:tc>
                <a:extLst>
                  <a:ext uri="{0D108BD9-81ED-4DB2-BD59-A6C34878D82A}">
                    <a16:rowId xmlns:a16="http://schemas.microsoft.com/office/drawing/2014/main" val="3022304234"/>
                  </a:ext>
                </a:extLst>
              </a:tr>
              <a:tr h="412577">
                <a:tc>
                  <a:txBody>
                    <a:bodyPr/>
                    <a:lstStyle/>
                    <a:p>
                      <a:pPr algn="l" rtl="0" fontAlgn="b"/>
                      <a:r>
                        <a:rPr lang="en-US" sz="900">
                          <a:effectLst/>
                          <a:latin typeface="Times New Roman" panose="02020603050405020304" pitchFamily="18" charset="0"/>
                          <a:cs typeface="Times New Roman" panose="02020603050405020304" pitchFamily="18" charset="0"/>
                        </a:rPr>
                        <a:t>IoT Powered Robotics: ESP8266 to Raspberry Pi</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Workshop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3 Days</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June 25 - 27,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37 Participants</a:t>
                      </a:r>
                    </a:p>
                  </a:txBody>
                  <a:tcPr marL="28575" marR="28575" marT="19050" marB="19050" anchor="b"/>
                </a:tc>
                <a:tc>
                  <a:txBody>
                    <a:bodyPr/>
                    <a:lstStyle/>
                    <a:p>
                      <a:pPr algn="l" rtl="0" fontAlgn="b"/>
                      <a:r>
                        <a:rPr lang="en-US" sz="900">
                          <a:effectLst/>
                          <a:latin typeface="Times New Roman" panose="02020603050405020304" pitchFamily="18" charset="0"/>
                          <a:cs typeface="Times New Roman" panose="02020603050405020304" pitchFamily="18" charset="0"/>
                        </a:rPr>
                        <a:t>Integrating ESP8266 and Raspberry Pi for smart, connected robotic systems.</a:t>
                      </a:r>
                    </a:p>
                  </a:txBody>
                  <a:tcPr marL="0" marR="0" marT="19050" marB="19050" anchor="b"/>
                </a:tc>
                <a:extLst>
                  <a:ext uri="{0D108BD9-81ED-4DB2-BD59-A6C34878D82A}">
                    <a16:rowId xmlns:a16="http://schemas.microsoft.com/office/drawing/2014/main" val="2309901103"/>
                  </a:ext>
                </a:extLst>
              </a:tr>
              <a:tr h="412577">
                <a:tc>
                  <a:txBody>
                    <a:bodyPr/>
                    <a:lstStyle/>
                    <a:p>
                      <a:pPr algn="l" rtl="0" fontAlgn="b"/>
                      <a:r>
                        <a:rPr lang="en-US" sz="900">
                          <a:effectLst/>
                          <a:latin typeface="Times New Roman" panose="02020603050405020304" pitchFamily="18" charset="0"/>
                          <a:cs typeface="Times New Roman" panose="02020603050405020304" pitchFamily="18" charset="0"/>
                        </a:rPr>
                        <a:t>Technical Workshop on IoT-Powered Robotics</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Faculty Development Programme (FDP)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3 Days</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June 25 - 27,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Faculty, Staff, Scholars</a:t>
                      </a:r>
                    </a:p>
                  </a:txBody>
                  <a:tcPr marL="28575" marR="28575" marT="19050" marB="19050" anchor="b"/>
                </a:tc>
                <a:tc>
                  <a:txBody>
                    <a:bodyPr/>
                    <a:lstStyle/>
                    <a:p>
                      <a:pPr algn="l" rtl="0" fontAlgn="b"/>
                      <a:r>
                        <a:rPr lang="en-US" sz="900">
                          <a:effectLst/>
                          <a:latin typeface="Times New Roman" panose="02020603050405020304" pitchFamily="18" charset="0"/>
                          <a:cs typeface="Times New Roman" panose="02020603050405020304" pitchFamily="18" charset="0"/>
                        </a:rPr>
                        <a:t>Enhancing expertise in leveraging ESP8266 and Raspberry Pi for robotic control.</a:t>
                      </a:r>
                    </a:p>
                  </a:txBody>
                  <a:tcPr marL="0" marR="0" marT="19050" marB="19050" anchor="b"/>
                </a:tc>
                <a:extLst>
                  <a:ext uri="{0D108BD9-81ED-4DB2-BD59-A6C34878D82A}">
                    <a16:rowId xmlns:a16="http://schemas.microsoft.com/office/drawing/2014/main" val="3686016899"/>
                  </a:ext>
                </a:extLst>
              </a:tr>
              <a:tr h="412577">
                <a:tc>
                  <a:txBody>
                    <a:bodyPr/>
                    <a:lstStyle/>
                    <a:p>
                      <a:pPr algn="l" rtl="0" fontAlgn="b"/>
                      <a:r>
                        <a:rPr lang="en-US" sz="900">
                          <a:effectLst/>
                          <a:latin typeface="Times New Roman" panose="02020603050405020304" pitchFamily="18" charset="0"/>
                          <a:cs typeface="Times New Roman" panose="02020603050405020304" pitchFamily="18" charset="0"/>
                        </a:rPr>
                        <a:t>IoT Prototyping and PCB Design</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Value-Added Course</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4 Days</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July 1 - 4,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S3 EEE Students</a:t>
                      </a:r>
                    </a:p>
                  </a:txBody>
                  <a:tcPr marL="28575" marR="28575" marT="19050" marB="19050" anchor="b"/>
                </a:tc>
                <a:tc>
                  <a:txBody>
                    <a:bodyPr/>
                    <a:lstStyle/>
                    <a:p>
                      <a:pPr algn="l" rtl="0" fontAlgn="b"/>
                      <a:r>
                        <a:rPr lang="en-US" sz="900">
                          <a:effectLst/>
                          <a:latin typeface="Times New Roman" panose="02020603050405020304" pitchFamily="18" charset="0"/>
                          <a:cs typeface="Times New Roman" panose="02020603050405020304" pitchFamily="18" charset="0"/>
                        </a:rPr>
                        <a:t>Hands-on with IoT Hardware, Embedded Systems, and KiCad for PCB Design.</a:t>
                      </a:r>
                    </a:p>
                  </a:txBody>
                  <a:tcPr marL="0" marR="0" marT="19050" marB="19050" anchor="b"/>
                </a:tc>
                <a:extLst>
                  <a:ext uri="{0D108BD9-81ED-4DB2-BD59-A6C34878D82A}">
                    <a16:rowId xmlns:a16="http://schemas.microsoft.com/office/drawing/2014/main" val="3557416279"/>
                  </a:ext>
                </a:extLst>
              </a:tr>
              <a:tr h="412577">
                <a:tc>
                  <a:txBody>
                    <a:bodyPr/>
                    <a:lstStyle/>
                    <a:p>
                      <a:pPr algn="l" rtl="0" fontAlgn="b"/>
                      <a:r>
                        <a:rPr lang="en-US" sz="900">
                          <a:effectLst/>
                          <a:latin typeface="Times New Roman" panose="02020603050405020304" pitchFamily="18" charset="0"/>
                          <a:cs typeface="Times New Roman" panose="02020603050405020304" pitchFamily="18" charset="0"/>
                        </a:rPr>
                        <a:t>Edge Hardware Design: Prototyping and PCB Workshop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Comprehensive Workshop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10 Days</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July 7 - 17,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84 Students</a:t>
                      </a:r>
                    </a:p>
                  </a:txBody>
                  <a:tcPr marL="28575" marR="28575" marT="19050" marB="19050" anchor="b"/>
                </a:tc>
                <a:tc>
                  <a:txBody>
                    <a:bodyPr/>
                    <a:lstStyle/>
                    <a:p>
                      <a:pPr algn="l" rtl="0" fontAlgn="b"/>
                      <a:r>
                        <a:rPr lang="en-US" sz="900">
                          <a:effectLst/>
                          <a:latin typeface="Times New Roman" panose="02020603050405020304" pitchFamily="18" charset="0"/>
                          <a:cs typeface="Times New Roman" panose="02020603050405020304" pitchFamily="18" charset="0"/>
                        </a:rPr>
                        <a:t>Advanced IoT Prototyping and professional PCB Design for Edge Computing.</a:t>
                      </a:r>
                    </a:p>
                  </a:txBody>
                  <a:tcPr marL="0" marR="0" marT="19050" marB="19050" anchor="b"/>
                </a:tc>
                <a:extLst>
                  <a:ext uri="{0D108BD9-81ED-4DB2-BD59-A6C34878D82A}">
                    <a16:rowId xmlns:a16="http://schemas.microsoft.com/office/drawing/2014/main" val="2154916656"/>
                  </a:ext>
                </a:extLst>
              </a:tr>
              <a:tr h="412577">
                <a:tc>
                  <a:txBody>
                    <a:bodyPr/>
                    <a:lstStyle/>
                    <a:p>
                      <a:pPr algn="l" rtl="0" fontAlgn="b"/>
                      <a:r>
                        <a:rPr lang="en-US" sz="900">
                          <a:effectLst/>
                          <a:latin typeface="Times New Roman" panose="02020603050405020304" pitchFamily="18" charset="0"/>
                          <a:cs typeface="Times New Roman" panose="02020603050405020304" pitchFamily="18" charset="0"/>
                        </a:rPr>
                        <a:t>Edge Hardware Design: IoT Prototyping and PCB Workshop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Value-Added Course</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8 Days</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July 7 - 14,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94 Students</a:t>
                      </a:r>
                    </a:p>
                  </a:txBody>
                  <a:tcPr marL="28575" marR="28575" marT="19050" marB="19050" anchor="b"/>
                </a:tc>
                <a:tc>
                  <a:txBody>
                    <a:bodyPr/>
                    <a:lstStyle/>
                    <a:p>
                      <a:pPr algn="l" rtl="0" fontAlgn="b"/>
                      <a:r>
                        <a:rPr lang="en-US" sz="900">
                          <a:effectLst/>
                          <a:latin typeface="Times New Roman" panose="02020603050405020304" pitchFamily="18" charset="0"/>
                          <a:cs typeface="Times New Roman" panose="02020603050405020304" pitchFamily="18" charset="0"/>
                        </a:rPr>
                        <a:t>Intensive, hands-on training in Embedded Systems, Arduino programming, and KiCad PCB Design.</a:t>
                      </a:r>
                    </a:p>
                  </a:txBody>
                  <a:tcPr marL="0" marR="0" marT="19050" marB="19050" anchor="b"/>
                </a:tc>
                <a:extLst>
                  <a:ext uri="{0D108BD9-81ED-4DB2-BD59-A6C34878D82A}">
                    <a16:rowId xmlns:a16="http://schemas.microsoft.com/office/drawing/2014/main" val="1816170404"/>
                  </a:ext>
                </a:extLst>
              </a:tr>
              <a:tr h="412577">
                <a:tc>
                  <a:txBody>
                    <a:bodyPr/>
                    <a:lstStyle/>
                    <a:p>
                      <a:pPr algn="l" rtl="0" fontAlgn="b"/>
                      <a:r>
                        <a:rPr lang="en-IN" sz="900">
                          <a:effectLst/>
                          <a:latin typeface="Times New Roman" panose="02020603050405020304" pitchFamily="18" charset="0"/>
                          <a:cs typeface="Times New Roman" panose="02020603050405020304" pitchFamily="18" charset="0"/>
                        </a:rPr>
                        <a:t>Embedded System and Digital Design</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Workshop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5 Days</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July 16 - 21,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51 Participants</a:t>
                      </a:r>
                    </a:p>
                  </a:txBody>
                  <a:tcPr marL="28575" marR="28575" marT="19050" marB="19050" anchor="b"/>
                </a:tc>
                <a:tc>
                  <a:txBody>
                    <a:bodyPr/>
                    <a:lstStyle/>
                    <a:p>
                      <a:pPr algn="l" rtl="0" fontAlgn="b"/>
                      <a:r>
                        <a:rPr lang="en-US" sz="900">
                          <a:effectLst/>
                          <a:latin typeface="Times New Roman" panose="02020603050405020304" pitchFamily="18" charset="0"/>
                          <a:cs typeface="Times New Roman" panose="02020603050405020304" pitchFamily="18" charset="0"/>
                        </a:rPr>
                        <a:t>Fundamentals of Embedded Systems and Digital Design principles.</a:t>
                      </a:r>
                    </a:p>
                  </a:txBody>
                  <a:tcPr marL="0" marR="0" marT="19050" marB="19050" anchor="b"/>
                </a:tc>
                <a:extLst>
                  <a:ext uri="{0D108BD9-81ED-4DB2-BD59-A6C34878D82A}">
                    <a16:rowId xmlns:a16="http://schemas.microsoft.com/office/drawing/2014/main" val="260936711"/>
                  </a:ext>
                </a:extLst>
              </a:tr>
              <a:tr h="412577">
                <a:tc>
                  <a:txBody>
                    <a:bodyPr/>
                    <a:lstStyle/>
                    <a:p>
                      <a:pPr algn="l" rtl="0" fontAlgn="b"/>
                      <a:r>
                        <a:rPr lang="en-IN" sz="900">
                          <a:effectLst/>
                          <a:latin typeface="Times New Roman" panose="02020603050405020304" pitchFamily="18" charset="0"/>
                          <a:cs typeface="Times New Roman" panose="02020603050405020304" pitchFamily="18" charset="0"/>
                        </a:rPr>
                        <a:t>Raspberry Pi Workshop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Hands-on Workshop</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1 Day</a:t>
                      </a:r>
                    </a:p>
                  </a:txBody>
                  <a:tcPr marL="28575" marR="28575" marT="19050" marB="19050" anchor="b"/>
                </a:tc>
                <a:tc>
                  <a:txBody>
                    <a:bodyPr/>
                    <a:lstStyle/>
                    <a:p>
                      <a:pPr algn="l" rtl="0" fontAlgn="b"/>
                      <a:r>
                        <a:rPr lang="en-IN" sz="900" dirty="0">
                          <a:effectLst/>
                          <a:latin typeface="Times New Roman" panose="02020603050405020304" pitchFamily="18" charset="0"/>
                          <a:cs typeface="Times New Roman" panose="02020603050405020304" pitchFamily="18" charset="0"/>
                        </a:rPr>
                        <a:t>September 11, 2025</a:t>
                      </a:r>
                    </a:p>
                  </a:txBody>
                  <a:tcPr marL="28575" marR="28575" marT="19050" marB="19050" anchor="b"/>
                </a:tc>
                <a:tc>
                  <a:txBody>
                    <a:bodyPr/>
                    <a:lstStyle/>
                    <a:p>
                      <a:pPr algn="l" rtl="0" fontAlgn="b"/>
                      <a:r>
                        <a:rPr lang="en-IN" sz="900">
                          <a:effectLst/>
                          <a:latin typeface="Times New Roman" panose="02020603050405020304" pitchFamily="18" charset="0"/>
                          <a:cs typeface="Times New Roman" panose="02020603050405020304" pitchFamily="18" charset="0"/>
                        </a:rPr>
                        <a:t>Students</a:t>
                      </a:r>
                    </a:p>
                  </a:txBody>
                  <a:tcPr marL="28575" marR="28575" marT="19050" marB="19050" anchor="b"/>
                </a:tc>
                <a:tc>
                  <a:txBody>
                    <a:bodyPr/>
                    <a:lstStyle/>
                    <a:p>
                      <a:pPr algn="l" rtl="0" fontAlgn="b"/>
                      <a:r>
                        <a:rPr lang="en-US" sz="900" dirty="0">
                          <a:effectLst/>
                          <a:latin typeface="Times New Roman" panose="02020603050405020304" pitchFamily="18" charset="0"/>
                          <a:cs typeface="Times New Roman" panose="02020603050405020304" pitchFamily="18" charset="0"/>
                        </a:rPr>
                        <a:t>Practical skills in GPIO programming, Computer Vision, and </a:t>
                      </a:r>
                      <a:r>
                        <a:rPr lang="en-US" sz="900" dirty="0" err="1">
                          <a:effectLst/>
                          <a:latin typeface="Times New Roman" panose="02020603050405020304" pitchFamily="18" charset="0"/>
                          <a:cs typeface="Times New Roman" panose="02020603050405020304" pitchFamily="18" charset="0"/>
                        </a:rPr>
                        <a:t>OpenCV</a:t>
                      </a:r>
                      <a:r>
                        <a:rPr lang="en-US" sz="900" dirty="0">
                          <a:effectLst/>
                          <a:latin typeface="Times New Roman" panose="02020603050405020304" pitchFamily="18" charset="0"/>
                          <a:cs typeface="Times New Roman" panose="02020603050405020304" pitchFamily="18" charset="0"/>
                        </a:rPr>
                        <a:t> (hand gesture control).</a:t>
                      </a:r>
                    </a:p>
                  </a:txBody>
                  <a:tcPr marL="0" marR="0" marT="19050" marB="19050" anchor="b"/>
                </a:tc>
                <a:extLst>
                  <a:ext uri="{0D108BD9-81ED-4DB2-BD59-A6C34878D82A}">
                    <a16:rowId xmlns:a16="http://schemas.microsoft.com/office/drawing/2014/main" val="3042861385"/>
                  </a:ext>
                </a:extLst>
              </a:tr>
            </a:tbl>
          </a:graphicData>
        </a:graphic>
      </p:graphicFrame>
      <p:sp>
        <p:nvSpPr>
          <p:cNvPr id="9" name="TextBox 8"/>
          <p:cNvSpPr txBox="1"/>
          <p:nvPr/>
        </p:nvSpPr>
        <p:spPr>
          <a:xfrm>
            <a:off x="597867" y="268710"/>
            <a:ext cx="3356265" cy="461665"/>
          </a:xfrm>
          <a:prstGeom prst="rect">
            <a:avLst/>
          </a:prstGeom>
          <a:noFill/>
        </p:spPr>
        <p:txBody>
          <a:bodyPr wrap="square" rtlCol="0">
            <a:spAutoFit/>
          </a:bodyPr>
          <a:lstStyle/>
          <a:p>
            <a:r>
              <a:rPr lang="en-IN" sz="1200" b="1" dirty="0" smtClean="0">
                <a:latin typeface="Times New Roman" panose="02020603050405020304" pitchFamily="18" charset="0"/>
                <a:cs typeface="Times New Roman" panose="02020603050405020304" pitchFamily="18" charset="0"/>
              </a:rPr>
              <a:t>III</a:t>
            </a:r>
            <a:r>
              <a:rPr lang="en-IN" sz="1200" b="1" dirty="0">
                <a:latin typeface="Times New Roman" panose="02020603050405020304" pitchFamily="18" charset="0"/>
                <a:cs typeface="Times New Roman" panose="02020603050405020304" pitchFamily="18" charset="0"/>
              </a:rPr>
              <a:t>. Core Training Programs</a:t>
            </a:r>
            <a:endParaRPr lang="en-US" sz="1200" b="1" dirty="0">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38964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sp>
        <p:nvSpPr>
          <p:cNvPr id="9" name="Title 1"/>
          <p:cNvSpPr>
            <a:spLocks noGrp="1"/>
          </p:cNvSpPr>
          <p:nvPr>
            <p:ph type="title"/>
          </p:nvPr>
        </p:nvSpPr>
        <p:spPr>
          <a:xfrm>
            <a:off x="628650" y="273844"/>
            <a:ext cx="7886700" cy="994172"/>
          </a:xfrm>
        </p:spPr>
        <p:txBody>
          <a:bodyPr>
            <a:normAutofit/>
          </a:bodyPr>
          <a:lstStyle/>
          <a:p>
            <a:pPr lvl="0" algn="ctr"/>
            <a:r>
              <a:rPr lang="en-US" sz="1700" b="1" u="sng" dirty="0" smtClean="0">
                <a:solidFill>
                  <a:schemeClr val="accent5">
                    <a:lumMod val="75000"/>
                  </a:schemeClr>
                </a:solidFill>
                <a:latin typeface="Times New Roman" panose="02020603050405020304" pitchFamily="18" charset="0"/>
                <a:ea typeface="Cambria"/>
                <a:cs typeface="Times New Roman" panose="02020603050405020304" pitchFamily="18" charset="0"/>
                <a:sym typeface="Cambria"/>
              </a:rPr>
              <a:t>MINUTES OF THE PREVIOUS PRSG MEETING, SUGGESTIONS, AND ACTIONS TAKEN</a:t>
            </a:r>
            <a:endParaRPr lang="en-IN" sz="1700" u="sng"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980429637"/>
              </p:ext>
            </p:extLst>
          </p:nvPr>
        </p:nvGraphicFramePr>
        <p:xfrm>
          <a:off x="1032386" y="1140196"/>
          <a:ext cx="7256206" cy="3271046"/>
        </p:xfrm>
        <a:graphic>
          <a:graphicData uri="http://schemas.openxmlformats.org/drawingml/2006/table">
            <a:tbl>
              <a:tblPr firstRow="1" bandRow="1">
                <a:tableStyleId>{00A15C55-8517-42AA-B614-E9B94910E393}</a:tableStyleId>
              </a:tblPr>
              <a:tblGrid>
                <a:gridCol w="3628103">
                  <a:extLst>
                    <a:ext uri="{9D8B030D-6E8A-4147-A177-3AD203B41FA5}">
                      <a16:colId xmlns:a16="http://schemas.microsoft.com/office/drawing/2014/main" val="14520374"/>
                    </a:ext>
                  </a:extLst>
                </a:gridCol>
                <a:gridCol w="3628103">
                  <a:extLst>
                    <a:ext uri="{9D8B030D-6E8A-4147-A177-3AD203B41FA5}">
                      <a16:colId xmlns:a16="http://schemas.microsoft.com/office/drawing/2014/main" val="1794984757"/>
                    </a:ext>
                  </a:extLst>
                </a:gridCol>
              </a:tblGrid>
              <a:tr h="370840">
                <a:tc>
                  <a:txBody>
                    <a:bodyPr/>
                    <a:lstStyle/>
                    <a:p>
                      <a:pPr marL="470535" rtl="0" fontAlgn="t">
                        <a:spcBef>
                          <a:spcPts val="0"/>
                        </a:spcBef>
                        <a:spcAft>
                          <a:spcPts val="0"/>
                        </a:spcAft>
                      </a:pPr>
                      <a:r>
                        <a:rPr lang="en-IN" sz="1100" b="1" i="0" u="none" strike="noStrike" dirty="0">
                          <a:solidFill>
                            <a:srgbClr val="000000"/>
                          </a:solidFill>
                          <a:effectLst/>
                          <a:latin typeface="Times New Roman" panose="02020603050405020304" pitchFamily="18" charset="0"/>
                        </a:rPr>
                        <a:t>Suggestions from PRSG committee</a:t>
                      </a:r>
                      <a:endParaRPr lang="en-IN" sz="1100" dirty="0">
                        <a:effectLst/>
                      </a:endParaRPr>
                    </a:p>
                  </a:txBody>
                  <a:tcPr/>
                </a:tc>
                <a:tc>
                  <a:txBody>
                    <a:bodyPr/>
                    <a:lstStyle/>
                    <a:p>
                      <a:pPr marL="3810" algn="ctr" rtl="0" fontAlgn="t">
                        <a:spcBef>
                          <a:spcPts val="0"/>
                        </a:spcBef>
                        <a:spcAft>
                          <a:spcPts val="0"/>
                        </a:spcAft>
                      </a:pPr>
                      <a:r>
                        <a:rPr lang="en-IN" sz="1100" b="1" i="0" u="none" strike="noStrike">
                          <a:solidFill>
                            <a:srgbClr val="000000"/>
                          </a:solidFill>
                          <a:effectLst/>
                          <a:latin typeface="Times New Roman" panose="02020603050405020304" pitchFamily="18" charset="0"/>
                        </a:rPr>
                        <a:t>Action taken</a:t>
                      </a:r>
                      <a:endParaRPr lang="en-IN" sz="1100">
                        <a:effectLst/>
                      </a:endParaRPr>
                    </a:p>
                  </a:txBody>
                  <a:tcPr/>
                </a:tc>
                <a:extLst>
                  <a:ext uri="{0D108BD9-81ED-4DB2-BD59-A6C34878D82A}">
                    <a16:rowId xmlns:a16="http://schemas.microsoft.com/office/drawing/2014/main" val="119459270"/>
                  </a:ext>
                </a:extLst>
              </a:tr>
              <a:tr h="370840">
                <a:tc>
                  <a:txBody>
                    <a:bodyPr/>
                    <a:lstStyle/>
                    <a:p>
                      <a:pPr marL="67945" marR="59690"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The PRSG recommended that the systems and modules under development be appropriately benchmarked, with due attention given to their calibration and validation. The Committee further requested the C-MET's support in facilitating the validation and </a:t>
                      </a:r>
                      <a:r>
                        <a:rPr lang="en-US" sz="1100" b="0" i="0" u="none" strike="noStrike" dirty="0" err="1">
                          <a:solidFill>
                            <a:srgbClr val="000000"/>
                          </a:solidFill>
                          <a:effectLst/>
                          <a:latin typeface="Times New Roman" panose="02020603050405020304" pitchFamily="18" charset="0"/>
                        </a:rPr>
                        <a:t>standardisation</a:t>
                      </a:r>
                      <a:r>
                        <a:rPr lang="en-US" sz="1100" b="0" i="0" u="none" strike="noStrike" dirty="0">
                          <a:solidFill>
                            <a:srgbClr val="000000"/>
                          </a:solidFill>
                          <a:effectLst/>
                          <a:latin typeface="Times New Roman" panose="02020603050405020304" pitchFamily="18" charset="0"/>
                        </a:rPr>
                        <a:t> processes.</a:t>
                      </a:r>
                      <a:endParaRPr lang="en-US" sz="1100" dirty="0">
                        <a:effectLst/>
                      </a:endParaRPr>
                    </a:p>
                  </a:txBody>
                  <a:tcPr/>
                </a:tc>
                <a:tc>
                  <a:txBody>
                    <a:bodyPr/>
                    <a:lstStyle/>
                    <a:p>
                      <a:pPr marL="67945" marR="6413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Had discussion with C-MET regarding Calibration and Validation of systems developed.</a:t>
                      </a:r>
                      <a:endParaRPr lang="en-US" sz="1100" dirty="0">
                        <a:effectLst/>
                      </a:endParaRPr>
                    </a:p>
                  </a:txBody>
                  <a:tcPr/>
                </a:tc>
                <a:extLst>
                  <a:ext uri="{0D108BD9-81ED-4DB2-BD59-A6C34878D82A}">
                    <a16:rowId xmlns:a16="http://schemas.microsoft.com/office/drawing/2014/main" val="946204776"/>
                  </a:ext>
                </a:extLst>
              </a:tr>
              <a:tr h="781846">
                <a:tc>
                  <a:txBody>
                    <a:bodyPr/>
                    <a:lstStyle/>
                    <a:p>
                      <a:pPr marL="67945" rtl="0" fontAlgn="t">
                        <a:spcBef>
                          <a:spcPts val="0"/>
                        </a:spcBef>
                        <a:spcAft>
                          <a:spcPts val="0"/>
                        </a:spcAft>
                      </a:pPr>
                      <a:r>
                        <a:rPr lang="en-US" sz="1100" b="0" i="0" u="none" strike="noStrike" dirty="0">
                          <a:solidFill>
                            <a:srgbClr val="000000"/>
                          </a:solidFill>
                          <a:effectLst/>
                          <a:latin typeface="Times New Roman" panose="02020603050405020304" pitchFamily="18" charset="0"/>
                        </a:rPr>
                        <a:t>The PRSG urged the team to uphold data quality by incorporating real-time data acquisition and expanding the dataset, thereby enhancing the</a:t>
                      </a:r>
                      <a:endParaRPr lang="en-US" sz="1100" dirty="0">
                        <a:effectLst/>
                      </a:endParaRPr>
                    </a:p>
                    <a:p>
                      <a:pPr marL="67945" rtl="0" fontAlgn="t">
                        <a:spcBef>
                          <a:spcPts val="0"/>
                        </a:spcBef>
                        <a:spcAft>
                          <a:spcPts val="0"/>
                        </a:spcAft>
                      </a:pPr>
                      <a:r>
                        <a:rPr lang="en-US" sz="1100" b="0" i="0" u="none" strike="noStrike" dirty="0">
                          <a:solidFill>
                            <a:srgbClr val="000000"/>
                          </a:solidFill>
                          <a:effectLst/>
                          <a:latin typeface="Times New Roman" panose="02020603050405020304" pitchFamily="18" charset="0"/>
                        </a:rPr>
                        <a:t>system’s overall efficacy and reliability</a:t>
                      </a:r>
                      <a:r>
                        <a:rPr lang="en-US" sz="1100" b="0" i="0" u="none" strike="noStrike" dirty="0" smtClean="0">
                          <a:solidFill>
                            <a:srgbClr val="000000"/>
                          </a:solidFill>
                          <a:effectLst/>
                          <a:latin typeface="Times New Roman" panose="02020603050405020304" pitchFamily="18" charset="0"/>
                        </a:rPr>
                        <a:t>.</a:t>
                      </a:r>
                      <a:endParaRPr lang="en-US" sz="1100" dirty="0">
                        <a:effectLst/>
                      </a:endParaRPr>
                    </a:p>
                  </a:txBody>
                  <a:tcPr/>
                </a:tc>
                <a:tc>
                  <a:txBody>
                    <a:bodyPr/>
                    <a:lstStyle/>
                    <a:p>
                      <a:pPr marL="6794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Acquired Dam water level and release data from the upstream - </a:t>
                      </a:r>
                      <a:r>
                        <a:rPr lang="en-US" sz="1100" b="0" i="0" u="none" strike="noStrike" dirty="0" err="1">
                          <a:solidFill>
                            <a:srgbClr val="000000"/>
                          </a:solidFill>
                          <a:effectLst/>
                          <a:latin typeface="Times New Roman" panose="02020603050405020304" pitchFamily="18" charset="0"/>
                        </a:rPr>
                        <a:t>Bhoothathankettu</a:t>
                      </a:r>
                      <a:r>
                        <a:rPr lang="en-US" sz="1100" b="0" i="0" u="none" strike="noStrike" dirty="0">
                          <a:solidFill>
                            <a:srgbClr val="000000"/>
                          </a:solidFill>
                          <a:effectLst/>
                          <a:latin typeface="Times New Roman" panose="02020603050405020304" pitchFamily="18" charset="0"/>
                        </a:rPr>
                        <a:t> Dam and also collected the upstream rainfall data.</a:t>
                      </a:r>
                      <a:endParaRPr lang="en-US" sz="1100" dirty="0">
                        <a:effectLst/>
                      </a:endParaRPr>
                    </a:p>
                  </a:txBody>
                  <a:tcPr/>
                </a:tc>
                <a:extLst>
                  <a:ext uri="{0D108BD9-81ED-4DB2-BD59-A6C34878D82A}">
                    <a16:rowId xmlns:a16="http://schemas.microsoft.com/office/drawing/2014/main" val="3503759305"/>
                  </a:ext>
                </a:extLst>
              </a:tr>
              <a:tr h="370840">
                <a:tc>
                  <a:txBody>
                    <a:bodyPr/>
                    <a:lstStyle/>
                    <a:p>
                      <a:pPr marL="67945" rtl="0" fontAlgn="t">
                        <a:spcBef>
                          <a:spcPts val="0"/>
                        </a:spcBef>
                        <a:spcAft>
                          <a:spcPts val="0"/>
                        </a:spcAft>
                      </a:pPr>
                      <a:r>
                        <a:rPr lang="en-US" sz="1100" b="0" i="0" u="none" strike="noStrike" dirty="0">
                          <a:solidFill>
                            <a:srgbClr val="000000"/>
                          </a:solidFill>
                          <a:effectLst/>
                          <a:latin typeface="Times New Roman" panose="02020603050405020304" pitchFamily="18" charset="0"/>
                        </a:rPr>
                        <a:t>C-MET informed that the internal gas calibration at C-MET available at its facility can be made accessible to ASIET for use in the project</a:t>
                      </a:r>
                      <a:r>
                        <a:rPr lang="en-US" sz="1100" b="0" i="0" u="none" strike="noStrike" dirty="0" smtClean="0">
                          <a:solidFill>
                            <a:srgbClr val="000000"/>
                          </a:solidFill>
                          <a:effectLst/>
                          <a:latin typeface="Times New Roman" panose="02020603050405020304" pitchFamily="18" charset="0"/>
                        </a:rPr>
                        <a:t>.</a:t>
                      </a:r>
                      <a:endParaRPr lang="en-US" sz="1100" dirty="0">
                        <a:effectLst/>
                      </a:endParaRPr>
                    </a:p>
                  </a:txBody>
                  <a:tcPr/>
                </a:tc>
                <a:tc>
                  <a:txBody>
                    <a:bodyPr/>
                    <a:lstStyle/>
                    <a:p>
                      <a:pPr marL="67945" marR="6413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Had discussion with C-MET regarding internal gas calibration facility available at C-MET.</a:t>
                      </a:r>
                      <a:endParaRPr lang="en-US" sz="1100" dirty="0">
                        <a:effectLst/>
                      </a:endParaRPr>
                    </a:p>
                  </a:txBody>
                  <a:tcPr/>
                </a:tc>
                <a:extLst>
                  <a:ext uri="{0D108BD9-81ED-4DB2-BD59-A6C34878D82A}">
                    <a16:rowId xmlns:a16="http://schemas.microsoft.com/office/drawing/2014/main" val="3829947344"/>
                  </a:ext>
                </a:extLst>
              </a:tr>
              <a:tr h="370840">
                <a:tc>
                  <a:txBody>
                    <a:bodyPr/>
                    <a:lstStyle/>
                    <a:p>
                      <a:pPr marL="6794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The Committee recommended extending the monitoring duration to ensure the acquisition of accurate and reliable data</a:t>
                      </a:r>
                      <a:r>
                        <a:rPr lang="en-US" sz="1100" b="0" i="0" u="none" strike="noStrike" dirty="0" smtClean="0">
                          <a:solidFill>
                            <a:srgbClr val="000000"/>
                          </a:solidFill>
                          <a:effectLst/>
                          <a:latin typeface="Times New Roman" panose="02020603050405020304" pitchFamily="18" charset="0"/>
                        </a:rPr>
                        <a:t>.</a:t>
                      </a:r>
                      <a:endParaRPr lang="en-US" sz="1100" dirty="0">
                        <a:effectLst/>
                      </a:endParaRPr>
                    </a:p>
                  </a:txBody>
                  <a:tcPr/>
                </a:tc>
                <a:tc>
                  <a:txBody>
                    <a:bodyPr/>
                    <a:lstStyle/>
                    <a:p>
                      <a:pPr marL="67945" marR="63500"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Have been collecting 1minute interval Air quality and Weather data and also regularly monitoring reliability of the received data.</a:t>
                      </a:r>
                      <a:endParaRPr lang="en-US" sz="1100" dirty="0">
                        <a:effectLst/>
                      </a:endParaRPr>
                    </a:p>
                  </a:txBody>
                  <a:tcPr/>
                </a:tc>
                <a:extLst>
                  <a:ext uri="{0D108BD9-81ED-4DB2-BD59-A6C34878D82A}">
                    <a16:rowId xmlns:a16="http://schemas.microsoft.com/office/drawing/2014/main" val="2903407516"/>
                  </a:ext>
                </a:extLst>
              </a:tr>
            </a:tbl>
          </a:graphicData>
        </a:graphic>
      </p:graphicFrame>
    </p:spTree>
    <p:extLst>
      <p:ext uri="{BB962C8B-B14F-4D97-AF65-F5344CB8AC3E}">
        <p14:creationId xmlns:p14="http://schemas.microsoft.com/office/powerpoint/2010/main" val="34465274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28"/>
          <p:cNvSpPr/>
          <p:nvPr/>
        </p:nvSpPr>
        <p:spPr>
          <a:xfrm>
            <a:off x="0" y="107156"/>
            <a:ext cx="192000" cy="4835400"/>
          </a:xfrm>
          <a:prstGeom prst="rect">
            <a:avLst/>
          </a:prstGeom>
          <a:solidFill>
            <a:srgbClr val="A7190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97" name="Google Shape;197;p28"/>
          <p:cNvSpPr txBox="1"/>
          <p:nvPr/>
        </p:nvSpPr>
        <p:spPr>
          <a:xfrm>
            <a:off x="4876000" y="107150"/>
            <a:ext cx="43527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endParaRPr sz="2300" b="1">
              <a:solidFill>
                <a:srgbClr val="A7190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358147395"/>
              </p:ext>
            </p:extLst>
          </p:nvPr>
        </p:nvGraphicFramePr>
        <p:xfrm>
          <a:off x="865239" y="835396"/>
          <a:ext cx="7757650" cy="3765558"/>
        </p:xfrm>
        <a:graphic>
          <a:graphicData uri="http://schemas.openxmlformats.org/drawingml/2006/table">
            <a:tbl>
              <a:tblPr firstRow="1" bandRow="1">
                <a:tableStyleId>{00A15C55-8517-42AA-B614-E9B94910E393}</a:tableStyleId>
              </a:tblPr>
              <a:tblGrid>
                <a:gridCol w="3878825">
                  <a:extLst>
                    <a:ext uri="{9D8B030D-6E8A-4147-A177-3AD203B41FA5}">
                      <a16:colId xmlns:a16="http://schemas.microsoft.com/office/drawing/2014/main" val="14520374"/>
                    </a:ext>
                  </a:extLst>
                </a:gridCol>
                <a:gridCol w="3878825">
                  <a:extLst>
                    <a:ext uri="{9D8B030D-6E8A-4147-A177-3AD203B41FA5}">
                      <a16:colId xmlns:a16="http://schemas.microsoft.com/office/drawing/2014/main" val="1794984757"/>
                    </a:ext>
                  </a:extLst>
                </a:gridCol>
              </a:tblGrid>
              <a:tr h="368135">
                <a:tc>
                  <a:txBody>
                    <a:bodyPr/>
                    <a:lstStyle/>
                    <a:p>
                      <a:pPr marL="470535" rtl="0" fontAlgn="t">
                        <a:spcBef>
                          <a:spcPts val="0"/>
                        </a:spcBef>
                        <a:spcAft>
                          <a:spcPts val="0"/>
                        </a:spcAft>
                      </a:pPr>
                      <a:r>
                        <a:rPr lang="en-IN" sz="1100" b="1" i="0" u="none" strike="noStrike" dirty="0">
                          <a:solidFill>
                            <a:srgbClr val="000000"/>
                          </a:solidFill>
                          <a:effectLst/>
                          <a:latin typeface="Times New Roman" panose="02020603050405020304" pitchFamily="18" charset="0"/>
                        </a:rPr>
                        <a:t>Suggestions from PRSG committee</a:t>
                      </a:r>
                      <a:endParaRPr lang="en-IN" sz="1100" dirty="0">
                        <a:effectLst/>
                      </a:endParaRPr>
                    </a:p>
                  </a:txBody>
                  <a:tcPr/>
                </a:tc>
                <a:tc>
                  <a:txBody>
                    <a:bodyPr/>
                    <a:lstStyle/>
                    <a:p>
                      <a:pPr marL="3810" algn="ctr" rtl="0" fontAlgn="t">
                        <a:spcBef>
                          <a:spcPts val="0"/>
                        </a:spcBef>
                        <a:spcAft>
                          <a:spcPts val="0"/>
                        </a:spcAft>
                      </a:pPr>
                      <a:r>
                        <a:rPr lang="en-IN" sz="1100" b="1" i="0" u="none" strike="noStrike">
                          <a:solidFill>
                            <a:srgbClr val="000000"/>
                          </a:solidFill>
                          <a:effectLst/>
                          <a:latin typeface="Times New Roman" panose="02020603050405020304" pitchFamily="18" charset="0"/>
                        </a:rPr>
                        <a:t>Action taken</a:t>
                      </a:r>
                      <a:endParaRPr lang="en-IN" sz="1100">
                        <a:effectLst/>
                      </a:endParaRPr>
                    </a:p>
                  </a:txBody>
                  <a:tcPr/>
                </a:tc>
                <a:extLst>
                  <a:ext uri="{0D108BD9-81ED-4DB2-BD59-A6C34878D82A}">
                    <a16:rowId xmlns:a16="http://schemas.microsoft.com/office/drawing/2014/main" val="119459270"/>
                  </a:ext>
                </a:extLst>
              </a:tr>
              <a:tr h="423607">
                <a:tc>
                  <a:txBody>
                    <a:bodyPr/>
                    <a:lstStyle/>
                    <a:p>
                      <a:pPr marL="67945" rtl="0" fontAlgn="t">
                        <a:spcBef>
                          <a:spcPts val="0"/>
                        </a:spcBef>
                        <a:spcAft>
                          <a:spcPts val="0"/>
                        </a:spcAft>
                      </a:pPr>
                      <a:r>
                        <a:rPr lang="en-US" sz="1100" b="0" i="0" u="none" strike="noStrike" dirty="0">
                          <a:solidFill>
                            <a:srgbClr val="000000"/>
                          </a:solidFill>
                          <a:effectLst/>
                          <a:latin typeface="Times New Roman" panose="02020603050405020304" pitchFamily="18" charset="0"/>
                        </a:rPr>
                        <a:t>PRSG told the team to strategically identify the locations where WMS has to be placed and </a:t>
                      </a:r>
                      <a:r>
                        <a:rPr lang="en-US" sz="1100" b="0" i="0" u="none" strike="noStrike" dirty="0" err="1">
                          <a:solidFill>
                            <a:srgbClr val="000000"/>
                          </a:solidFill>
                          <a:effectLst/>
                          <a:latin typeface="Times New Roman" panose="02020603050405020304" pitchFamily="18" charset="0"/>
                        </a:rPr>
                        <a:t>finalise</a:t>
                      </a:r>
                      <a:r>
                        <a:rPr lang="en-US" sz="1100" b="0" i="0" u="none" strike="noStrike" dirty="0">
                          <a:solidFill>
                            <a:srgbClr val="000000"/>
                          </a:solidFill>
                          <a:effectLst/>
                          <a:latin typeface="Times New Roman" panose="02020603050405020304" pitchFamily="18" charset="0"/>
                        </a:rPr>
                        <a:t> the locations at the earliest</a:t>
                      </a:r>
                      <a:r>
                        <a:rPr lang="en-US" sz="1100" b="0" i="0" u="none" strike="noStrike" dirty="0" smtClean="0">
                          <a:solidFill>
                            <a:srgbClr val="000000"/>
                          </a:solidFill>
                          <a:effectLst/>
                          <a:latin typeface="Times New Roman" panose="02020603050405020304" pitchFamily="18" charset="0"/>
                        </a:rPr>
                        <a:t>.</a:t>
                      </a:r>
                      <a:endParaRPr lang="en-US" sz="1100" dirty="0">
                        <a:effectLst/>
                      </a:endParaRPr>
                    </a:p>
                  </a:txBody>
                  <a:tcPr/>
                </a:tc>
                <a:tc>
                  <a:txBody>
                    <a:bodyPr/>
                    <a:lstStyle/>
                    <a:p>
                      <a:pPr marL="67945" algn="just" rtl="0" fontAlgn="t">
                        <a:spcBef>
                          <a:spcPts val="0"/>
                        </a:spcBef>
                        <a:spcAft>
                          <a:spcPts val="0"/>
                        </a:spcAft>
                      </a:pPr>
                      <a:r>
                        <a:rPr lang="en-US" sz="1100" b="0" i="0" u="none" strike="noStrike">
                          <a:solidFill>
                            <a:srgbClr val="000000"/>
                          </a:solidFill>
                          <a:effectLst/>
                          <a:latin typeface="Times New Roman" panose="02020603050405020304" pitchFamily="18" charset="0"/>
                        </a:rPr>
                        <a:t>Have identified two upstream locations to the target location and deployed WMS at both the locations.</a:t>
                      </a:r>
                      <a:endParaRPr lang="en-US" sz="1100">
                        <a:effectLst/>
                      </a:endParaRPr>
                    </a:p>
                  </a:txBody>
                  <a:tcPr/>
                </a:tc>
                <a:extLst>
                  <a:ext uri="{0D108BD9-81ED-4DB2-BD59-A6C34878D82A}">
                    <a16:rowId xmlns:a16="http://schemas.microsoft.com/office/drawing/2014/main" val="946204776"/>
                  </a:ext>
                </a:extLst>
              </a:tr>
              <a:tr h="776143">
                <a:tc>
                  <a:txBody>
                    <a:bodyPr/>
                    <a:lstStyle/>
                    <a:p>
                      <a:pPr marL="67945" rtl="0" fontAlgn="t">
                        <a:spcBef>
                          <a:spcPts val="0"/>
                        </a:spcBef>
                        <a:spcAft>
                          <a:spcPts val="0"/>
                        </a:spcAft>
                      </a:pPr>
                      <a:r>
                        <a:rPr lang="en-US" sz="1100" b="0" i="0" u="none" strike="noStrike" dirty="0">
                          <a:solidFill>
                            <a:srgbClr val="000000"/>
                          </a:solidFill>
                          <a:effectLst/>
                          <a:latin typeface="Times New Roman" panose="02020603050405020304" pitchFamily="18" charset="0"/>
                        </a:rPr>
                        <a:t>The PRSG also advised the team to assess and verify the </a:t>
                      </a:r>
                      <a:r>
                        <a:rPr lang="en-US" sz="1100" b="0" i="0" u="none" strike="noStrike" dirty="0" smtClean="0">
                          <a:solidFill>
                            <a:srgbClr val="000000"/>
                          </a:solidFill>
                          <a:effectLst/>
                          <a:latin typeface="Times New Roman" panose="02020603050405020304" pitchFamily="18" charset="0"/>
                        </a:rPr>
                        <a:t>impact </a:t>
                      </a:r>
                      <a:r>
                        <a:rPr lang="en-US" sz="1100" b="0" i="0" u="none" strike="noStrike" dirty="0">
                          <a:solidFill>
                            <a:srgbClr val="000000"/>
                          </a:solidFill>
                          <a:effectLst/>
                          <a:latin typeface="Times New Roman" panose="02020603050405020304" pitchFamily="18" charset="0"/>
                        </a:rPr>
                        <a:t>of noise on the system’s performance</a:t>
                      </a:r>
                      <a:r>
                        <a:rPr lang="en-US" sz="1100" b="0" i="0" u="none" strike="noStrike" dirty="0" smtClean="0">
                          <a:solidFill>
                            <a:srgbClr val="000000"/>
                          </a:solidFill>
                          <a:effectLst/>
                          <a:latin typeface="Times New Roman" panose="02020603050405020304" pitchFamily="18" charset="0"/>
                        </a:rPr>
                        <a:t>.</a:t>
                      </a:r>
                      <a:endParaRPr lang="en-US" sz="1100" dirty="0">
                        <a:effectLst/>
                      </a:endParaRPr>
                    </a:p>
                  </a:txBody>
                  <a:tcPr/>
                </a:tc>
                <a:tc>
                  <a:txBody>
                    <a:bodyPr/>
                    <a:lstStyle/>
                    <a:p>
                      <a:pPr marL="6794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Our in-depth analysis identified the root causes of data noise and measured its precise impact on performance, which directly guided our implementation of targeted corrective actions..</a:t>
                      </a:r>
                      <a:endParaRPr lang="en-US" sz="1100" dirty="0">
                        <a:effectLst/>
                      </a:endParaRPr>
                    </a:p>
                  </a:txBody>
                  <a:tcPr/>
                </a:tc>
                <a:extLst>
                  <a:ext uri="{0D108BD9-81ED-4DB2-BD59-A6C34878D82A}">
                    <a16:rowId xmlns:a16="http://schemas.microsoft.com/office/drawing/2014/main" val="3503759305"/>
                  </a:ext>
                </a:extLst>
              </a:tr>
              <a:tr h="1089276">
                <a:tc>
                  <a:txBody>
                    <a:bodyPr/>
                    <a:lstStyle/>
                    <a:p>
                      <a:pPr marL="67945" marR="6159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The Committee recommended that the team spend time in flood-prone regions such as Assam to gain a comprehensive understanding of the existing flood control mechanisms. This would enable the identification of potential areas where the project could contribute meaningfully, as well as assess the adaptability of current practices for integration into the project</a:t>
                      </a:r>
                      <a:r>
                        <a:rPr lang="en-US" sz="1100" b="0" i="0" u="none" strike="noStrike" dirty="0" smtClean="0">
                          <a:solidFill>
                            <a:srgbClr val="000000"/>
                          </a:solidFill>
                          <a:effectLst/>
                          <a:latin typeface="Times New Roman" panose="02020603050405020304" pitchFamily="18" charset="0"/>
                        </a:rPr>
                        <a:t>.</a:t>
                      </a:r>
                      <a:endParaRPr lang="en-US" sz="1100" dirty="0">
                        <a:effectLst/>
                      </a:endParaRPr>
                    </a:p>
                  </a:txBody>
                  <a:tcPr/>
                </a:tc>
                <a:tc>
                  <a:txBody>
                    <a:bodyPr/>
                    <a:lstStyle/>
                    <a:p>
                      <a:pPr marL="6794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Visited and did Ground study in Assam and Kolkata.</a:t>
                      </a:r>
                      <a:endParaRPr lang="en-US" sz="1100" dirty="0">
                        <a:effectLst/>
                      </a:endParaRPr>
                    </a:p>
                  </a:txBody>
                  <a:tcPr/>
                </a:tc>
                <a:extLst>
                  <a:ext uri="{0D108BD9-81ED-4DB2-BD59-A6C34878D82A}">
                    <a16:rowId xmlns:a16="http://schemas.microsoft.com/office/drawing/2014/main" val="3829947344"/>
                  </a:ext>
                </a:extLst>
              </a:tr>
              <a:tr h="1089276">
                <a:tc>
                  <a:txBody>
                    <a:bodyPr/>
                    <a:lstStyle/>
                    <a:p>
                      <a:pPr marL="67945" marR="6159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The team informed the Committee that a company had expressed interest in the technology being developed under the project. The Committee</a:t>
                      </a:r>
                      <a:endParaRPr lang="en-US" sz="1100" dirty="0">
                        <a:effectLst/>
                      </a:endParaRPr>
                    </a:p>
                    <a:p>
                      <a:pPr marL="67945" marR="6159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recommended that any technology transfer be carried out on a non-exclusive basis, subject to prior presentation and approval by the PRSG</a:t>
                      </a:r>
                      <a:r>
                        <a:rPr lang="en-US" sz="1100" b="0" i="0" u="none" strike="noStrike" dirty="0" smtClean="0">
                          <a:solidFill>
                            <a:srgbClr val="000000"/>
                          </a:solidFill>
                          <a:effectLst/>
                          <a:latin typeface="Times New Roman" panose="02020603050405020304" pitchFamily="18" charset="0"/>
                        </a:rPr>
                        <a:t>.</a:t>
                      </a:r>
                      <a:endParaRPr lang="en-US" sz="1100" dirty="0">
                        <a:effectLst/>
                      </a:endParaRPr>
                    </a:p>
                  </a:txBody>
                  <a:tcPr/>
                </a:tc>
                <a:tc>
                  <a:txBody>
                    <a:bodyPr/>
                    <a:lstStyle/>
                    <a:p>
                      <a:pPr marL="67945" algn="just" rtl="0" fontAlgn="t">
                        <a:spcBef>
                          <a:spcPts val="0"/>
                        </a:spcBef>
                        <a:spcAft>
                          <a:spcPts val="0"/>
                        </a:spcAft>
                      </a:pPr>
                      <a:r>
                        <a:rPr lang="en-US" sz="1100" b="0" i="0" u="none" strike="noStrike" dirty="0">
                          <a:solidFill>
                            <a:srgbClr val="000000"/>
                          </a:solidFill>
                          <a:effectLst/>
                          <a:latin typeface="Times New Roman" panose="02020603050405020304" pitchFamily="18" charset="0"/>
                        </a:rPr>
                        <a:t>Ongoing talks with the Company</a:t>
                      </a:r>
                      <a:endParaRPr lang="en-US" sz="1100" dirty="0">
                        <a:effectLst/>
                      </a:endParaRPr>
                    </a:p>
                  </a:txBody>
                  <a:tcPr/>
                </a:tc>
                <a:extLst>
                  <a:ext uri="{0D108BD9-81ED-4DB2-BD59-A6C34878D82A}">
                    <a16:rowId xmlns:a16="http://schemas.microsoft.com/office/drawing/2014/main" val="2903407516"/>
                  </a:ext>
                </a:extLst>
              </a:tr>
            </a:tbl>
          </a:graphicData>
        </a:graphic>
      </p:graphicFrame>
    </p:spTree>
    <p:extLst>
      <p:ext uri="{BB962C8B-B14F-4D97-AF65-F5344CB8AC3E}">
        <p14:creationId xmlns:p14="http://schemas.microsoft.com/office/powerpoint/2010/main" val="1288238477"/>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749</TotalTime>
  <Words>2559</Words>
  <Application>Microsoft Office PowerPoint</Application>
  <PresentationFormat>On-screen Show (16:9)</PresentationFormat>
  <Paragraphs>361</Paragraphs>
  <Slides>29</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Arial MT</vt:lpstr>
      <vt:lpstr>Calibri</vt:lpstr>
      <vt:lpstr>Cambria</vt:lpstr>
      <vt:lpstr>Segoe UI Variable Text Semibold</vt:lpstr>
      <vt:lpstr>Times New Roman</vt:lpstr>
      <vt:lpstr>Simple Light</vt:lpstr>
      <vt:lpstr>               </vt:lpstr>
      <vt:lpstr>Outline</vt:lpstr>
      <vt:lpstr>Overview of Proposed System</vt:lpstr>
      <vt:lpstr>Timeline &amp; Deliverables</vt:lpstr>
      <vt:lpstr>Technical Progress</vt:lpstr>
      <vt:lpstr>Technical Progress</vt:lpstr>
      <vt:lpstr>Outcomes (1st  Mar 2025 to 30 th Sep 2025)</vt:lpstr>
      <vt:lpstr>Outcomes (25th May 2024 to 28th Feb 2025)</vt:lpstr>
      <vt:lpstr>Outcomes (1st Mar 2025 to 30 th Sep 2025)</vt:lpstr>
      <vt:lpstr>Outcomes (1st Mar 2025 to 30th Sep 2025)</vt:lpstr>
      <vt:lpstr>AQM v3</vt:lpstr>
      <vt:lpstr>AWS v1 &amp; AWS v2: Field-Ready Meteorological Stations</vt:lpstr>
      <vt:lpstr>PowerPoint Presentation</vt:lpstr>
      <vt:lpstr>PowerPoint Presentation</vt:lpstr>
      <vt:lpstr>PowerPoint Presentation</vt:lpstr>
      <vt:lpstr>PowerPoint Presentation</vt:lpstr>
      <vt:lpstr>Results  </vt:lpstr>
      <vt:lpstr>PowerPoint Presentation</vt:lpstr>
      <vt:lpstr>PowerPoint Presentation</vt:lpstr>
      <vt:lpstr>PowerPoint Presentation</vt:lpstr>
      <vt:lpstr>PowerPoint Presentation</vt:lpstr>
      <vt:lpstr>Web Application </vt:lpstr>
      <vt:lpstr> </vt:lpstr>
      <vt:lpstr> 2.Weather Monitoring System  Overview </vt:lpstr>
      <vt:lpstr> Data Request &amp; Delivery </vt:lpstr>
      <vt:lpstr>CENTER FOR AI-IOT INNOVATION: KEY ACHIEVEMENTS (MARCH - SEPTEMBER 2025) </vt:lpstr>
      <vt:lpstr>PowerPoint Presentation</vt:lpstr>
      <vt:lpstr>MINUTES OF THE PREVIOUS PRSG MEETING, SUGGESTIONS, AND ACTIONS TAKEN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Meity-4</dc:creator>
  <cp:lastModifiedBy>Meity-4</cp:lastModifiedBy>
  <cp:revision>59</cp:revision>
  <dcterms:modified xsi:type="dcterms:W3CDTF">2025-10-08T09:36:06Z</dcterms:modified>
</cp:coreProperties>
</file>